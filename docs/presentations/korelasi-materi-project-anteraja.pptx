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710"/>
  </p:normalViewPr>
  <p:slideViewPr>
    <p:cSldViewPr snapToGrid="0">
      <p:cViewPr>
        <p:scale>
          <a:sx n="99" d="100"/>
          <a:sy n="99" d="100"/>
        </p:scale>
        <p:origin x="712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Pembuka</a:t>
            </a:r>
            <a:r>
              <a:rPr dirty="0"/>
              <a:t>: </a:t>
            </a:r>
            <a:r>
              <a:rPr dirty="0" err="1"/>
              <a:t>cerita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mengikuti</a:t>
            </a:r>
            <a:r>
              <a:rPr dirty="0"/>
              <a:t> </a:t>
            </a:r>
            <a:r>
              <a:rPr dirty="0" err="1"/>
              <a:t>perjalanan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materi</a:t>
            </a:r>
            <a:r>
              <a:rPr dirty="0"/>
              <a:t> </a:t>
            </a:r>
            <a:r>
              <a:rPr dirty="0" err="1"/>
              <a:t>belajar</a:t>
            </a:r>
            <a:r>
              <a:rPr dirty="0"/>
              <a:t> dan </a:t>
            </a:r>
            <a:r>
              <a:rPr dirty="0" err="1"/>
              <a:t>dokumen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sampai</a:t>
            </a:r>
            <a:r>
              <a:rPr dirty="0"/>
              <a:t> prototype tracking. </a:t>
            </a:r>
            <a:r>
              <a:rPr dirty="0" err="1"/>
              <a:t>Sumber</a:t>
            </a:r>
            <a:r>
              <a:rPr dirty="0"/>
              <a:t> visual: docs/</a:t>
            </a:r>
            <a:r>
              <a:rPr dirty="0" err="1"/>
              <a:t>ui</a:t>
            </a:r>
            <a:r>
              <a:rPr dirty="0"/>
              <a:t>/ui-state-1-success-intransit.webp.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PRD Smart Tracking v4.0, </a:t>
            </a:r>
            <a:r>
              <a:rPr dirty="0" err="1"/>
              <a:t>bagian</a:t>
            </a:r>
            <a:r>
              <a:rPr dirty="0"/>
              <a:t> Problem Statement dan Success Metrics. Angka &gt;40%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kondisi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yang </a:t>
            </a:r>
            <a:r>
              <a:rPr dirty="0" err="1"/>
              <a:t>dinyatakan</a:t>
            </a:r>
            <a:r>
              <a:rPr dirty="0"/>
              <a:t> PRD; 25–35% </a:t>
            </a:r>
            <a:r>
              <a:rPr dirty="0" err="1"/>
              <a:t>adalah</a:t>
            </a:r>
            <a:r>
              <a:rPr dirty="0"/>
              <a:t> target </a:t>
            </a:r>
            <a:r>
              <a:rPr dirty="0" err="1"/>
              <a:t>pasca</a:t>
            </a:r>
            <a:r>
              <a:rPr dirty="0"/>
              <a:t>-MVP,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tercapai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PRD </a:t>
            </a:r>
            <a:r>
              <a:rPr dirty="0" err="1"/>
              <a:t>bagian</a:t>
            </a:r>
            <a:r>
              <a:rPr dirty="0"/>
              <a:t> User Roles &amp; Quantities;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diringkas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peran</a:t>
            </a:r>
            <a:r>
              <a:rPr dirty="0"/>
              <a:t> dan </a:t>
            </a:r>
            <a:r>
              <a:rPr dirty="0" err="1"/>
              <a:t>akses</a:t>
            </a:r>
            <a:r>
              <a:rPr dirty="0"/>
              <a:t> pada FRD. Volume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asumsi</a:t>
            </a:r>
            <a:r>
              <a:rPr dirty="0"/>
              <a:t>/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dokumen</a:t>
            </a:r>
            <a:r>
              <a:rPr dirty="0"/>
              <a:t> </a:t>
            </a:r>
            <a:r>
              <a:rPr dirty="0" err="1"/>
              <a:t>perancangan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PRD Feature Matrix; FRD F-01 </a:t>
            </a:r>
            <a:r>
              <a:rPr dirty="0" err="1"/>
              <a:t>sampai</a:t>
            </a:r>
            <a:r>
              <a:rPr dirty="0"/>
              <a:t> F-06; prototype/</a:t>
            </a:r>
            <a:r>
              <a:rPr dirty="0" err="1"/>
              <a:t>DOKUMENTASI.md</a:t>
            </a:r>
            <a:r>
              <a:rPr dirty="0"/>
              <a:t>. F-06 </a:t>
            </a:r>
            <a:r>
              <a:rPr dirty="0" err="1"/>
              <a:t>merupakan</a:t>
            </a:r>
            <a:r>
              <a:rPr dirty="0"/>
              <a:t> fallback dan cache manager di master FRD.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PRD </a:t>
            </a:r>
            <a:r>
              <a:rPr dirty="0" err="1"/>
              <a:t>bagian</a:t>
            </a:r>
            <a:r>
              <a:rPr dirty="0"/>
              <a:t> Tech Stack/Constraints; FRD System Workflow; prototype/</a:t>
            </a:r>
            <a:r>
              <a:rPr dirty="0" err="1"/>
              <a:t>README.md</a:t>
            </a:r>
            <a:r>
              <a:rPr dirty="0"/>
              <a:t>. Prototype HTML/CSS + local navigation/demo mapping. React, Laravel, PostgreSQL, Redis, Gemini </a:t>
            </a:r>
            <a:r>
              <a:rPr dirty="0" err="1"/>
              <a:t>merupakan</a:t>
            </a:r>
            <a:r>
              <a:rPr dirty="0"/>
              <a:t> target </a:t>
            </a:r>
            <a:r>
              <a:rPr dirty="0" err="1"/>
              <a:t>arsitektur</a:t>
            </a:r>
            <a:r>
              <a:rPr dirty="0"/>
              <a:t> PRD,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terhubung</a:t>
            </a:r>
            <a:r>
              <a:rPr dirty="0"/>
              <a:t> pada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docs/flow </a:t>
            </a:r>
            <a:r>
              <a:rPr dirty="0" err="1"/>
              <a:t>map.md</a:t>
            </a:r>
            <a:r>
              <a:rPr dirty="0"/>
              <a:t>, prototype/</a:t>
            </a:r>
            <a:r>
              <a:rPr dirty="0" err="1"/>
              <a:t>FLOW.md</a:t>
            </a:r>
            <a:r>
              <a:rPr dirty="0"/>
              <a:t>, prototype/</a:t>
            </a:r>
            <a:r>
              <a:rPr dirty="0" err="1"/>
              <a:t>DOKUMENTASI.md</a:t>
            </a:r>
            <a:r>
              <a:rPr dirty="0"/>
              <a:t>, FRD AC-F.1–AC-F.4. </a:t>
            </a:r>
            <a:r>
              <a:rPr dirty="0" err="1"/>
              <a:t>Nomor</a:t>
            </a:r>
            <a:r>
              <a:rPr dirty="0"/>
              <a:t> 13 digit pada </a:t>
            </a:r>
            <a:r>
              <a:rPr dirty="0" err="1"/>
              <a:t>tombol</a:t>
            </a:r>
            <a:r>
              <a:rPr dirty="0"/>
              <a:t> demo </a:t>
            </a:r>
            <a:r>
              <a:rPr dirty="0" err="1"/>
              <a:t>adalah</a:t>
            </a:r>
            <a:r>
              <a:rPr dirty="0"/>
              <a:t> fixture </a:t>
            </a:r>
            <a:r>
              <a:rPr dirty="0" err="1"/>
              <a:t>lokal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klaim</a:t>
            </a:r>
            <a:r>
              <a:rPr dirty="0"/>
              <a:t> format </a:t>
            </a:r>
            <a:r>
              <a:rPr dirty="0" err="1"/>
              <a:t>resi</a:t>
            </a:r>
            <a:r>
              <a:rPr dirty="0"/>
              <a:t> </a:t>
            </a:r>
            <a:r>
              <a:rPr dirty="0" err="1"/>
              <a:t>produksi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UI course PDF, </a:t>
            </a:r>
            <a:r>
              <a:rPr dirty="0" err="1"/>
              <a:t>bagian</a:t>
            </a:r>
            <a:r>
              <a:rPr dirty="0"/>
              <a:t> “Front-end yang </a:t>
            </a:r>
            <a:r>
              <a:rPr dirty="0" err="1"/>
              <a:t>enak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cuma</a:t>
            </a:r>
            <a:r>
              <a:rPr dirty="0"/>
              <a:t> </a:t>
            </a:r>
            <a:r>
              <a:rPr dirty="0" err="1"/>
              <a:t>enak</a:t>
            </a:r>
            <a:r>
              <a:rPr dirty="0"/>
              <a:t> </a:t>
            </a:r>
            <a:r>
              <a:rPr dirty="0" err="1"/>
              <a:t>dilihat</a:t>
            </a:r>
            <a:r>
              <a:rPr dirty="0"/>
              <a:t>”; Modul FE W2D1; prototype/pages. </a:t>
            </a:r>
            <a:r>
              <a:rPr dirty="0" err="1"/>
              <a:t>Referensi</a:t>
            </a:r>
            <a:r>
              <a:rPr dirty="0"/>
              <a:t> </a:t>
            </a:r>
            <a:r>
              <a:rPr dirty="0" err="1"/>
              <a:t>layar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artefak</a:t>
            </a:r>
            <a:r>
              <a:rPr dirty="0"/>
              <a:t> </a:t>
            </a:r>
            <a:r>
              <a:rPr dirty="0" err="1"/>
              <a:t>desain</a:t>
            </a:r>
            <a:r>
              <a:rPr dirty="0"/>
              <a:t> UI yang </a:t>
            </a:r>
            <a:r>
              <a:rPr dirty="0" err="1"/>
              <a:t>diberikan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docs/database/database-</a:t>
            </a:r>
            <a:r>
              <a:rPr dirty="0" err="1"/>
              <a:t>design.md</a:t>
            </a:r>
            <a:r>
              <a:rPr dirty="0"/>
              <a:t> dan docs/database/</a:t>
            </a:r>
            <a:r>
              <a:rPr dirty="0" err="1"/>
              <a:t>erd</a:t>
            </a:r>
            <a:r>
              <a:rPr dirty="0"/>
              <a:t>-smart-</a:t>
            </a:r>
            <a:r>
              <a:rPr dirty="0" err="1"/>
              <a:t>tracking.webp</a:t>
            </a:r>
            <a:r>
              <a:rPr dirty="0"/>
              <a:t>; FRD </a:t>
            </a:r>
            <a:r>
              <a:rPr dirty="0" err="1"/>
              <a:t>bagian</a:t>
            </a:r>
            <a:r>
              <a:rPr dirty="0"/>
              <a:t> Data Utama dan workflow. Model </a:t>
            </a:r>
            <a:r>
              <a:rPr dirty="0" err="1"/>
              <a:t>tabel</a:t>
            </a:r>
            <a:r>
              <a:rPr dirty="0"/>
              <a:t> </a:t>
            </a:r>
            <a:r>
              <a:rPr dirty="0" err="1"/>
              <a:t>mendukung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UI; Redis </a:t>
            </a:r>
            <a:r>
              <a:rPr dirty="0" err="1"/>
              <a:t>adalah</a:t>
            </a:r>
            <a:r>
              <a:rPr dirty="0"/>
              <a:t> cache,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</a:t>
            </a:r>
            <a:r>
              <a:rPr dirty="0" err="1"/>
              <a:t>relasional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docs/database/database-</a:t>
            </a:r>
            <a:r>
              <a:rPr dirty="0" err="1"/>
              <a:t>design.md</a:t>
            </a:r>
            <a:r>
              <a:rPr dirty="0"/>
              <a:t>; docs/database/</a:t>
            </a:r>
            <a:r>
              <a:rPr dirty="0" err="1"/>
              <a:t>erd</a:t>
            </a:r>
            <a:r>
              <a:rPr dirty="0"/>
              <a:t>-smart-</a:t>
            </a:r>
            <a:r>
              <a:rPr dirty="0" err="1"/>
              <a:t>tracking.webp</a:t>
            </a:r>
            <a:r>
              <a:rPr dirty="0"/>
              <a:t>. Desain </a:t>
            </a:r>
            <a:r>
              <a:rPr dirty="0" err="1"/>
              <a:t>mengikuti</a:t>
            </a:r>
            <a:r>
              <a:rPr dirty="0"/>
              <a:t> dataset </a:t>
            </a:r>
            <a:r>
              <a:rPr dirty="0" err="1"/>
              <a:t>sumber</a:t>
            </a:r>
            <a:r>
              <a:rPr dirty="0"/>
              <a:t> yang </a:t>
            </a:r>
            <a:r>
              <a:rPr dirty="0" err="1"/>
              <a:t>dinyatakan</a:t>
            </a:r>
            <a:r>
              <a:rPr dirty="0"/>
              <a:t> PRD: orders, </a:t>
            </a:r>
            <a:r>
              <a:rPr dirty="0" err="1"/>
              <a:t>order_items</a:t>
            </a:r>
            <a:r>
              <a:rPr dirty="0"/>
              <a:t>, sellers, customers, </a:t>
            </a:r>
            <a:r>
              <a:rPr dirty="0" err="1"/>
              <a:t>smart_logistics_context</a:t>
            </a:r>
            <a:r>
              <a:rPr dirty="0"/>
              <a:t>; </a:t>
            </a:r>
            <a:r>
              <a:rPr dirty="0" err="1"/>
              <a:t>tracking_events</a:t>
            </a:r>
            <a:r>
              <a:rPr dirty="0"/>
              <a:t> dan </a:t>
            </a:r>
            <a:r>
              <a:rPr dirty="0" err="1"/>
              <a:t>ai_narratives</a:t>
            </a:r>
            <a:r>
              <a:rPr dirty="0"/>
              <a:t> </a:t>
            </a:r>
            <a:r>
              <a:rPr dirty="0" err="1"/>
              <a:t>memperluas</a:t>
            </a:r>
            <a:r>
              <a:rPr dirty="0"/>
              <a:t> </a:t>
            </a:r>
            <a:r>
              <a:rPr dirty="0" err="1"/>
              <a:t>dukungan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Modul FE W2D1, W2D2, W2D3. Modul W2D3 </a:t>
            </a:r>
            <a:r>
              <a:rPr dirty="0" err="1"/>
              <a:t>tersedia</a:t>
            </a:r>
            <a:r>
              <a:rPr dirty="0"/>
              <a:t> dua kali </a:t>
            </a:r>
            <a:r>
              <a:rPr dirty="0" err="1"/>
              <a:t>dengan</a:t>
            </a:r>
            <a:r>
              <a:rPr dirty="0"/>
              <a:t> checksum </a:t>
            </a:r>
            <a:r>
              <a:rPr dirty="0" err="1"/>
              <a:t>identik</a:t>
            </a:r>
            <a:r>
              <a:rPr dirty="0"/>
              <a:t>; </a:t>
            </a:r>
            <a:r>
              <a:rPr dirty="0" err="1"/>
              <a:t>dihitung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kali. Prototype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fokus</a:t>
            </a:r>
            <a:r>
              <a:rPr dirty="0"/>
              <a:t> HTML/CSS </a:t>
            </a:r>
            <a:r>
              <a:rPr dirty="0" err="1"/>
              <a:t>sesuai</a:t>
            </a:r>
            <a:r>
              <a:rPr dirty="0"/>
              <a:t> </a:t>
            </a:r>
            <a:r>
              <a:rPr dirty="0" err="1"/>
              <a:t>lingkup</a:t>
            </a:r>
            <a:r>
              <a:rPr dirty="0"/>
              <a:t> yang </a:t>
            </a:r>
            <a:r>
              <a:rPr dirty="0" err="1"/>
              <a:t>diminta</a:t>
            </a:r>
            <a:r>
              <a:rPr dirty="0"/>
              <a:t>, </a:t>
            </a:r>
            <a:r>
              <a:rPr dirty="0" err="1"/>
              <a:t>ditambah</a:t>
            </a:r>
            <a:r>
              <a:rPr dirty="0"/>
              <a:t> demo navigation/local sample mapping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Modul FE W2D3 React Fundamentals; W2D4 React Hooks &amp; Context API; PRD </a:t>
            </a:r>
            <a:r>
              <a:rPr dirty="0" err="1"/>
              <a:t>menetapkan</a:t>
            </a:r>
            <a:r>
              <a:rPr dirty="0"/>
              <a:t> React + Tailwind </a:t>
            </a:r>
            <a:r>
              <a:rPr dirty="0" err="1"/>
              <a:t>untuk</a:t>
            </a:r>
            <a:r>
              <a:rPr dirty="0"/>
              <a:t> target widget. </a:t>
            </a:r>
            <a:r>
              <a:rPr dirty="0" err="1"/>
              <a:t>Catatan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: prototype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React, hook, backend, Gemini, </a:t>
            </a:r>
            <a:r>
              <a:rPr dirty="0" err="1"/>
              <a:t>maupun</a:t>
            </a:r>
            <a:r>
              <a:rPr dirty="0"/>
              <a:t> Redis.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MCP in Your IDE / Antigravity PDF; CLI Git Craftsmanship PPTX; branch 7-prototype dan git history </a:t>
            </a:r>
            <a:r>
              <a:rPr dirty="0" err="1"/>
              <a:t>repositori</a:t>
            </a:r>
            <a:r>
              <a:rPr dirty="0"/>
              <a:t>. </a:t>
            </a:r>
            <a:r>
              <a:rPr dirty="0" err="1"/>
              <a:t>Korelasi</a:t>
            </a:r>
            <a:r>
              <a:rPr dirty="0"/>
              <a:t> MCP: </a:t>
            </a:r>
            <a:r>
              <a:rPr dirty="0" err="1"/>
              <a:t>konteks</a:t>
            </a:r>
            <a:r>
              <a:rPr dirty="0"/>
              <a:t> repo dan tools </a:t>
            </a:r>
            <a:r>
              <a:rPr dirty="0" err="1"/>
              <a:t>membuat</a:t>
            </a:r>
            <a:r>
              <a:rPr dirty="0"/>
              <a:t> </a:t>
            </a:r>
            <a:r>
              <a:rPr dirty="0" err="1"/>
              <a:t>pekerjaan</a:t>
            </a:r>
            <a:r>
              <a:rPr dirty="0"/>
              <a:t> </a:t>
            </a:r>
            <a:r>
              <a:rPr dirty="0" err="1"/>
              <a:t>merujuk</a:t>
            </a:r>
            <a:r>
              <a:rPr dirty="0"/>
              <a:t> </a:t>
            </a:r>
            <a:r>
              <a:rPr dirty="0" err="1"/>
              <a:t>dokumen</a:t>
            </a:r>
            <a:r>
              <a:rPr dirty="0"/>
              <a:t> </a:t>
            </a:r>
            <a:r>
              <a:rPr dirty="0" err="1"/>
              <a:t>aktual</a:t>
            </a:r>
            <a:r>
              <a:rPr dirty="0"/>
              <a:t>. Bukti Git: branch remote </a:t>
            </a:r>
            <a:r>
              <a:rPr dirty="0" err="1"/>
              <a:t>dengan</a:t>
            </a:r>
            <a:r>
              <a:rPr dirty="0"/>
              <a:t> 8 commit modular.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riwayat</a:t>
            </a:r>
            <a:r>
              <a:rPr dirty="0"/>
              <a:t>: ca596aa feat(prototype): add responsive design foundations; 329ac32 feat(prototype): add customer landing page; d0346d6 feat(prototype): add tracking search and transit state; 980aa1c feat(prototype): add shipment and recovery states; 2fe269a docs(prototype): add FRD mapping and submission PDF; da81a54 style(prototype): align the shared page header; 112f8d7 fix(prototype): correct footer shortcut destinations; 7f30f5d fix(prototype): prevent navigation link height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Sumber</a:t>
            </a:r>
            <a:r>
              <a:rPr dirty="0"/>
              <a:t>: PRD/FRD target deliverable 8 </a:t>
            </a:r>
            <a:r>
              <a:rPr dirty="0" err="1"/>
              <a:t>minggu</a:t>
            </a:r>
            <a:r>
              <a:rPr dirty="0"/>
              <a:t> / 4 sprint. Ini </a:t>
            </a:r>
            <a:r>
              <a:rPr dirty="0" err="1"/>
              <a:t>jadwal</a:t>
            </a:r>
            <a:r>
              <a:rPr dirty="0"/>
              <a:t> </a:t>
            </a:r>
            <a:r>
              <a:rPr dirty="0" err="1"/>
              <a:t>rancangan</a:t>
            </a:r>
            <a:r>
              <a:rPr dirty="0"/>
              <a:t> MVP,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seluruh</a:t>
            </a:r>
            <a:r>
              <a:rPr dirty="0"/>
              <a:t> backend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selesai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Penutup</a:t>
            </a:r>
            <a:r>
              <a:rPr dirty="0"/>
              <a:t> </a:t>
            </a:r>
            <a:r>
              <a:rPr dirty="0" err="1"/>
              <a:t>santai</a:t>
            </a:r>
            <a:r>
              <a:rPr dirty="0"/>
              <a:t>. Buka prototype pada </a:t>
            </a:r>
            <a:r>
              <a:rPr dirty="0" err="1"/>
              <a:t>index.html</a:t>
            </a:r>
            <a:r>
              <a:rPr dirty="0"/>
              <a:t>, </a:t>
            </a:r>
            <a:r>
              <a:rPr dirty="0" err="1"/>
              <a:t>pilih</a:t>
            </a:r>
            <a:r>
              <a:rPr dirty="0"/>
              <a:t>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resi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memperlihatkan</a:t>
            </a:r>
            <a:r>
              <a:rPr dirty="0"/>
              <a:t> </a:t>
            </a:r>
            <a:r>
              <a:rPr dirty="0" err="1"/>
              <a:t>transisi</a:t>
            </a:r>
            <a:r>
              <a:rPr dirty="0"/>
              <a:t> status. </a:t>
            </a:r>
            <a:r>
              <a:rPr dirty="0" err="1"/>
              <a:t>Tanyakan</a:t>
            </a:r>
            <a:r>
              <a:rPr dirty="0"/>
              <a:t> </a:t>
            </a:r>
            <a:r>
              <a:rPr dirty="0" err="1"/>
              <a:t>masukan</a:t>
            </a:r>
            <a:r>
              <a:rPr dirty="0"/>
              <a:t> </a:t>
            </a:r>
            <a:r>
              <a:rPr dirty="0" err="1"/>
              <a:t>terkait</a:t>
            </a:r>
            <a:r>
              <a:rPr dirty="0"/>
              <a:t> </a:t>
            </a:r>
            <a:r>
              <a:rPr dirty="0" err="1"/>
              <a:t>kejelasan</a:t>
            </a:r>
            <a:r>
              <a:rPr dirty="0"/>
              <a:t> flow, batas MVP, dan </a:t>
            </a:r>
            <a:r>
              <a:rPr dirty="0" err="1"/>
              <a:t>validasi</a:t>
            </a:r>
            <a:r>
              <a:rPr dirty="0"/>
              <a:t> requirement. </a:t>
            </a:r>
            <a:r>
              <a:rPr dirty="0" err="1"/>
              <a:t>Sumber</a:t>
            </a:r>
            <a:r>
              <a:rPr dirty="0"/>
              <a:t> visual: docs/</a:t>
            </a:r>
            <a:r>
              <a:rPr dirty="0" err="1"/>
              <a:t>ui</a:t>
            </a:r>
            <a:r>
              <a:rPr dirty="0"/>
              <a:t>/ui-state-4-error-404-not-found.webp.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segi Panjang 1">
            <a:extLst>
              <a:ext uri="{FF2B5EF4-FFF2-40B4-BE49-F238E27FC236}">
                <a16:creationId xmlns:a16="http://schemas.microsoft.com/office/drawing/2014/main" id="{447DC05A-A148-4AB1-8281-B11B7E1780DE}"/>
              </a:ext>
            </a:extLst>
          </p:cNvPr>
          <p:cNvSpPr>
            <a:spLocks noGrp="1"/>
          </p:cNvSpPr>
          <p:nvPr/>
        </p:nvSpPr>
        <p:spPr>
          <a:xfrm>
            <a:off x="704850" y="504825"/>
            <a:ext cx="2143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endParaRPr sz="975" b="1" dirty="0">
              <a:solidFill>
                <a:srgbClr val="C5007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A9CE4D0C-45EA-4F92-AFE1-DB5C3392977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6191250" cy="1905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Dari requirement</a:t>
            </a:r>
          </a:p>
          <a:p>
            <a:pPr algn="l">
              <a:defRPr sz="36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menjadi pengalaman</a:t>
            </a:r>
          </a:p>
          <a:p>
            <a:pPr algn="l">
              <a:defRPr sz="36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tracking yang jelas</a:t>
            </a:r>
          </a:p>
        </p:txBody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96717F2C-0A49-4B31-875A-5BF530B82936}"/>
              </a:ext>
            </a:extLst>
          </p:cNvPr>
          <p:cNvSpPr>
            <a:spLocks noGrp="1"/>
          </p:cNvSpPr>
          <p:nvPr/>
        </p:nvSpPr>
        <p:spPr>
          <a:xfrm>
            <a:off x="647700" y="327660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Korelasi materi pembelajaran dengan prototype</a:t>
            </a:r>
          </a:p>
          <a:p>
            <a:pPr algn="l">
              <a:defRPr sz="17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Anteraja Smart Tracking</a:t>
            </a:r>
          </a:p>
        </p:txBody>
      </p:sp>
      <p:sp>
        <p:nvSpPr>
          <p:cNvPr id="7" name="Persegi Panjang 6">
            <a:extLst>
              <a:ext uri="{FF2B5EF4-FFF2-40B4-BE49-F238E27FC236}">
                <a16:creationId xmlns:a16="http://schemas.microsoft.com/office/drawing/2014/main" id="{34474E09-613C-4595-9D9A-26F5D64D6FEE}"/>
              </a:ext>
            </a:extLst>
          </p:cNvPr>
          <p:cNvSpPr>
            <a:spLocks noGrp="1"/>
          </p:cNvSpPr>
          <p:nvPr/>
        </p:nvSpPr>
        <p:spPr>
          <a:xfrm>
            <a:off x="647700" y="5943600"/>
            <a:ext cx="533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71676D"/>
                </a:solidFill>
                <a:latin typeface="Arial"/>
                <a:ea typeface="Arial"/>
                <a:cs typeface="Arial"/>
              </a:rPr>
              <a:t>Asep Nadhirin</a:t>
            </a:r>
            <a:endParaRPr sz="1125" b="0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Gambar 17"/>
          <p:cNvPicPr>
            <a:picLocks noChangeAspect="1"/>
          </p:cNvPicPr>
          <p:nvPr/>
        </p:nvPicPr>
        <p:blipFill>
          <a:blip r:embed="rId3"/>
          <a:srcRect t="6172" b="6172"/>
          <a:stretch>
            <a:fillRect/>
          </a:stretch>
        </p:blipFill>
        <p:spPr>
          <a:xfrm>
            <a:off x="7239000" y="457200"/>
            <a:ext cx="4286250" cy="5753100"/>
          </a:xfrm>
          <a:prstGeom prst="roundRect">
            <a:avLst>
              <a:gd name="adj" fmla="val 4000"/>
            </a:avLst>
          </a:prstGeom>
        </p:spPr>
      </p:pic>
      <p:sp>
        <p:nvSpPr>
          <p:cNvPr id="9" name="Persegi Lengkung 8">
            <a:extLst>
              <a:ext uri="{FF2B5EF4-FFF2-40B4-BE49-F238E27FC236}">
                <a16:creationId xmlns:a16="http://schemas.microsoft.com/office/drawing/2014/main" id="{E4A60413-5F41-4F07-8CAC-840D3F155DEC}"/>
              </a:ext>
            </a:extLst>
          </p:cNvPr>
          <p:cNvSpPr>
            <a:spLocks noGrp="1"/>
          </p:cNvSpPr>
          <p:nvPr/>
        </p:nvSpPr>
        <p:spPr>
          <a:xfrm>
            <a:off x="8763000" y="5924550"/>
            <a:ext cx="1952625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3A7CC9DD-252F-41D1-B6A2-EE5690C52E54}"/>
              </a:ext>
            </a:extLst>
          </p:cNvPr>
          <p:cNvSpPr>
            <a:spLocks noGrp="1"/>
          </p:cNvSpPr>
          <p:nvPr/>
        </p:nvSpPr>
        <p:spPr>
          <a:xfrm>
            <a:off x="8858250" y="5934075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SMART AI TRACKING</a:t>
            </a:r>
          </a:p>
        </p:txBody>
      </p:sp>
    </p:spTree>
    <p:extLst>
      <p:ext uri="{BB962C8B-B14F-4D97-AF65-F5344CB8AC3E}">
        <p14:creationId xmlns:p14="http://schemas.microsoft.com/office/powerpoint/2010/main" val="55808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DB45EB57-776A-48F8-B69C-FE2B1ADE36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WHY • MASALAH YANG INGIN DIKURANGI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EF0DA6EB-A38E-4CAC-B99B-BAD0F496AB7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Kenapa tracking ini dibuat?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1159A37C-2AAB-46E4-8461-56846E37F1A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0EFA7089-0B84-42EF-BCEA-6E89AF78A14F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46BBE61E-21EC-4697-BE2B-EB46095C0EEF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28036D4B-7D6C-4A8A-BF8D-0994D8DB09D5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4825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22748389-BD2C-4B60-85B2-B7C22E118307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182880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A4D9FDB0-3675-434D-A59A-068BA3DFCD2F}"/>
              </a:ext>
            </a:extLst>
          </p:cNvPr>
          <p:cNvSpPr>
            <a:spLocks noGrp="1"/>
          </p:cNvSpPr>
          <p:nvPr/>
        </p:nvSpPr>
        <p:spPr>
          <a:xfrm>
            <a:off x="933450" y="1895475"/>
            <a:ext cx="1638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MASALAH PENGGUNA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1B5F8224-722F-4B79-B29E-58778D60AD9C}"/>
              </a:ext>
            </a:extLst>
          </p:cNvPr>
          <p:cNvSpPr>
            <a:spLocks noGrp="1"/>
          </p:cNvSpPr>
          <p:nvPr/>
        </p:nvSpPr>
        <p:spPr>
          <a:xfrm>
            <a:off x="838200" y="2352675"/>
            <a:ext cx="4381500" cy="1028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“Paket saya</a:t>
            </a:r>
          </a:p>
          <a:p>
            <a:pPr algn="l">
              <a:defRPr sz="27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sudah sampai mana?”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8F5A28-4A04-4896-BBA0-D93BE53E276B}"/>
              </a:ext>
            </a:extLst>
          </p:cNvPr>
          <p:cNvSpPr>
            <a:spLocks noGrp="1"/>
          </p:cNvSpPr>
          <p:nvPr/>
        </p:nvSpPr>
        <p:spPr>
          <a:xfrm>
            <a:off x="857250" y="3800475"/>
            <a:ext cx="76200" cy="762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2BE64BDA-A978-4848-9361-FEE46B4CA255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Kode status operasional sulit dipahami.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BC6612-8FCC-4EB6-8D74-8ADA6B82E3FF}"/>
              </a:ext>
            </a:extLst>
          </p:cNvPr>
          <p:cNvSpPr>
            <a:spLocks noGrp="1"/>
          </p:cNvSpPr>
          <p:nvPr/>
        </p:nvSpPr>
        <p:spPr>
          <a:xfrm>
            <a:off x="857250" y="4314825"/>
            <a:ext cx="76200" cy="762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61013B6B-B938-40F8-AB2B-00D365440C53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Rentang ETA terlalu lebar; pengguna cemas.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ABA26AF-458C-44D8-BAE8-110ED57B451B}"/>
              </a:ext>
            </a:extLst>
          </p:cNvPr>
          <p:cNvSpPr>
            <a:spLocks noGrp="1"/>
          </p:cNvSpPr>
          <p:nvPr/>
        </p:nvSpPr>
        <p:spPr>
          <a:xfrm>
            <a:off x="857250" y="4829175"/>
            <a:ext cx="76200" cy="762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B1161406-7847-4276-A838-7438B9113CA8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41148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Pertanyaan berulang menjadi tiket WISMO.</a:t>
            </a:r>
          </a:p>
        </p:txBody>
      </p:sp>
      <p:sp>
        <p:nvSpPr>
          <p:cNvPr id="16" name="Persegi Lengkung 15">
            <a:extLst>
              <a:ext uri="{FF2B5EF4-FFF2-40B4-BE49-F238E27FC236}">
                <a16:creationId xmlns:a16="http://schemas.microsoft.com/office/drawing/2014/main" id="{1D81273E-DFB1-4F96-B021-3537FE0511BB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5676900" cy="4095750"/>
          </a:xfrm>
          <a:prstGeom prst="roundRect">
            <a:avLst>
              <a:gd name="adj" fmla="val 1860"/>
            </a:avLst>
          </a:prstGeom>
          <a:solidFill>
            <a:srgbClr val="FCEAF3"/>
          </a:solidFill>
          <a:ln w="9525">
            <a:solidFill>
              <a:srgbClr val="F5D4E4"/>
            </a:solidFill>
          </a:ln>
        </p:spPr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6081116F-1077-4226-A4DF-EB3495BA2F42}"/>
              </a:ext>
            </a:extLst>
          </p:cNvPr>
          <p:cNvSpPr>
            <a:spLocks noGrp="1"/>
          </p:cNvSpPr>
          <p:nvPr/>
        </p:nvSpPr>
        <p:spPr>
          <a:xfrm>
            <a:off x="6248400" y="207645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123" lnSpcReduction="10000"/>
          </a:bodyPr>
          <a:lstStyle/>
          <a:p>
            <a:pPr algn="l">
              <a:defRPr sz="570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&gt;40%</a:t>
            </a:r>
          </a:p>
        </p:txBody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76B219D5-536D-4317-BD92-6A840ECFBEF7}"/>
              </a:ext>
            </a:extLst>
          </p:cNvPr>
          <p:cNvSpPr>
            <a:spLocks noGrp="1"/>
          </p:cNvSpPr>
          <p:nvPr/>
        </p:nvSpPr>
        <p:spPr>
          <a:xfrm>
            <a:off x="6276975" y="3028950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167" lnSpcReduction="10000"/>
          </a:bodyPr>
          <a:lstStyle/>
          <a:p>
            <a:pPr algn="l">
              <a:defRPr sz="16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tiket Customer Service terkait</a:t>
            </a:r>
          </a:p>
          <a:p>
            <a:pPr algn="l">
              <a:defRPr sz="16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“Where Is My Order?”</a:t>
            </a:r>
          </a:p>
        </p:txBody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0AE7400A-09A6-41A2-9CF5-FDEAA12DDB7F}"/>
              </a:ext>
            </a:extLst>
          </p:cNvPr>
          <p:cNvSpPr>
            <a:spLocks noGrp="1"/>
          </p:cNvSpPr>
          <p:nvPr/>
        </p:nvSpPr>
        <p:spPr>
          <a:xfrm>
            <a:off x="6248400" y="3848100"/>
            <a:ext cx="4953000" cy="9525"/>
          </a:xfrm>
          <a:prstGeom prst="rect">
            <a:avLst/>
          </a:prstGeom>
          <a:solidFill>
            <a:srgbClr val="E9C8D9"/>
          </a:solidFill>
          <a:ln w="0">
            <a:noFill/>
          </a:ln>
        </p:spPr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65115E22-8959-41B7-A724-2ED3886223D7}"/>
              </a:ext>
            </a:extLst>
          </p:cNvPr>
          <p:cNvSpPr>
            <a:spLocks noGrp="1"/>
          </p:cNvSpPr>
          <p:nvPr/>
        </p:nvSpPr>
        <p:spPr>
          <a:xfrm>
            <a:off x="6248400" y="4048125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TARGET SETELAH MVP</a:t>
            </a:r>
          </a:p>
        </p:txBody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0A4BDE4C-1A4C-49DF-A479-AAEF65C4844C}"/>
              </a:ext>
            </a:extLst>
          </p:cNvPr>
          <p:cNvSpPr>
            <a:spLocks noGrp="1"/>
          </p:cNvSpPr>
          <p:nvPr/>
        </p:nvSpPr>
        <p:spPr>
          <a:xfrm>
            <a:off x="6248400" y="4400550"/>
            <a:ext cx="2952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27" lnSpcReduction="10000"/>
          </a:bodyPr>
          <a:lstStyle/>
          <a:p>
            <a:pPr algn="l">
              <a:defRPr sz="34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−25–35%</a:t>
            </a:r>
          </a:p>
        </p:txBody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9D6F2691-07C9-496D-8376-D54CA630B734}"/>
              </a:ext>
            </a:extLst>
          </p:cNvPr>
          <p:cNvSpPr>
            <a:spLocks noGrp="1"/>
          </p:cNvSpPr>
          <p:nvPr/>
        </p:nvSpPr>
        <p:spPr>
          <a:xfrm>
            <a:off x="6248400" y="50482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tiket WISMO  ·  latensi API &lt;2 detik p95</a:t>
            </a:r>
          </a:p>
        </p:txBody>
      </p:sp>
    </p:spTree>
    <p:extLst>
      <p:ext uri="{BB962C8B-B14F-4D97-AF65-F5344CB8AC3E}">
        <p14:creationId xmlns:p14="http://schemas.microsoft.com/office/powerpoint/2010/main" val="18297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81ABF2FC-9BE6-4226-A30C-E6A0A2190F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WHO • TIGA KEBUTUHAN, SATU STATUS YANG TEPERCAYA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E6A6CF77-BC27-4133-972D-A3A5A0E08071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Siapa yang memakai hasilnya?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2D726ECD-2302-44E4-A4E0-331E25134457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C3621614-BE6E-497D-AFC3-42B4E6C37FD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87B36A60-1BC9-4BD8-B7D4-2DF8881E4521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4A14F476-DB39-4ACC-B62F-31BE374E38A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429000" cy="3714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F65B1311-008B-4FDB-9A2C-2D1AC44E8498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89552CAA-41C6-4101-AA95-44384485BFED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B2C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5FC9147A-5E0F-4A4A-828B-0C807B86D41F}"/>
              </a:ext>
            </a:extLst>
          </p:cNvPr>
          <p:cNvSpPr>
            <a:spLocks noGrp="1"/>
          </p:cNvSpPr>
          <p:nvPr/>
        </p:nvSpPr>
        <p:spPr>
          <a:xfrm>
            <a:off x="838200" y="2990850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 lnSpcReduction="10000"/>
          </a:bodyPr>
          <a:lstStyle/>
          <a:p>
            <a:pPr algn="l">
              <a:defRPr sz="18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Penerima paket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C18E3BC0-8C8D-4349-8A1C-80179243ADF3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≈15.000+ / hari</a:t>
            </a:r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3C32A6EC-A85A-40C6-8CC7-4E154ED8C576}"/>
              </a:ext>
            </a:extLst>
          </p:cNvPr>
          <p:cNvSpPr>
            <a:spLocks noGrp="1"/>
          </p:cNvSpPr>
          <p:nvPr/>
        </p:nvSpPr>
        <p:spPr>
          <a:xfrm>
            <a:off x="838200" y="3848100"/>
            <a:ext cx="2971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D940FFBA-31D6-404E-A916-6106F171C9B5}"/>
              </a:ext>
            </a:extLst>
          </p:cNvPr>
          <p:cNvSpPr>
            <a:spLocks noGrp="1"/>
          </p:cNvSpPr>
          <p:nvPr/>
        </p:nvSpPr>
        <p:spPr>
          <a:xfrm>
            <a:off x="838200" y="4067175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Ingin tahu posisi, ETA, dan arti status tanpa istilah teknis.</a:t>
            </a:r>
          </a:p>
        </p:txBody>
      </p:sp>
      <p:sp>
        <p:nvSpPr>
          <p:cNvPr id="13" name="Persegi Lengkung 12">
            <a:extLst>
              <a:ext uri="{FF2B5EF4-FFF2-40B4-BE49-F238E27FC236}">
                <a16:creationId xmlns:a16="http://schemas.microsoft.com/office/drawing/2014/main" id="{34A2A5E2-78D9-41A4-B0C0-A1871741B508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3429000" cy="3714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4" name="Persegi Lengkung 13">
            <a:extLst>
              <a:ext uri="{FF2B5EF4-FFF2-40B4-BE49-F238E27FC236}">
                <a16:creationId xmlns:a16="http://schemas.microsoft.com/office/drawing/2014/main" id="{D7A07F23-BE1D-43DE-97A5-8907D84C73B1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514994C4-14D6-4BDA-9F4A-9E05ABCC1EEF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B2B</a:t>
            </a:r>
          </a:p>
        </p:txBody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5E97D405-C01D-41C5-8F23-324A191DE30E}"/>
              </a:ext>
            </a:extLst>
          </p:cNvPr>
          <p:cNvSpPr>
            <a:spLocks noGrp="1"/>
          </p:cNvSpPr>
          <p:nvPr/>
        </p:nvSpPr>
        <p:spPr>
          <a:xfrm>
            <a:off x="4514850" y="2990850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 lnSpcReduction="10000"/>
          </a:bodyPr>
          <a:lstStyle/>
          <a:p>
            <a:pPr algn="l">
              <a:defRPr sz="18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Merchant</a:t>
            </a:r>
          </a:p>
        </p:txBody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198AFEC9-E48F-47D4-A02C-8618837C9BAC}"/>
              </a:ext>
            </a:extLst>
          </p:cNvPr>
          <p:cNvSpPr>
            <a:spLocks noGrp="1"/>
          </p:cNvSpPr>
          <p:nvPr/>
        </p:nvSpPr>
        <p:spPr>
          <a:xfrm>
            <a:off x="4514850" y="33909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≈500+ / hari</a:t>
            </a:r>
          </a:p>
        </p:txBody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64871BA7-9E20-473A-8CE4-B47288921B9A}"/>
              </a:ext>
            </a:extLst>
          </p:cNvPr>
          <p:cNvSpPr>
            <a:spLocks noGrp="1"/>
          </p:cNvSpPr>
          <p:nvPr/>
        </p:nvSpPr>
        <p:spPr>
          <a:xfrm>
            <a:off x="4514850" y="3848100"/>
            <a:ext cx="2971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7D89C391-A6BB-45CB-92F3-922B576FB659}"/>
              </a:ext>
            </a:extLst>
          </p:cNvPr>
          <p:cNvSpPr>
            <a:spLocks noGrp="1"/>
          </p:cNvSpPr>
          <p:nvPr/>
        </p:nvSpPr>
        <p:spPr>
          <a:xfrm>
            <a:off x="4514850" y="4067175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Memantau paket yang dikirim dan memberi jawaban ke pembeli.</a:t>
            </a:r>
          </a:p>
        </p:txBody>
      </p:sp>
      <p:sp>
        <p:nvSpPr>
          <p:cNvPr id="20" name="Persegi Lengkung 19">
            <a:extLst>
              <a:ext uri="{FF2B5EF4-FFF2-40B4-BE49-F238E27FC236}">
                <a16:creationId xmlns:a16="http://schemas.microsoft.com/office/drawing/2014/main" id="{302B9A59-A0FC-4FDA-B318-B6BD2DDF1BB2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429000" cy="37147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1" name="Persegi Lengkung 20">
            <a:extLst>
              <a:ext uri="{FF2B5EF4-FFF2-40B4-BE49-F238E27FC236}">
                <a16:creationId xmlns:a16="http://schemas.microsoft.com/office/drawing/2014/main" id="{32710B2F-C782-4F3E-8143-87173F100726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666750" cy="666750"/>
          </a:xfrm>
          <a:prstGeom prst="roundRect">
            <a:avLst>
              <a:gd name="adj" fmla="val 11429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160E80E3-1BE5-4CB1-9CE8-2AD3F4081A2F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666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CS</a:t>
            </a:r>
          </a:p>
        </p:txBody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13FFEF6B-EEFF-4E53-B5E8-BA5630DA25D6}"/>
              </a:ext>
            </a:extLst>
          </p:cNvPr>
          <p:cNvSpPr>
            <a:spLocks noGrp="1"/>
          </p:cNvSpPr>
          <p:nvPr/>
        </p:nvSpPr>
        <p:spPr>
          <a:xfrm>
            <a:off x="8191500" y="2990850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 lnSpcReduction="10000"/>
          </a:bodyPr>
          <a:lstStyle/>
          <a:p>
            <a:pPr algn="l">
              <a:defRPr sz="18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Customer Service</a:t>
            </a:r>
          </a:p>
        </p:txBody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BF6DF3C4-F939-4AB5-8616-A12C4817A418}"/>
              </a:ext>
            </a:extLst>
          </p:cNvPr>
          <p:cNvSpPr>
            <a:spLocks noGrp="1"/>
          </p:cNvSpPr>
          <p:nvPr/>
        </p:nvSpPr>
        <p:spPr>
          <a:xfrm>
            <a:off x="8191500" y="33909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≈50 staf</a:t>
            </a:r>
          </a:p>
        </p:txBody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7092DE3A-053C-4521-83B8-2317C6EDA21D}"/>
              </a:ext>
            </a:extLst>
          </p:cNvPr>
          <p:cNvSpPr>
            <a:spLocks noGrp="1"/>
          </p:cNvSpPr>
          <p:nvPr/>
        </p:nvSpPr>
        <p:spPr>
          <a:xfrm>
            <a:off x="8191500" y="3848100"/>
            <a:ext cx="2971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22D5519D-6EDA-49F9-A517-0F9A4097B098}"/>
              </a:ext>
            </a:extLst>
          </p:cNvPr>
          <p:cNvSpPr>
            <a:spLocks noGrp="1"/>
          </p:cNvSpPr>
          <p:nvPr/>
        </p:nvSpPr>
        <p:spPr>
          <a:xfrm>
            <a:off x="8191500" y="4067175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Mendapat ringkasan status dan konteks kendala untuk eskalasi.</a:t>
            </a:r>
          </a:p>
        </p:txBody>
      </p:sp>
      <p:sp>
        <p:nvSpPr>
          <p:cNvPr id="27" name="Persegi Panjang 26">
            <a:extLst>
              <a:ext uri="{FF2B5EF4-FFF2-40B4-BE49-F238E27FC236}">
                <a16:creationId xmlns:a16="http://schemas.microsoft.com/office/drawing/2014/main" id="{50ABD68B-0DCD-481F-ABEB-00CEB4C1DFF7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Semua berangkat dari satu pertanyaan pengguna: “apa langkah berikutnya untuk paket saya?”</a:t>
            </a:r>
          </a:p>
        </p:txBody>
      </p:sp>
    </p:spTree>
    <p:extLst>
      <p:ext uri="{BB962C8B-B14F-4D97-AF65-F5344CB8AC3E}">
        <p14:creationId xmlns:p14="http://schemas.microsoft.com/office/powerpoint/2010/main" val="123981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ersegi Panjang 36">
            <a:extLst>
              <a:ext uri="{FF2B5EF4-FFF2-40B4-BE49-F238E27FC236}">
                <a16:creationId xmlns:a16="http://schemas.microsoft.com/office/drawing/2014/main" id="{D89E43B1-F36A-4E62-A5D9-FF269BB4195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WHAT • FITUR FRD DITERJEMAHKAN KE KOMPONEN YANG TERLIHAT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23A56E7F-1CCE-4017-8788-1E46276EF36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Apa yang dibangun?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FD152222-A475-42D3-8BCD-72ADE59923C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61B73A8F-9DBA-4E22-862A-697FBADF6B9E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7FB49B26-C392-4B1B-8141-26D4336B974A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0834DA1A-C74F-4989-95C9-61235721F9F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B6081C63-62FA-4A07-AA31-3207FD21A54D}"/>
              </a:ext>
            </a:extLst>
          </p:cNvPr>
          <p:cNvSpPr>
            <a:spLocks noGrp="1"/>
          </p:cNvSpPr>
          <p:nvPr/>
        </p:nvSpPr>
        <p:spPr>
          <a:xfrm>
            <a:off x="800100" y="19812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AC59A757-85E0-4926-B135-ABAFF43F84AB}"/>
              </a:ext>
            </a:extLst>
          </p:cNvPr>
          <p:cNvSpPr>
            <a:spLocks noGrp="1"/>
          </p:cNvSpPr>
          <p:nvPr/>
        </p:nvSpPr>
        <p:spPr>
          <a:xfrm>
            <a:off x="895350" y="199072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F-01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1BD47973-0F90-4551-8E33-42DBD745F369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Cari resi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7F3F2794-4064-466D-9F3B-B5455B820E89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Input, validasi, loading, hasil/error</a:t>
            </a:r>
          </a:p>
        </p:txBody>
      </p:sp>
      <p:sp>
        <p:nvSpPr>
          <p:cNvPr id="11" name="Persegi Lengkung 10">
            <a:extLst>
              <a:ext uri="{FF2B5EF4-FFF2-40B4-BE49-F238E27FC236}">
                <a16:creationId xmlns:a16="http://schemas.microsoft.com/office/drawing/2014/main" id="{74EBA907-C35C-4C17-ACFE-9CF28E1FCBE2}"/>
              </a:ext>
            </a:extLst>
          </p:cNvPr>
          <p:cNvSpPr>
            <a:spLocks noGrp="1"/>
          </p:cNvSpPr>
          <p:nvPr/>
        </p:nvSpPr>
        <p:spPr>
          <a:xfrm>
            <a:off x="4286250" y="180975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2" name="Persegi Lengkung 11">
            <a:extLst>
              <a:ext uri="{FF2B5EF4-FFF2-40B4-BE49-F238E27FC236}">
                <a16:creationId xmlns:a16="http://schemas.microsoft.com/office/drawing/2014/main" id="{E37347A0-8D4A-47B1-9743-8C5820E68BD3}"/>
              </a:ext>
            </a:extLst>
          </p:cNvPr>
          <p:cNvSpPr>
            <a:spLocks noGrp="1"/>
          </p:cNvSpPr>
          <p:nvPr/>
        </p:nvSpPr>
        <p:spPr>
          <a:xfrm>
            <a:off x="4476750" y="19812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D1650D85-7241-43ED-9D04-E9353291E8CF}"/>
              </a:ext>
            </a:extLst>
          </p:cNvPr>
          <p:cNvSpPr>
            <a:spLocks noGrp="1"/>
          </p:cNvSpPr>
          <p:nvPr/>
        </p:nvSpPr>
        <p:spPr>
          <a:xfrm>
            <a:off x="4572000" y="199072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F-02</a:t>
            </a: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35971316-1B61-43C6-957B-4FDD71B3F71C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Milestone</a:t>
            </a:r>
          </a:p>
        </p:txBody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E417D3AD-3D21-4B24-B7F6-505E87B16626}"/>
              </a:ext>
            </a:extLst>
          </p:cNvPr>
          <p:cNvSpPr>
            <a:spLocks noGrp="1"/>
          </p:cNvSpPr>
          <p:nvPr/>
        </p:nvSpPr>
        <p:spPr>
          <a:xfrm>
            <a:off x="4476750" y="27813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Empat tahap perjalanan paket</a:t>
            </a:r>
          </a:p>
        </p:txBody>
      </p:sp>
      <p:sp>
        <p:nvSpPr>
          <p:cNvPr id="16" name="Persegi Lengkung 15">
            <a:extLst>
              <a:ext uri="{FF2B5EF4-FFF2-40B4-BE49-F238E27FC236}">
                <a16:creationId xmlns:a16="http://schemas.microsoft.com/office/drawing/2014/main" id="{DFFD5B42-D8A4-4483-994F-C1E51537CAD4}"/>
              </a:ext>
            </a:extLst>
          </p:cNvPr>
          <p:cNvSpPr>
            <a:spLocks noGrp="1"/>
          </p:cNvSpPr>
          <p:nvPr/>
        </p:nvSpPr>
        <p:spPr>
          <a:xfrm>
            <a:off x="7962900" y="180975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7" name="Persegi Lengkung 16">
            <a:extLst>
              <a:ext uri="{FF2B5EF4-FFF2-40B4-BE49-F238E27FC236}">
                <a16:creationId xmlns:a16="http://schemas.microsoft.com/office/drawing/2014/main" id="{4804C313-F20E-4CC5-8B50-AB7C6940B79F}"/>
              </a:ext>
            </a:extLst>
          </p:cNvPr>
          <p:cNvSpPr>
            <a:spLocks noGrp="1"/>
          </p:cNvSpPr>
          <p:nvPr/>
        </p:nvSpPr>
        <p:spPr>
          <a:xfrm>
            <a:off x="8153400" y="19812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A819BE29-4880-4E4E-9CA7-6E02EDD60D5B}"/>
              </a:ext>
            </a:extLst>
          </p:cNvPr>
          <p:cNvSpPr>
            <a:spLocks noGrp="1"/>
          </p:cNvSpPr>
          <p:nvPr/>
        </p:nvSpPr>
        <p:spPr>
          <a:xfrm>
            <a:off x="8248650" y="199072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F-03</a:t>
            </a:r>
          </a:p>
        </p:txBody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13DC867A-E7D3-4170-994F-CF369E5B0AB8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Narasi AI</a:t>
            </a:r>
          </a:p>
        </p:txBody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3CDF5F66-AD38-4D23-B560-47C20CECE716}"/>
              </a:ext>
            </a:extLst>
          </p:cNvPr>
          <p:cNvSpPr>
            <a:spLocks noGrp="1"/>
          </p:cNvSpPr>
          <p:nvPr/>
        </p:nvSpPr>
        <p:spPr>
          <a:xfrm>
            <a:off x="8153400" y="27813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Status teknis jadi bahasa pelanggan</a:t>
            </a:r>
          </a:p>
        </p:txBody>
      </p:sp>
      <p:sp>
        <p:nvSpPr>
          <p:cNvPr id="21" name="Persegi Lengkung 20">
            <a:extLst>
              <a:ext uri="{FF2B5EF4-FFF2-40B4-BE49-F238E27FC236}">
                <a16:creationId xmlns:a16="http://schemas.microsoft.com/office/drawing/2014/main" id="{51A4C055-9CA9-4FAE-99CC-D439373C6BE0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2" name="Persegi Lengkung 21">
            <a:extLst>
              <a:ext uri="{FF2B5EF4-FFF2-40B4-BE49-F238E27FC236}">
                <a16:creationId xmlns:a16="http://schemas.microsoft.com/office/drawing/2014/main" id="{15AA4D6C-9495-4189-881E-4E41B9FAD512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FFF5D9"/>
          </a:solidFill>
          <a:ln w="0">
            <a:noFill/>
          </a:ln>
        </p:spPr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786AC8BC-0072-4027-9B7D-A0948A8C9B5C}"/>
              </a:ext>
            </a:extLst>
          </p:cNvPr>
          <p:cNvSpPr>
            <a:spLocks noGrp="1"/>
          </p:cNvSpPr>
          <p:nvPr/>
        </p:nvSpPr>
        <p:spPr>
          <a:xfrm>
            <a:off x="895350" y="383857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E8A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A600"/>
                </a:solidFill>
                <a:latin typeface="Arial"/>
                <a:ea typeface="Arial"/>
                <a:cs typeface="Arial"/>
              </a:rPr>
              <a:t>F-04</a:t>
            </a:r>
          </a:p>
        </p:txBody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97C9A139-362F-4A1B-A5E0-B59869367BC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Peringatan</a:t>
            </a:r>
          </a:p>
        </p:txBody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B82F4662-F3AF-4B86-8967-A966CC1B0DE8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Kendala terlihat dan dijelaskan</a:t>
            </a:r>
          </a:p>
        </p:txBody>
      </p:sp>
      <p:sp>
        <p:nvSpPr>
          <p:cNvPr id="26" name="Persegi Lengkung 25">
            <a:extLst>
              <a:ext uri="{FF2B5EF4-FFF2-40B4-BE49-F238E27FC236}">
                <a16:creationId xmlns:a16="http://schemas.microsoft.com/office/drawing/2014/main" id="{211DFFBE-2DC4-494E-A443-3C07F56D8C09}"/>
              </a:ext>
            </a:extLst>
          </p:cNvPr>
          <p:cNvSpPr>
            <a:spLocks noGrp="1"/>
          </p:cNvSpPr>
          <p:nvPr/>
        </p:nvSpPr>
        <p:spPr>
          <a:xfrm>
            <a:off x="4286250" y="36576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7" name="Persegi Lengkung 26">
            <a:extLst>
              <a:ext uri="{FF2B5EF4-FFF2-40B4-BE49-F238E27FC236}">
                <a16:creationId xmlns:a16="http://schemas.microsoft.com/office/drawing/2014/main" id="{CC853F42-6499-4E24-BD1A-3DAC642E5CD0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E2B03959-20C0-4D60-86DA-C393E5D67B5B}"/>
              </a:ext>
            </a:extLst>
          </p:cNvPr>
          <p:cNvSpPr>
            <a:spLocks noGrp="1"/>
          </p:cNvSpPr>
          <p:nvPr/>
        </p:nvSpPr>
        <p:spPr>
          <a:xfrm>
            <a:off x="4572000" y="383857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F-05</a:t>
            </a:r>
          </a:p>
        </p:txBody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CD6FBAAC-4925-42DA-BAA5-4FE19A73D59F}"/>
              </a:ext>
            </a:extLst>
          </p:cNvPr>
          <p:cNvSpPr>
            <a:spLocks noGrp="1"/>
          </p:cNvSpPr>
          <p:nvPr/>
        </p:nvSpPr>
        <p:spPr>
          <a:xfrm>
            <a:off x="4476750" y="42291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Estimasi tiba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825AB55F-76C0-4E74-8AF9-0DE8720D9CB6}"/>
              </a:ext>
            </a:extLst>
          </p:cNvPr>
          <p:cNvSpPr>
            <a:spLocks noGrp="1"/>
          </p:cNvSpPr>
          <p:nvPr/>
        </p:nvSpPr>
        <p:spPr>
          <a:xfrm>
            <a:off x="4476750" y="46291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Tanggal/jam ETA yang mudah dibaca</a:t>
            </a:r>
          </a:p>
        </p:txBody>
      </p:sp>
      <p:sp>
        <p:nvSpPr>
          <p:cNvPr id="31" name="Persegi Lengkung 30">
            <a:extLst>
              <a:ext uri="{FF2B5EF4-FFF2-40B4-BE49-F238E27FC236}">
                <a16:creationId xmlns:a16="http://schemas.microsoft.com/office/drawing/2014/main" id="{3FC59267-5357-40B2-BBB8-48AD29D508F5}"/>
              </a:ext>
            </a:extLst>
          </p:cNvPr>
          <p:cNvSpPr>
            <a:spLocks noGrp="1"/>
          </p:cNvSpPr>
          <p:nvPr/>
        </p:nvSpPr>
        <p:spPr>
          <a:xfrm>
            <a:off x="7962900" y="36576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32" name="Persegi Lengkung 31">
            <a:extLst>
              <a:ext uri="{FF2B5EF4-FFF2-40B4-BE49-F238E27FC236}">
                <a16:creationId xmlns:a16="http://schemas.microsoft.com/office/drawing/2014/main" id="{B18AEABF-5BBB-414F-ACE5-6BAC6D8A91E6}"/>
              </a:ext>
            </a:extLst>
          </p:cNvPr>
          <p:cNvSpPr>
            <a:spLocks noGrp="1"/>
          </p:cNvSpPr>
          <p:nvPr/>
        </p:nvSpPr>
        <p:spPr>
          <a:xfrm>
            <a:off x="8153400" y="382905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E9EDF3"/>
          </a:solidFill>
          <a:ln w="0">
            <a:noFill/>
          </a:ln>
        </p:spPr>
      </p:sp>
      <p:sp>
        <p:nvSpPr>
          <p:cNvPr id="33" name="Persegi Panjang 32">
            <a:extLst>
              <a:ext uri="{FF2B5EF4-FFF2-40B4-BE49-F238E27FC236}">
                <a16:creationId xmlns:a16="http://schemas.microsoft.com/office/drawing/2014/main" id="{0D89AE74-993A-4195-A7CC-3461D36C6F44}"/>
              </a:ext>
            </a:extLst>
          </p:cNvPr>
          <p:cNvSpPr>
            <a:spLocks noGrp="1"/>
          </p:cNvSpPr>
          <p:nvPr/>
        </p:nvSpPr>
        <p:spPr>
          <a:xfrm>
            <a:off x="8248650" y="3838575"/>
            <a:ext cx="4953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2028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83A"/>
                </a:solidFill>
                <a:latin typeface="Arial"/>
                <a:ea typeface="Arial"/>
                <a:cs typeface="Arial"/>
              </a:rPr>
              <a:t>F-06</a:t>
            </a:r>
          </a:p>
        </p:txBody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7D459DA9-375E-4F7C-A2EB-BCCD57D8EC1C}"/>
              </a:ext>
            </a:extLst>
          </p:cNvPr>
          <p:cNvSpPr>
            <a:spLocks noGrp="1"/>
          </p:cNvSpPr>
          <p:nvPr/>
        </p:nvSpPr>
        <p:spPr>
          <a:xfrm>
            <a:off x="8153400" y="42291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l">
              <a:defRPr sz="17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Fallback &amp; cache</a:t>
            </a:r>
          </a:p>
        </p:txBody>
      </p:sp>
      <p:sp>
        <p:nvSpPr>
          <p:cNvPr id="35" name="Persegi Panjang 34">
            <a:extLst>
              <a:ext uri="{FF2B5EF4-FFF2-40B4-BE49-F238E27FC236}">
                <a16:creationId xmlns:a16="http://schemas.microsoft.com/office/drawing/2014/main" id="{3424B9C4-5265-497B-A50A-E9EA86454C73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Narasi cadangan saat AI gagal</a:t>
            </a:r>
          </a:p>
        </p:txBody>
      </p:sp>
      <p:sp>
        <p:nvSpPr>
          <p:cNvPr id="36" name="Persegi Panjang 35">
            <a:extLst>
              <a:ext uri="{FF2B5EF4-FFF2-40B4-BE49-F238E27FC236}">
                <a16:creationId xmlns:a16="http://schemas.microsoft.com/office/drawing/2014/main" id="{2F7DDBFF-7F15-49DA-B19D-B04B4BCDB7CF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PRD menetapkan ruang lingkup; FRD menjabarkan perilaku dan aturan bisnisnya.</a:t>
            </a:r>
          </a:p>
        </p:txBody>
      </p:sp>
    </p:spTree>
    <p:extLst>
      <p:ext uri="{BB962C8B-B14F-4D97-AF65-F5344CB8AC3E}">
        <p14:creationId xmlns:p14="http://schemas.microsoft.com/office/powerpoint/2010/main" val="36153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ersegi Panjang 38">
            <a:extLst>
              <a:ext uri="{FF2B5EF4-FFF2-40B4-BE49-F238E27FC236}">
                <a16:creationId xmlns:a16="http://schemas.microsoft.com/office/drawing/2014/main" id="{921A535C-295D-42A9-A926-C13EF621CA7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WHERE • BEDAKAN YANG SUDAH DIDEMOKAN DAN YANG DIRENCANAKAN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393325B1-DF9D-455A-AF99-E8DA76D1685A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Di mana prototype berada dalam sistem?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6EB497B1-83A7-4B04-83B3-EF74BCF68F7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0E5099A2-D22E-42A5-AAA4-B2F74A940826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3C38641A-3DF8-4DA5-A03B-76A7673997EF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F8F46070-4875-4B0B-AB1C-7D6A17F446FF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97280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E391E3E2-0BDA-4546-BE15-0274A87F5655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2190750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8F8E34E7-3618-45E9-81F0-5F6816AADF83}"/>
              </a:ext>
            </a:extLst>
          </p:cNvPr>
          <p:cNvSpPr>
            <a:spLocks noGrp="1"/>
          </p:cNvSpPr>
          <p:nvPr/>
        </p:nvSpPr>
        <p:spPr>
          <a:xfrm>
            <a:off x="933450" y="185737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SEKARANG • PROTOTYPE</a:t>
            </a:r>
          </a:p>
        </p:txBody>
      </p:sp>
      <p:sp>
        <p:nvSpPr>
          <p:cNvPr id="9" name="Persegi Lengkung 8">
            <a:extLst>
              <a:ext uri="{FF2B5EF4-FFF2-40B4-BE49-F238E27FC236}">
                <a16:creationId xmlns:a16="http://schemas.microsoft.com/office/drawing/2014/main" id="{1C99083C-99E7-444E-9395-BF257DBFECD2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3009900" cy="866775"/>
          </a:xfrm>
          <a:prstGeom prst="roundRect">
            <a:avLst>
              <a:gd name="adj" fmla="val 8791"/>
            </a:avLst>
          </a:prstGeom>
          <a:solidFill>
            <a:srgbClr val="F3EEF0"/>
          </a:solidFill>
          <a:ln w="9525">
            <a:solidFill>
              <a:srgbClr val="F3EEF0"/>
            </a:solidFill>
          </a:ln>
        </p:spPr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9DB9D651-FC1B-4315-BECA-C68DC2B3E33D}"/>
              </a:ext>
            </a:extLst>
          </p:cNvPr>
          <p:cNvSpPr>
            <a:spLocks noGrp="1"/>
          </p:cNvSpPr>
          <p:nvPr/>
        </p:nvSpPr>
        <p:spPr>
          <a:xfrm>
            <a:off x="1009650" y="23907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41B71B76-9379-467F-A117-5844BD333FD1}"/>
              </a:ext>
            </a:extLst>
          </p:cNvPr>
          <p:cNvSpPr>
            <a:spLocks noGrp="1"/>
          </p:cNvSpPr>
          <p:nvPr/>
        </p:nvSpPr>
        <p:spPr>
          <a:xfrm>
            <a:off x="1009650" y="2647950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HTML + CSS</a:t>
            </a:r>
          </a:p>
        </p:txBody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71F5CBB1-C809-4881-980E-2D5E2D017ACE}"/>
              </a:ext>
            </a:extLst>
          </p:cNvPr>
          <p:cNvSpPr>
            <a:spLocks noGrp="1"/>
          </p:cNvSpPr>
          <p:nvPr/>
        </p:nvSpPr>
        <p:spPr>
          <a:xfrm>
            <a:off x="3895725" y="2524125"/>
            <a:ext cx="3429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02" lnSpcReduction="10000"/>
          </a:bodyPr>
          <a:lstStyle/>
          <a:p>
            <a:pPr algn="ctr">
              <a:defRPr sz="210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ersegi Lengkung 12">
            <a:extLst>
              <a:ext uri="{FF2B5EF4-FFF2-40B4-BE49-F238E27FC236}">
                <a16:creationId xmlns:a16="http://schemas.microsoft.com/office/drawing/2014/main" id="{DC6AD6DD-360E-4626-AC28-148F63FA1977}"/>
              </a:ext>
            </a:extLst>
          </p:cNvPr>
          <p:cNvSpPr>
            <a:spLocks noGrp="1"/>
          </p:cNvSpPr>
          <p:nvPr/>
        </p:nvSpPr>
        <p:spPr>
          <a:xfrm>
            <a:off x="4286250" y="2305050"/>
            <a:ext cx="3009900" cy="866775"/>
          </a:xfrm>
          <a:prstGeom prst="roundRect">
            <a:avLst>
              <a:gd name="adj" fmla="val 8791"/>
            </a:avLst>
          </a:prstGeom>
          <a:solidFill>
            <a:srgbClr val="F3EEF0"/>
          </a:solidFill>
          <a:ln w="9525">
            <a:solidFill>
              <a:srgbClr val="F3EEF0"/>
            </a:solidFill>
          </a:ln>
        </p:spPr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FDA3F2DE-205C-4419-A24D-3E74CFC7BA21}"/>
              </a:ext>
            </a:extLst>
          </p:cNvPr>
          <p:cNvSpPr>
            <a:spLocks noGrp="1"/>
          </p:cNvSpPr>
          <p:nvPr/>
        </p:nvSpPr>
        <p:spPr>
          <a:xfrm>
            <a:off x="4438650" y="23907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Demo route</a:t>
            </a:r>
          </a:p>
        </p:txBody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170C066C-AC12-4803-8E96-4695B0195410}"/>
              </a:ext>
            </a:extLst>
          </p:cNvPr>
          <p:cNvSpPr>
            <a:spLocks noGrp="1"/>
          </p:cNvSpPr>
          <p:nvPr/>
        </p:nvSpPr>
        <p:spPr>
          <a:xfrm>
            <a:off x="4438650" y="2647950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contoh resi → halaman state</a:t>
            </a:r>
          </a:p>
        </p:txBody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03508B2E-BA47-4BEA-8DB0-5A40E319A390}"/>
              </a:ext>
            </a:extLst>
          </p:cNvPr>
          <p:cNvSpPr>
            <a:spLocks noGrp="1"/>
          </p:cNvSpPr>
          <p:nvPr/>
        </p:nvSpPr>
        <p:spPr>
          <a:xfrm>
            <a:off x="7324725" y="2524125"/>
            <a:ext cx="3429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802" lnSpcReduction="10000"/>
          </a:bodyPr>
          <a:lstStyle/>
          <a:p>
            <a:pPr algn="ctr">
              <a:defRPr sz="210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ersegi Lengkung 16">
            <a:extLst>
              <a:ext uri="{FF2B5EF4-FFF2-40B4-BE49-F238E27FC236}">
                <a16:creationId xmlns:a16="http://schemas.microsoft.com/office/drawing/2014/main" id="{9D6707AD-4ED7-4B26-AD38-749A991D9768}"/>
              </a:ext>
            </a:extLst>
          </p:cNvPr>
          <p:cNvSpPr>
            <a:spLocks noGrp="1"/>
          </p:cNvSpPr>
          <p:nvPr/>
        </p:nvSpPr>
        <p:spPr>
          <a:xfrm>
            <a:off x="7715250" y="2305050"/>
            <a:ext cx="3009900" cy="866775"/>
          </a:xfrm>
          <a:prstGeom prst="roundRect">
            <a:avLst>
              <a:gd name="adj" fmla="val 8791"/>
            </a:avLst>
          </a:prstGeom>
          <a:solidFill>
            <a:srgbClr val="F3EEF0"/>
          </a:solidFill>
          <a:ln w="9525">
            <a:solidFill>
              <a:srgbClr val="F3EEF0"/>
            </a:solidFill>
          </a:ln>
        </p:spPr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0DA24830-5F9C-41D3-B1BB-E2E3F9212A96}"/>
              </a:ext>
            </a:extLst>
          </p:cNvPr>
          <p:cNvSpPr>
            <a:spLocks noGrp="1"/>
          </p:cNvSpPr>
          <p:nvPr/>
        </p:nvSpPr>
        <p:spPr>
          <a:xfrm>
            <a:off x="7867650" y="2390775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 algn="l">
              <a:defRPr sz="10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UI states</a:t>
            </a:r>
          </a:p>
        </p:txBody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9A16DE83-0DFC-4603-9A8F-ED22C178EAC3}"/>
              </a:ext>
            </a:extLst>
          </p:cNvPr>
          <p:cNvSpPr>
            <a:spLocks noGrp="1"/>
          </p:cNvSpPr>
          <p:nvPr/>
        </p:nvSpPr>
        <p:spPr>
          <a:xfrm>
            <a:off x="7867650" y="2647950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13 halaman terhubung</a:t>
            </a:r>
          </a:p>
        </p:txBody>
      </p:sp>
      <p:sp>
        <p:nvSpPr>
          <p:cNvPr id="20" name="Persegi Lengkung 19">
            <a:extLst>
              <a:ext uri="{FF2B5EF4-FFF2-40B4-BE49-F238E27FC236}">
                <a16:creationId xmlns:a16="http://schemas.microsoft.com/office/drawing/2014/main" id="{3C2E2445-50C2-4EAC-B395-81CA9173C0C9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10972800" cy="2076450"/>
          </a:xfrm>
          <a:prstGeom prst="roundRect">
            <a:avLst>
              <a:gd name="adj" fmla="val 3670"/>
            </a:avLst>
          </a:prstGeom>
          <a:solidFill>
            <a:srgbClr val="20283A"/>
          </a:solidFill>
          <a:ln w="9525">
            <a:solidFill>
              <a:srgbClr val="20283A"/>
            </a:solidFill>
          </a:ln>
        </p:spPr>
      </p:sp>
      <p:sp>
        <p:nvSpPr>
          <p:cNvPr id="21" name="Persegi Lengkung 20">
            <a:extLst>
              <a:ext uri="{FF2B5EF4-FFF2-40B4-BE49-F238E27FC236}">
                <a16:creationId xmlns:a16="http://schemas.microsoft.com/office/drawing/2014/main" id="{4B031AE1-BA0F-41F8-941B-5C4199CD5390}"/>
              </a:ext>
            </a:extLst>
          </p:cNvPr>
          <p:cNvSpPr>
            <a:spLocks noGrp="1"/>
          </p:cNvSpPr>
          <p:nvPr/>
        </p:nvSpPr>
        <p:spPr>
          <a:xfrm>
            <a:off x="838200" y="3914775"/>
            <a:ext cx="2543175" cy="266700"/>
          </a:xfrm>
          <a:prstGeom prst="roundRect">
            <a:avLst>
              <a:gd name="adj" fmla="val 28571"/>
            </a:avLst>
          </a:prstGeom>
          <a:solidFill>
            <a:srgbClr val="373E50"/>
          </a:solidFill>
          <a:ln w="0">
            <a:noFill/>
          </a:ln>
        </p:spPr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8BB70B94-0366-46DE-849A-55D09EA539D2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23526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MVP • SESUAI PRD/FRD</a:t>
            </a:r>
          </a:p>
        </p:txBody>
      </p:sp>
      <p:sp>
        <p:nvSpPr>
          <p:cNvPr id="23" name="Persegi Lengkung 22">
            <a:extLst>
              <a:ext uri="{FF2B5EF4-FFF2-40B4-BE49-F238E27FC236}">
                <a16:creationId xmlns:a16="http://schemas.microsoft.com/office/drawing/2014/main" id="{0AB11503-E7A5-4595-954F-03F2BF25C01E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2343150" cy="876300"/>
          </a:xfrm>
          <a:prstGeom prst="roundRect">
            <a:avLst>
              <a:gd name="adj" fmla="val 8696"/>
            </a:avLst>
          </a:prstGeom>
          <a:solidFill>
            <a:srgbClr val="30384A"/>
          </a:solidFill>
          <a:ln w="9525">
            <a:solidFill>
              <a:srgbClr val="51586A"/>
            </a:solidFill>
          </a:ln>
        </p:spPr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ADDA7E11-5666-4F81-AB66-7FCD3CA51D68}"/>
              </a:ext>
            </a:extLst>
          </p:cNvPr>
          <p:cNvSpPr>
            <a:spLocks noGrp="1"/>
          </p:cNvSpPr>
          <p:nvPr/>
        </p:nvSpPr>
        <p:spPr>
          <a:xfrm>
            <a:off x="971550" y="4581525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C7C4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4D4"/>
                </a:solidFill>
                <a:latin typeface="Arial"/>
                <a:ea typeface="Arial"/>
                <a:cs typeface="Arial"/>
              </a:rPr>
              <a:t>Widget</a:t>
            </a:r>
          </a:p>
        </p:txBody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C20CC1E0-488F-4DB6-99BC-27B181CC37E6}"/>
              </a:ext>
            </a:extLst>
          </p:cNvPr>
          <p:cNvSpPr>
            <a:spLocks noGrp="1"/>
          </p:cNvSpPr>
          <p:nvPr/>
        </p:nvSpPr>
        <p:spPr>
          <a:xfrm>
            <a:off x="971550" y="4876800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Tailwind</a:t>
            </a:r>
          </a:p>
        </p:txBody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3B135B1C-844A-455E-8A85-05B05880A365}"/>
              </a:ext>
            </a:extLst>
          </p:cNvPr>
          <p:cNvSpPr>
            <a:spLocks noGrp="1"/>
          </p:cNvSpPr>
          <p:nvPr/>
        </p:nvSpPr>
        <p:spPr>
          <a:xfrm>
            <a:off x="3200400" y="471487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39"/>
          </a:bodyPr>
          <a:lstStyle/>
          <a:p>
            <a:pPr algn="ctr">
              <a:defRPr sz="1650" b="1">
                <a:solidFill>
                  <a:srgbClr val="FF9BC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B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Persegi Lengkung 26">
            <a:extLst>
              <a:ext uri="{FF2B5EF4-FFF2-40B4-BE49-F238E27FC236}">
                <a16:creationId xmlns:a16="http://schemas.microsoft.com/office/drawing/2014/main" id="{45583750-A70E-4B17-9623-EE9B615F87D1}"/>
              </a:ext>
            </a:extLst>
          </p:cNvPr>
          <p:cNvSpPr>
            <a:spLocks noGrp="1"/>
          </p:cNvSpPr>
          <p:nvPr/>
        </p:nvSpPr>
        <p:spPr>
          <a:xfrm>
            <a:off x="3486150" y="4495800"/>
            <a:ext cx="2343150" cy="876300"/>
          </a:xfrm>
          <a:prstGeom prst="roundRect">
            <a:avLst>
              <a:gd name="adj" fmla="val 8696"/>
            </a:avLst>
          </a:prstGeom>
          <a:solidFill>
            <a:srgbClr val="30384A"/>
          </a:solidFill>
          <a:ln w="9525">
            <a:solidFill>
              <a:srgbClr val="51586A"/>
            </a:solidFill>
          </a:ln>
        </p:spPr>
      </p:sp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A6E00EB6-6B3B-4CE1-9941-AF69C76858B3}"/>
              </a:ext>
            </a:extLst>
          </p:cNvPr>
          <p:cNvSpPr>
            <a:spLocks noGrp="1"/>
          </p:cNvSpPr>
          <p:nvPr/>
        </p:nvSpPr>
        <p:spPr>
          <a:xfrm>
            <a:off x="3619500" y="4581525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C7C4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4D4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B99DE199-F0B6-421E-8F16-2C5A02497ADF}"/>
              </a:ext>
            </a:extLst>
          </p:cNvPr>
          <p:cNvSpPr>
            <a:spLocks noGrp="1"/>
          </p:cNvSpPr>
          <p:nvPr/>
        </p:nvSpPr>
        <p:spPr>
          <a:xfrm>
            <a:off x="3619500" y="4876800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Laravel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A343FC1E-602D-4DE4-8433-DA3047BB3223}"/>
              </a:ext>
            </a:extLst>
          </p:cNvPr>
          <p:cNvSpPr>
            <a:spLocks noGrp="1"/>
          </p:cNvSpPr>
          <p:nvPr/>
        </p:nvSpPr>
        <p:spPr>
          <a:xfrm>
            <a:off x="5848350" y="471487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39"/>
          </a:bodyPr>
          <a:lstStyle/>
          <a:p>
            <a:pPr algn="ctr">
              <a:defRPr sz="1650" b="1">
                <a:solidFill>
                  <a:srgbClr val="FF9BC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B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Persegi Lengkung 30">
            <a:extLst>
              <a:ext uri="{FF2B5EF4-FFF2-40B4-BE49-F238E27FC236}">
                <a16:creationId xmlns:a16="http://schemas.microsoft.com/office/drawing/2014/main" id="{E9B50CC0-1463-418D-A343-23688DD1FB5D}"/>
              </a:ext>
            </a:extLst>
          </p:cNvPr>
          <p:cNvSpPr>
            <a:spLocks noGrp="1"/>
          </p:cNvSpPr>
          <p:nvPr/>
        </p:nvSpPr>
        <p:spPr>
          <a:xfrm>
            <a:off x="6134100" y="4495800"/>
            <a:ext cx="2343150" cy="876300"/>
          </a:xfrm>
          <a:prstGeom prst="roundRect">
            <a:avLst>
              <a:gd name="adj" fmla="val 8696"/>
            </a:avLst>
          </a:prstGeom>
          <a:solidFill>
            <a:srgbClr val="30384A"/>
          </a:solidFill>
          <a:ln w="9525">
            <a:solidFill>
              <a:srgbClr val="51586A"/>
            </a:solidFill>
          </a:ln>
        </p:spPr>
      </p:sp>
      <p:sp>
        <p:nvSpPr>
          <p:cNvPr id="32" name="Persegi Panjang 31">
            <a:extLst>
              <a:ext uri="{FF2B5EF4-FFF2-40B4-BE49-F238E27FC236}">
                <a16:creationId xmlns:a16="http://schemas.microsoft.com/office/drawing/2014/main" id="{1FFBF323-2767-44BF-80A4-D67A26784251}"/>
              </a:ext>
            </a:extLst>
          </p:cNvPr>
          <p:cNvSpPr>
            <a:spLocks noGrp="1"/>
          </p:cNvSpPr>
          <p:nvPr/>
        </p:nvSpPr>
        <p:spPr>
          <a:xfrm>
            <a:off x="6267450" y="4581525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C7C4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4D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3" name="Persegi Panjang 32">
            <a:extLst>
              <a:ext uri="{FF2B5EF4-FFF2-40B4-BE49-F238E27FC236}">
                <a16:creationId xmlns:a16="http://schemas.microsoft.com/office/drawing/2014/main" id="{1669A9DF-E59B-400D-8488-38959E3B9EC7}"/>
              </a:ext>
            </a:extLst>
          </p:cNvPr>
          <p:cNvSpPr>
            <a:spLocks noGrp="1"/>
          </p:cNvSpPr>
          <p:nvPr/>
        </p:nvSpPr>
        <p:spPr>
          <a:xfrm>
            <a:off x="6267450" y="4876800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+ Redis</a:t>
            </a:r>
          </a:p>
        </p:txBody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74A80EB9-7AF7-46A1-B903-0582EBB46FD0}"/>
              </a:ext>
            </a:extLst>
          </p:cNvPr>
          <p:cNvSpPr>
            <a:spLocks noGrp="1"/>
          </p:cNvSpPr>
          <p:nvPr/>
        </p:nvSpPr>
        <p:spPr>
          <a:xfrm>
            <a:off x="8496300" y="4714875"/>
            <a:ext cx="285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839"/>
          </a:bodyPr>
          <a:lstStyle/>
          <a:p>
            <a:pPr algn="ctr">
              <a:defRPr sz="1650" b="1">
                <a:solidFill>
                  <a:srgbClr val="FF9BC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BC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Persegi Lengkung 34">
            <a:extLst>
              <a:ext uri="{FF2B5EF4-FFF2-40B4-BE49-F238E27FC236}">
                <a16:creationId xmlns:a16="http://schemas.microsoft.com/office/drawing/2014/main" id="{BCCAFC38-9517-4B07-B133-A44253B9C226}"/>
              </a:ext>
            </a:extLst>
          </p:cNvPr>
          <p:cNvSpPr>
            <a:spLocks noGrp="1"/>
          </p:cNvSpPr>
          <p:nvPr/>
        </p:nvSpPr>
        <p:spPr>
          <a:xfrm>
            <a:off x="8782050" y="4495800"/>
            <a:ext cx="2343150" cy="876300"/>
          </a:xfrm>
          <a:prstGeom prst="roundRect">
            <a:avLst>
              <a:gd name="adj" fmla="val 8696"/>
            </a:avLst>
          </a:prstGeom>
          <a:solidFill>
            <a:srgbClr val="30384A"/>
          </a:solidFill>
          <a:ln w="9525">
            <a:solidFill>
              <a:srgbClr val="51586A"/>
            </a:solidFill>
          </a:ln>
        </p:spPr>
      </p:sp>
      <p:sp>
        <p:nvSpPr>
          <p:cNvPr id="36" name="Persegi Panjang 35">
            <a:extLst>
              <a:ext uri="{FF2B5EF4-FFF2-40B4-BE49-F238E27FC236}">
                <a16:creationId xmlns:a16="http://schemas.microsoft.com/office/drawing/2014/main" id="{127BF70A-0689-415C-9290-2D1FEE2661A2}"/>
              </a:ext>
            </a:extLst>
          </p:cNvPr>
          <p:cNvSpPr>
            <a:spLocks noGrp="1"/>
          </p:cNvSpPr>
          <p:nvPr/>
        </p:nvSpPr>
        <p:spPr>
          <a:xfrm>
            <a:off x="8915400" y="4581525"/>
            <a:ext cx="20764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1">
                <a:solidFill>
                  <a:srgbClr val="C7C4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C4D4"/>
                </a:solidFill>
                <a:latin typeface="Arial"/>
                <a:ea typeface="Arial"/>
                <a:cs typeface="Arial"/>
              </a:rPr>
              <a:t>Narrative</a:t>
            </a:r>
          </a:p>
        </p:txBody>
      </p:sp>
      <p:sp>
        <p:nvSpPr>
          <p:cNvPr id="37" name="Persegi Panjang 36">
            <a:extLst>
              <a:ext uri="{FF2B5EF4-FFF2-40B4-BE49-F238E27FC236}">
                <a16:creationId xmlns:a16="http://schemas.microsoft.com/office/drawing/2014/main" id="{80354869-79A3-476D-975F-AC59F69BA40C}"/>
              </a:ext>
            </a:extLst>
          </p:cNvPr>
          <p:cNvSpPr>
            <a:spLocks noGrp="1"/>
          </p:cNvSpPr>
          <p:nvPr/>
        </p:nvSpPr>
        <p:spPr>
          <a:xfrm>
            <a:off x="8915400" y="4876800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Gemini + fallback</a:t>
            </a:r>
          </a:p>
        </p:txBody>
      </p:sp>
      <p:sp>
        <p:nvSpPr>
          <p:cNvPr id="38" name="Persegi Panjang 37">
            <a:extLst>
              <a:ext uri="{FF2B5EF4-FFF2-40B4-BE49-F238E27FC236}">
                <a16:creationId xmlns:a16="http://schemas.microsoft.com/office/drawing/2014/main" id="{EA9850C4-8D72-4322-802D-FD7DD911AFB5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0096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214" lnSpcReduction="10000"/>
          </a:bodyPr>
          <a:lstStyle/>
          <a:p>
            <a:pPr algn="l">
              <a:defRPr sz="1050" b="0">
                <a:solidFill>
                  <a:srgbClr val="E7E7E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7E7ED"/>
                </a:solidFill>
                <a:latin typeface="Arial"/>
                <a:ea typeface="Arial"/>
                <a:cs typeface="Arial"/>
              </a:rPr>
              <a:t>Batas demo: tidak ada lookup database atau tracking API sungguhan.</a:t>
            </a:r>
          </a:p>
        </p:txBody>
      </p:sp>
    </p:spTree>
    <p:extLst>
      <p:ext uri="{BB962C8B-B14F-4D97-AF65-F5344CB8AC3E}">
        <p14:creationId xmlns:p14="http://schemas.microsoft.com/office/powerpoint/2010/main" val="163974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ersegi Panjang 41">
            <a:extLst>
              <a:ext uri="{FF2B5EF4-FFF2-40B4-BE49-F238E27FC236}">
                <a16:creationId xmlns:a16="http://schemas.microsoft.com/office/drawing/2014/main" id="{DC0FBF0C-F168-4975-B829-715C9F3617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INPUT → STATE → TINDAKAN BERIKUTNYA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F9239981-D00C-4A0D-A4BE-04687EB16BE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Bagaimana flow pengguna berjalan?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0870A845-DD0F-4A0E-9177-ED139A9C2DF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F8B716D7-AAED-44E5-9482-5729E48BA010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892AC5BA-3743-4850-B3A4-219D2FCC8B89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43E699DC-81DA-494B-8A1F-D8150E95D0C2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9728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1AC8B4-F2DF-48CB-AF0F-4CC84C05C647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19100" cy="4191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4844173E-7883-4526-98FF-455121112738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7C0DD793-4966-4A81-BC1E-7CF8A9CD586B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Beranda / Lacak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66B45382-F47D-4F0F-84DE-BB7C74A33EF3}"/>
              </a:ext>
            </a:extLst>
          </p:cNvPr>
          <p:cNvSpPr>
            <a:spLocks noGrp="1"/>
          </p:cNvSpPr>
          <p:nvPr/>
        </p:nvSpPr>
        <p:spPr>
          <a:xfrm>
            <a:off x="3009900" y="20097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90" lnSpcReduction="10000"/>
          </a:bodyPr>
          <a:lstStyle/>
          <a:p>
            <a:pPr algn="ctr">
              <a:defRPr sz="19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E26C76-ABC9-4E0E-8625-642A772E26E9}"/>
              </a:ext>
            </a:extLst>
          </p:cNvPr>
          <p:cNvSpPr>
            <a:spLocks noGrp="1"/>
          </p:cNvSpPr>
          <p:nvPr/>
        </p:nvSpPr>
        <p:spPr>
          <a:xfrm>
            <a:off x="3467100" y="1981200"/>
            <a:ext cx="419100" cy="4191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E9A27D6D-6AF2-45C1-BD55-984CE82DB645}"/>
              </a:ext>
            </a:extLst>
          </p:cNvPr>
          <p:cNvSpPr>
            <a:spLocks noGrp="1"/>
          </p:cNvSpPr>
          <p:nvPr/>
        </p:nvSpPr>
        <p:spPr>
          <a:xfrm>
            <a:off x="3467100" y="19812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8CFD6F06-D829-4255-BF23-81259232B437}"/>
              </a:ext>
            </a:extLst>
          </p:cNvPr>
          <p:cNvSpPr>
            <a:spLocks noGrp="1"/>
          </p:cNvSpPr>
          <p:nvPr/>
        </p:nvSpPr>
        <p:spPr>
          <a:xfrm>
            <a:off x="3467100" y="251460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Isi nomor resi</a:t>
            </a: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2737AEB6-D489-42AF-9059-6797B2CCE1B7}"/>
              </a:ext>
            </a:extLst>
          </p:cNvPr>
          <p:cNvSpPr>
            <a:spLocks noGrp="1"/>
          </p:cNvSpPr>
          <p:nvPr/>
        </p:nvSpPr>
        <p:spPr>
          <a:xfrm>
            <a:off x="5638800" y="20097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90" lnSpcReduction="10000"/>
          </a:bodyPr>
          <a:lstStyle/>
          <a:p>
            <a:pPr algn="ctr">
              <a:defRPr sz="19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649E3-84C8-4172-9493-ECD42263737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419100" cy="4191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01423231-59A9-45BE-9FC5-CA0D88F18358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59D99AF9-ACA9-4EAF-B256-844FB71DBEE3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Loading</a:t>
            </a:r>
          </a:p>
        </p:txBody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B7D49F1F-575A-423D-AB04-7028CE04E789}"/>
              </a:ext>
            </a:extLst>
          </p:cNvPr>
          <p:cNvSpPr>
            <a:spLocks noGrp="1"/>
          </p:cNvSpPr>
          <p:nvPr/>
        </p:nvSpPr>
        <p:spPr>
          <a:xfrm>
            <a:off x="8267700" y="20097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790" lnSpcReduction="10000"/>
          </a:bodyPr>
          <a:lstStyle/>
          <a:p>
            <a:pPr algn="ctr">
              <a:defRPr sz="19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CC3BE2-8EDD-4319-86EC-CD64EA939AEC}"/>
              </a:ext>
            </a:extLst>
          </p:cNvPr>
          <p:cNvSpPr>
            <a:spLocks noGrp="1"/>
          </p:cNvSpPr>
          <p:nvPr/>
        </p:nvSpPr>
        <p:spPr>
          <a:xfrm>
            <a:off x="8724900" y="1981200"/>
            <a:ext cx="419100" cy="41910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4BA599AF-7378-4568-B043-E3FF0D6AF4C4}"/>
              </a:ext>
            </a:extLst>
          </p:cNvPr>
          <p:cNvSpPr>
            <a:spLocks noGrp="1"/>
          </p:cNvSpPr>
          <p:nvPr/>
        </p:nvSpPr>
        <p:spPr>
          <a:xfrm>
            <a:off x="8724900" y="19812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DB08CDB8-02D1-42DB-BC29-E14C38B11197}"/>
              </a:ext>
            </a:extLst>
          </p:cNvPr>
          <p:cNvSpPr>
            <a:spLocks noGrp="1"/>
          </p:cNvSpPr>
          <p:nvPr/>
        </p:nvSpPr>
        <p:spPr>
          <a:xfrm>
            <a:off x="8724900" y="251460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Hasil sesuai state</a:t>
            </a:r>
          </a:p>
        </p:txBody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CC354970-3F23-4407-ADDF-DBA1E618D282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TIGA CONTOH DEMO</a:t>
            </a:r>
          </a:p>
        </p:txBody>
      </p:sp>
      <p:sp>
        <p:nvSpPr>
          <p:cNvPr id="23" name="Persegi Lengkung 22">
            <a:extLst>
              <a:ext uri="{FF2B5EF4-FFF2-40B4-BE49-F238E27FC236}">
                <a16:creationId xmlns:a16="http://schemas.microsoft.com/office/drawing/2014/main" id="{98BFD54D-66BA-433B-8903-7590A2209D88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42900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81F1D76-D6BA-45D0-A0EA-E77272DCC78B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114300" cy="114300"/>
          </a:xfrm>
          <a:prstGeom prst="ellipse">
            <a:avLst/>
          </a:prstGeom>
          <a:solidFill>
            <a:srgbClr val="12A97B"/>
          </a:solidFill>
          <a:ln w="0">
            <a:noFill/>
          </a:ln>
        </p:spPr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E6012562-7A21-4C42-9E01-A2A857F11796}"/>
              </a:ext>
            </a:extLst>
          </p:cNvPr>
          <p:cNvSpPr>
            <a:spLocks noGrp="1"/>
          </p:cNvSpPr>
          <p:nvPr/>
        </p:nvSpPr>
        <p:spPr>
          <a:xfrm>
            <a:off x="1009650" y="404812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In-Transit</a:t>
            </a:r>
          </a:p>
        </p:txBody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C94222B7-A74C-410C-A413-20121F744F23}"/>
              </a:ext>
            </a:extLst>
          </p:cNvPr>
          <p:cNvSpPr>
            <a:spLocks noGrp="1"/>
          </p:cNvSpPr>
          <p:nvPr/>
        </p:nvSpPr>
        <p:spPr>
          <a:xfrm>
            <a:off x="800100" y="44291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#1000849201994</a:t>
            </a:r>
          </a:p>
        </p:txBody>
      </p:sp>
      <p:sp>
        <p:nvSpPr>
          <p:cNvPr id="27" name="Persegi Lengkung 26">
            <a:extLst>
              <a:ext uri="{FF2B5EF4-FFF2-40B4-BE49-F238E27FC236}">
                <a16:creationId xmlns:a16="http://schemas.microsoft.com/office/drawing/2014/main" id="{52864573-7DBB-4241-AFC3-5A6514A35E2C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2667000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BE81AC4C-8146-4F56-9106-D8FEDD299FED}"/>
              </a:ext>
            </a:extLst>
          </p:cNvPr>
          <p:cNvSpPr>
            <a:spLocks noGrp="1"/>
          </p:cNvSpPr>
          <p:nvPr/>
        </p:nvSpPr>
        <p:spPr>
          <a:xfrm>
            <a:off x="895350" y="48672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tracking-normal.html</a:t>
            </a:r>
          </a:p>
        </p:txBody>
      </p:sp>
      <p:sp>
        <p:nvSpPr>
          <p:cNvPr id="29" name="Persegi Lengkung 28">
            <a:extLst>
              <a:ext uri="{FF2B5EF4-FFF2-40B4-BE49-F238E27FC236}">
                <a16:creationId xmlns:a16="http://schemas.microsoft.com/office/drawing/2014/main" id="{674B6396-C64C-4AC4-ADBD-11F009584834}"/>
              </a:ext>
            </a:extLst>
          </p:cNvPr>
          <p:cNvSpPr>
            <a:spLocks noGrp="1"/>
          </p:cNvSpPr>
          <p:nvPr/>
        </p:nvSpPr>
        <p:spPr>
          <a:xfrm>
            <a:off x="4286250" y="3943350"/>
            <a:ext cx="342900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B2B7F27-479A-48D4-A9D5-FFE4870F6A34}"/>
              </a:ext>
            </a:extLst>
          </p:cNvPr>
          <p:cNvSpPr>
            <a:spLocks noGrp="1"/>
          </p:cNvSpPr>
          <p:nvPr/>
        </p:nvSpPr>
        <p:spPr>
          <a:xfrm>
            <a:off x="4476750" y="4143375"/>
            <a:ext cx="114300" cy="114300"/>
          </a:xfrm>
          <a:prstGeom prst="ellipse">
            <a:avLst/>
          </a:prstGeom>
          <a:solidFill>
            <a:srgbClr val="8058E8"/>
          </a:solidFill>
          <a:ln w="0">
            <a:noFill/>
          </a:ln>
        </p:spPr>
      </p:sp>
      <p:sp>
        <p:nvSpPr>
          <p:cNvPr id="31" name="Persegi Panjang 30">
            <a:extLst>
              <a:ext uri="{FF2B5EF4-FFF2-40B4-BE49-F238E27FC236}">
                <a16:creationId xmlns:a16="http://schemas.microsoft.com/office/drawing/2014/main" id="{2A7A317A-FAD6-4FB6-A035-C6BBF0F589DD}"/>
              </a:ext>
            </a:extLst>
          </p:cNvPr>
          <p:cNvSpPr>
            <a:spLocks noGrp="1"/>
          </p:cNvSpPr>
          <p:nvPr/>
        </p:nvSpPr>
        <p:spPr>
          <a:xfrm>
            <a:off x="4686300" y="404812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Live map</a:t>
            </a:r>
          </a:p>
        </p:txBody>
      </p:sp>
      <p:sp>
        <p:nvSpPr>
          <p:cNvPr id="32" name="Persegi Panjang 31">
            <a:extLst>
              <a:ext uri="{FF2B5EF4-FFF2-40B4-BE49-F238E27FC236}">
                <a16:creationId xmlns:a16="http://schemas.microsoft.com/office/drawing/2014/main" id="{C79CFD45-70A4-4D36-92CD-702F3E1CD840}"/>
              </a:ext>
            </a:extLst>
          </p:cNvPr>
          <p:cNvSpPr>
            <a:spLocks noGrp="1"/>
          </p:cNvSpPr>
          <p:nvPr/>
        </p:nvSpPr>
        <p:spPr>
          <a:xfrm>
            <a:off x="4476750" y="44291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#1000921477821</a:t>
            </a:r>
          </a:p>
        </p:txBody>
      </p:sp>
      <p:sp>
        <p:nvSpPr>
          <p:cNvPr id="33" name="Persegi Lengkung 32">
            <a:extLst>
              <a:ext uri="{FF2B5EF4-FFF2-40B4-BE49-F238E27FC236}">
                <a16:creationId xmlns:a16="http://schemas.microsoft.com/office/drawing/2014/main" id="{B78D11A8-5863-4D42-8415-6880398E55EE}"/>
              </a:ext>
            </a:extLst>
          </p:cNvPr>
          <p:cNvSpPr>
            <a:spLocks noGrp="1"/>
          </p:cNvSpPr>
          <p:nvPr/>
        </p:nvSpPr>
        <p:spPr>
          <a:xfrm>
            <a:off x="4476750" y="4857750"/>
            <a:ext cx="2667000" cy="266700"/>
          </a:xfrm>
          <a:prstGeom prst="roundRect">
            <a:avLst>
              <a:gd name="adj" fmla="val 28571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C4970063-EAEF-42F1-B2FB-6D3F9B0CA5D4}"/>
              </a:ext>
            </a:extLst>
          </p:cNvPr>
          <p:cNvSpPr>
            <a:spLocks noGrp="1"/>
          </p:cNvSpPr>
          <p:nvPr/>
        </p:nvSpPr>
        <p:spPr>
          <a:xfrm>
            <a:off x="4572000" y="48672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tracking-live.html</a:t>
            </a:r>
          </a:p>
        </p:txBody>
      </p:sp>
      <p:sp>
        <p:nvSpPr>
          <p:cNvPr id="35" name="Persegi Lengkung 34">
            <a:extLst>
              <a:ext uri="{FF2B5EF4-FFF2-40B4-BE49-F238E27FC236}">
                <a16:creationId xmlns:a16="http://schemas.microsoft.com/office/drawing/2014/main" id="{DFA2EC2E-9239-42D9-A819-EDCD34C54AC6}"/>
              </a:ext>
            </a:extLst>
          </p:cNvPr>
          <p:cNvSpPr>
            <a:spLocks noGrp="1"/>
          </p:cNvSpPr>
          <p:nvPr/>
        </p:nvSpPr>
        <p:spPr>
          <a:xfrm>
            <a:off x="7962900" y="3943350"/>
            <a:ext cx="3429000" cy="1438275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9234AC-915E-4063-A9DC-C7C9EE40D302}"/>
              </a:ext>
            </a:extLst>
          </p:cNvPr>
          <p:cNvSpPr>
            <a:spLocks noGrp="1"/>
          </p:cNvSpPr>
          <p:nvPr/>
        </p:nvSpPr>
        <p:spPr>
          <a:xfrm>
            <a:off x="8153400" y="4143375"/>
            <a:ext cx="114300" cy="114300"/>
          </a:xfrm>
          <a:prstGeom prst="ellipse">
            <a:avLst/>
          </a:prstGeom>
          <a:solidFill>
            <a:srgbClr val="E8A600"/>
          </a:solidFill>
          <a:ln w="0">
            <a:noFill/>
          </a:ln>
        </p:spPr>
      </p:sp>
      <p:sp>
        <p:nvSpPr>
          <p:cNvPr id="37" name="Persegi Panjang 36">
            <a:extLst>
              <a:ext uri="{FF2B5EF4-FFF2-40B4-BE49-F238E27FC236}">
                <a16:creationId xmlns:a16="http://schemas.microsoft.com/office/drawing/2014/main" id="{AFC21E1A-E315-4DB4-9D3C-DFCB00334938}"/>
              </a:ext>
            </a:extLst>
          </p:cNvPr>
          <p:cNvSpPr>
            <a:spLocks noGrp="1"/>
          </p:cNvSpPr>
          <p:nvPr/>
        </p:nvSpPr>
        <p:spPr>
          <a:xfrm>
            <a:off x="8362950" y="4048125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52" lnSpcReduction="10000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Peringatan jalur</a:t>
            </a:r>
          </a:p>
        </p:txBody>
      </p:sp>
      <p:sp>
        <p:nvSpPr>
          <p:cNvPr id="38" name="Persegi Panjang 37">
            <a:extLst>
              <a:ext uri="{FF2B5EF4-FFF2-40B4-BE49-F238E27FC236}">
                <a16:creationId xmlns:a16="http://schemas.microsoft.com/office/drawing/2014/main" id="{50439B9F-9DCC-4061-BE18-455A3051C146}"/>
              </a:ext>
            </a:extLst>
          </p:cNvPr>
          <p:cNvSpPr>
            <a:spLocks noGrp="1"/>
          </p:cNvSpPr>
          <p:nvPr/>
        </p:nvSpPr>
        <p:spPr>
          <a:xfrm>
            <a:off x="8153400" y="44291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#1000781293812</a:t>
            </a:r>
          </a:p>
        </p:txBody>
      </p:sp>
      <p:sp>
        <p:nvSpPr>
          <p:cNvPr id="39" name="Persegi Lengkung 38">
            <a:extLst>
              <a:ext uri="{FF2B5EF4-FFF2-40B4-BE49-F238E27FC236}">
                <a16:creationId xmlns:a16="http://schemas.microsoft.com/office/drawing/2014/main" id="{71CE5AD1-3143-4CC3-88EE-BED33DE45F2F}"/>
              </a:ext>
            </a:extLst>
          </p:cNvPr>
          <p:cNvSpPr>
            <a:spLocks noGrp="1"/>
          </p:cNvSpPr>
          <p:nvPr/>
        </p:nvSpPr>
        <p:spPr>
          <a:xfrm>
            <a:off x="8153400" y="4857750"/>
            <a:ext cx="2667000" cy="266700"/>
          </a:xfrm>
          <a:prstGeom prst="roundRect">
            <a:avLst>
              <a:gd name="adj" fmla="val 28571"/>
            </a:avLst>
          </a:prstGeom>
          <a:solidFill>
            <a:srgbClr val="FFF5D9"/>
          </a:solidFill>
          <a:ln w="0">
            <a:noFill/>
          </a:ln>
        </p:spPr>
      </p:sp>
      <p:sp>
        <p:nvSpPr>
          <p:cNvPr id="40" name="Persegi Panjang 39">
            <a:extLst>
              <a:ext uri="{FF2B5EF4-FFF2-40B4-BE49-F238E27FC236}">
                <a16:creationId xmlns:a16="http://schemas.microsoft.com/office/drawing/2014/main" id="{3C0D9559-4E66-41AB-A492-FF18697B3B91}"/>
              </a:ext>
            </a:extLst>
          </p:cNvPr>
          <p:cNvSpPr>
            <a:spLocks noGrp="1"/>
          </p:cNvSpPr>
          <p:nvPr/>
        </p:nvSpPr>
        <p:spPr>
          <a:xfrm>
            <a:off x="8248650" y="48672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E8A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A600"/>
                </a:solidFill>
                <a:latin typeface="Arial"/>
                <a:ea typeface="Arial"/>
                <a:cs typeface="Arial"/>
              </a:rPr>
              <a:t>tracking.html</a:t>
            </a:r>
          </a:p>
        </p:txBody>
      </p:sp>
      <p:sp>
        <p:nvSpPr>
          <p:cNvPr id="41" name="Persegi Panjang 40">
            <a:extLst>
              <a:ext uri="{FF2B5EF4-FFF2-40B4-BE49-F238E27FC236}">
                <a16:creationId xmlns:a16="http://schemas.microsoft.com/office/drawing/2014/main" id="{053EEB7B-61F6-45FA-9441-4B5ECFF311EC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Validasi, tidak ditemukan, dibatalkan, tiba, fallback, dan gangguan layanan punya state tersendiri.</a:t>
            </a:r>
          </a:p>
        </p:txBody>
      </p:sp>
    </p:spTree>
    <p:extLst>
      <p:ext uri="{BB962C8B-B14F-4D97-AF65-F5344CB8AC3E}">
        <p14:creationId xmlns:p14="http://schemas.microsoft.com/office/powerpoint/2010/main" val="112985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FE9A625D-7384-405D-ADFC-C6A458004E4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VISUAL YANG RAPI HARUS MENYELESAIKAN TUGAS PENGGUNA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26315547-D82F-4ED9-91A3-F9AF444C34E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Apa yang dipelajari soal UI/UX?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FEBC68F3-B5B7-405E-BEA1-6526642F6455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CC73A87E-595B-4B66-8916-873100CAA298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561F7CC7-6946-46F1-9D86-F443108C9A81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pic>
        <p:nvPicPr>
          <p:cNvPr id="35" name="Gambar 34"/>
          <p:cNvPicPr>
            <a:picLocks noChangeAspect="1"/>
          </p:cNvPicPr>
          <p:nvPr/>
        </p:nvPicPr>
        <p:blipFill>
          <a:blip r:embed="rId3"/>
          <a:srcRect t="9237" b="9237"/>
          <a:stretch>
            <a:fillRect/>
          </a:stretch>
        </p:blipFill>
        <p:spPr>
          <a:xfrm>
            <a:off x="609600" y="1666875"/>
            <a:ext cx="3143250" cy="4324350"/>
          </a:xfrm>
          <a:prstGeom prst="roundRect">
            <a:avLst>
              <a:gd name="adj" fmla="val 5455"/>
            </a:avLst>
          </a:prstGeom>
        </p:spPr>
      </p:pic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F706591C-754F-4534-99FA-E9F4AF18143E}"/>
              </a:ext>
            </a:extLst>
          </p:cNvPr>
          <p:cNvSpPr>
            <a:spLocks noGrp="1"/>
          </p:cNvSpPr>
          <p:nvPr/>
        </p:nvSpPr>
        <p:spPr>
          <a:xfrm>
            <a:off x="4095750" y="1666875"/>
            <a:ext cx="7486650" cy="432435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8" name="Persegi Lengkung 7">
            <a:extLst>
              <a:ext uri="{FF2B5EF4-FFF2-40B4-BE49-F238E27FC236}">
                <a16:creationId xmlns:a16="http://schemas.microsoft.com/office/drawing/2014/main" id="{AE85CF45-A5DD-4FD5-9AFA-F445CE5F51D7}"/>
              </a:ext>
            </a:extLst>
          </p:cNvPr>
          <p:cNvSpPr>
            <a:spLocks noGrp="1"/>
          </p:cNvSpPr>
          <p:nvPr/>
        </p:nvSpPr>
        <p:spPr>
          <a:xfrm>
            <a:off x="4343400" y="1943100"/>
            <a:ext cx="51435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D27FFAE0-A47E-42A1-8251-AC578224A445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E379240E-B206-4BC2-B2E1-9B89187F2C60}"/>
              </a:ext>
            </a:extLst>
          </p:cNvPr>
          <p:cNvSpPr>
            <a:spLocks noGrp="1"/>
          </p:cNvSpPr>
          <p:nvPr/>
        </p:nvSpPr>
        <p:spPr>
          <a:xfrm>
            <a:off x="5029200" y="192405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Hierarki</a:t>
            </a:r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B2439956-A554-4D4A-8B01-9834189A42AA}"/>
              </a:ext>
            </a:extLst>
          </p:cNvPr>
          <p:cNvSpPr>
            <a:spLocks noGrp="1"/>
          </p:cNvSpPr>
          <p:nvPr/>
        </p:nvSpPr>
        <p:spPr>
          <a:xfrm>
            <a:off x="5029200" y="220027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resi dan ETA terbaca dulu; status berikutnya jelas</a:t>
            </a:r>
          </a:p>
        </p:txBody>
      </p:sp>
      <p:sp>
        <p:nvSpPr>
          <p:cNvPr id="12" name="Persegi Lengkung 11">
            <a:extLst>
              <a:ext uri="{FF2B5EF4-FFF2-40B4-BE49-F238E27FC236}">
                <a16:creationId xmlns:a16="http://schemas.microsoft.com/office/drawing/2014/main" id="{FEEC3AE8-DA91-4232-9A27-1765B20587E5}"/>
              </a:ext>
            </a:extLst>
          </p:cNvPr>
          <p:cNvSpPr>
            <a:spLocks noGrp="1"/>
          </p:cNvSpPr>
          <p:nvPr/>
        </p:nvSpPr>
        <p:spPr>
          <a:xfrm>
            <a:off x="4343400" y="2638425"/>
            <a:ext cx="514350" cy="266700"/>
          </a:xfrm>
          <a:prstGeom prst="roundRect">
            <a:avLst>
              <a:gd name="adj" fmla="val 28571"/>
            </a:avLst>
          </a:prstGeom>
          <a:solidFill>
            <a:srgbClr val="FFF5D9"/>
          </a:solidFill>
          <a:ln w="0">
            <a:noFill/>
          </a:ln>
        </p:spPr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F6C74706-1CA0-4692-9DF2-93EE3BEC9CB3}"/>
              </a:ext>
            </a:extLst>
          </p:cNvPr>
          <p:cNvSpPr>
            <a:spLocks noGrp="1"/>
          </p:cNvSpPr>
          <p:nvPr/>
        </p:nvSpPr>
        <p:spPr>
          <a:xfrm>
            <a:off x="4438650" y="2647950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E8A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A6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D5F89786-A8C7-40AA-A670-738A6B043E06}"/>
              </a:ext>
            </a:extLst>
          </p:cNvPr>
          <p:cNvSpPr>
            <a:spLocks noGrp="1"/>
          </p:cNvSpPr>
          <p:nvPr/>
        </p:nvSpPr>
        <p:spPr>
          <a:xfrm>
            <a:off x="5029200" y="26193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Kelengkapan state</a:t>
            </a:r>
          </a:p>
        </p:txBody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C91B0AD1-8B21-4059-9A11-C961312504F1}"/>
              </a:ext>
            </a:extLst>
          </p:cNvPr>
          <p:cNvSpPr>
            <a:spLocks noGrp="1"/>
          </p:cNvSpPr>
          <p:nvPr/>
        </p:nvSpPr>
        <p:spPr>
          <a:xfrm>
            <a:off x="5029200" y="289560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success, loading, invalid, not-found, fallback, service-error</a:t>
            </a:r>
          </a:p>
        </p:txBody>
      </p:sp>
      <p:sp>
        <p:nvSpPr>
          <p:cNvPr id="16" name="Persegi Lengkung 15">
            <a:extLst>
              <a:ext uri="{FF2B5EF4-FFF2-40B4-BE49-F238E27FC236}">
                <a16:creationId xmlns:a16="http://schemas.microsoft.com/office/drawing/2014/main" id="{B236F6ED-139B-4026-ADEC-FBA38BEF2ED6}"/>
              </a:ext>
            </a:extLst>
          </p:cNvPr>
          <p:cNvSpPr>
            <a:spLocks noGrp="1"/>
          </p:cNvSpPr>
          <p:nvPr/>
        </p:nvSpPr>
        <p:spPr>
          <a:xfrm>
            <a:off x="4343400" y="3333750"/>
            <a:ext cx="51435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CC9E11E1-2308-4723-B5F0-8BA4CE840058}"/>
              </a:ext>
            </a:extLst>
          </p:cNvPr>
          <p:cNvSpPr>
            <a:spLocks noGrp="1"/>
          </p:cNvSpPr>
          <p:nvPr/>
        </p:nvSpPr>
        <p:spPr>
          <a:xfrm>
            <a:off x="4438650" y="3343275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04510573-73A6-4D9E-B14A-5265F376CE21}"/>
              </a:ext>
            </a:extLst>
          </p:cNvPr>
          <p:cNvSpPr>
            <a:spLocks noGrp="1"/>
          </p:cNvSpPr>
          <p:nvPr/>
        </p:nvSpPr>
        <p:spPr>
          <a:xfrm>
            <a:off x="5029200" y="331470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Pola familier</a:t>
            </a:r>
          </a:p>
        </p:txBody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E4B9B7BB-943F-439F-A7C4-C9A358280245}"/>
              </a:ext>
            </a:extLst>
          </p:cNvPr>
          <p:cNvSpPr>
            <a:spLocks noGrp="1"/>
          </p:cNvSpPr>
          <p:nvPr/>
        </p:nvSpPr>
        <p:spPr>
          <a:xfrm>
            <a:off x="5029200" y="359092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form, tombol, navigasi, dan pesan yang tidak mengejutkan</a:t>
            </a:r>
          </a:p>
        </p:txBody>
      </p:sp>
      <p:sp>
        <p:nvSpPr>
          <p:cNvPr id="20" name="Persegi Lengkung 19">
            <a:extLst>
              <a:ext uri="{FF2B5EF4-FFF2-40B4-BE49-F238E27FC236}">
                <a16:creationId xmlns:a16="http://schemas.microsoft.com/office/drawing/2014/main" id="{74022D6F-89F3-43EA-B170-7EAF38990FD9}"/>
              </a:ext>
            </a:extLst>
          </p:cNvPr>
          <p:cNvSpPr>
            <a:spLocks noGrp="1"/>
          </p:cNvSpPr>
          <p:nvPr/>
        </p:nvSpPr>
        <p:spPr>
          <a:xfrm>
            <a:off x="4343400" y="4029075"/>
            <a:ext cx="51435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8DE71DCF-7DFC-4494-92E9-F24D56EB8F63}"/>
              </a:ext>
            </a:extLst>
          </p:cNvPr>
          <p:cNvSpPr>
            <a:spLocks noGrp="1"/>
          </p:cNvSpPr>
          <p:nvPr/>
        </p:nvSpPr>
        <p:spPr>
          <a:xfrm>
            <a:off x="4438650" y="4038600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C8CAD322-081A-4CF2-A790-240AE106FD78}"/>
              </a:ext>
            </a:extLst>
          </p:cNvPr>
          <p:cNvSpPr>
            <a:spLocks noGrp="1"/>
          </p:cNvSpPr>
          <p:nvPr/>
        </p:nvSpPr>
        <p:spPr>
          <a:xfrm>
            <a:off x="5029200" y="401002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Responsive</a:t>
            </a:r>
          </a:p>
        </p:txBody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79D7AE86-CEDD-4C7E-B368-62B93566B450}"/>
              </a:ext>
            </a:extLst>
          </p:cNvPr>
          <p:cNvSpPr>
            <a:spLocks noGrp="1"/>
          </p:cNvSpPr>
          <p:nvPr/>
        </p:nvSpPr>
        <p:spPr>
          <a:xfrm>
            <a:off x="5029200" y="4286250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grid desktop diringkas menjadi alur vertikal di ponsel</a:t>
            </a:r>
          </a:p>
        </p:txBody>
      </p:sp>
      <p:sp>
        <p:nvSpPr>
          <p:cNvPr id="24" name="Persegi Lengkung 23">
            <a:extLst>
              <a:ext uri="{FF2B5EF4-FFF2-40B4-BE49-F238E27FC236}">
                <a16:creationId xmlns:a16="http://schemas.microsoft.com/office/drawing/2014/main" id="{87FC79CE-2770-4380-909D-80EC8EE8927C}"/>
              </a:ext>
            </a:extLst>
          </p:cNvPr>
          <p:cNvSpPr>
            <a:spLocks noGrp="1"/>
          </p:cNvSpPr>
          <p:nvPr/>
        </p:nvSpPr>
        <p:spPr>
          <a:xfrm>
            <a:off x="4343400" y="4724400"/>
            <a:ext cx="51435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41883F69-1E1B-48C4-8343-AD7F916FAAB9}"/>
              </a:ext>
            </a:extLst>
          </p:cNvPr>
          <p:cNvSpPr>
            <a:spLocks noGrp="1"/>
          </p:cNvSpPr>
          <p:nvPr/>
        </p:nvSpPr>
        <p:spPr>
          <a:xfrm>
            <a:off x="4438650" y="4733925"/>
            <a:ext cx="3238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CF3173F0-548A-46A8-9C59-BDB8A486D9F1}"/>
              </a:ext>
            </a:extLst>
          </p:cNvPr>
          <p:cNvSpPr>
            <a:spLocks noGrp="1"/>
          </p:cNvSpPr>
          <p:nvPr/>
        </p:nvSpPr>
        <p:spPr>
          <a:xfrm>
            <a:off x="5029200" y="4705350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Aksesibilitas</a:t>
            </a:r>
          </a:p>
        </p:txBody>
      </p:sp>
      <p:sp>
        <p:nvSpPr>
          <p:cNvPr id="27" name="Persegi Panjang 26">
            <a:extLst>
              <a:ext uri="{FF2B5EF4-FFF2-40B4-BE49-F238E27FC236}">
                <a16:creationId xmlns:a16="http://schemas.microsoft.com/office/drawing/2014/main" id="{B7C24BF1-BC28-4BE8-B412-84A100BCE760}"/>
              </a:ext>
            </a:extLst>
          </p:cNvPr>
          <p:cNvSpPr>
            <a:spLocks noGrp="1"/>
          </p:cNvSpPr>
          <p:nvPr/>
        </p:nvSpPr>
        <p:spPr>
          <a:xfrm>
            <a:off x="5029200" y="498157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semantic HTML, label form, fokus keyboard, reduced motion</a:t>
            </a:r>
          </a:p>
        </p:txBody>
      </p:sp>
      <p:sp>
        <p:nvSpPr>
          <p:cNvPr id="28" name="Persegi Lengkung 27">
            <a:extLst>
              <a:ext uri="{FF2B5EF4-FFF2-40B4-BE49-F238E27FC236}">
                <a16:creationId xmlns:a16="http://schemas.microsoft.com/office/drawing/2014/main" id="{32F5C684-5EDC-4C45-84FA-4BAC2236DBE4}"/>
              </a:ext>
            </a:extLst>
          </p:cNvPr>
          <p:cNvSpPr>
            <a:spLocks noGrp="1"/>
          </p:cNvSpPr>
          <p:nvPr/>
        </p:nvSpPr>
        <p:spPr>
          <a:xfrm>
            <a:off x="4343400" y="5514975"/>
            <a:ext cx="6838950" cy="295275"/>
          </a:xfrm>
          <a:prstGeom prst="roundRect">
            <a:avLst>
              <a:gd name="adj" fmla="val 25806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40351274-C46E-429F-A177-B8F5D0C7ED91}"/>
              </a:ext>
            </a:extLst>
          </p:cNvPr>
          <p:cNvSpPr>
            <a:spLocks noGrp="1"/>
          </p:cNvSpPr>
          <p:nvPr/>
        </p:nvSpPr>
        <p:spPr>
          <a:xfrm>
            <a:off x="4476750" y="5534025"/>
            <a:ext cx="65722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tracking.html memuat JSON-LD Schema.org ParcelDelivery + DeliveryEvent</a:t>
            </a:r>
          </a:p>
        </p:txBody>
      </p:sp>
    </p:spTree>
    <p:extLst>
      <p:ext uri="{BB962C8B-B14F-4D97-AF65-F5344CB8AC3E}">
        <p14:creationId xmlns:p14="http://schemas.microsoft.com/office/powerpoint/2010/main" val="6624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192FAEB3-CE82-4578-A277-55EBBBA0B51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ERD MENGHUBUNGKAN STATUS, KONTEKS, DAN NARASI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A4CA2A97-609D-4737-BEBE-7FE835FB892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Bagaimana kebutuhan UI jadi model data?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58F30E48-E715-4AE9-8BD8-4560AC5E3A1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5C29E260-13E2-4BE7-AD1C-02AC1676FD3D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D472B1B5-DAFF-4A37-A2A8-098B2C86226F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pic>
        <p:nvPicPr>
          <p:cNvPr id="15" name="Gambar 14"/>
          <p:cNvPicPr>
            <a:picLocks noChangeAspect="1"/>
          </p:cNvPicPr>
          <p:nvPr/>
        </p:nvPicPr>
        <p:blipFill>
          <a:blip r:embed="rId3"/>
          <a:srcRect t="462" b="462"/>
          <a:stretch>
            <a:fillRect/>
          </a:stretch>
        </p:blipFill>
        <p:spPr>
          <a:xfrm>
            <a:off x="609600" y="1695450"/>
            <a:ext cx="4953000" cy="3067050"/>
          </a:xfrm>
          <a:prstGeom prst="roundRect">
            <a:avLst>
              <a:gd name="adj" fmla="val 5590"/>
            </a:avLst>
          </a:prstGeom>
        </p:spPr>
      </p:pic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B43F9A2D-962E-4D94-8437-D285ABDCF703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4953000" cy="952500"/>
          </a:xfrm>
          <a:prstGeom prst="roundRect">
            <a:avLst>
              <a:gd name="adj" fmla="val 8000"/>
            </a:avLst>
          </a:prstGeom>
          <a:solidFill>
            <a:srgbClr val="FCEAF3"/>
          </a:solidFill>
          <a:ln w="9525">
            <a:solidFill>
              <a:srgbClr val="F3D7E4"/>
            </a:solidFill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5C6EDB16-E144-469C-A973-63BEAA8681C6}"/>
              </a:ext>
            </a:extLst>
          </p:cNvPr>
          <p:cNvSpPr>
            <a:spLocks noGrp="1"/>
          </p:cNvSpPr>
          <p:nvPr/>
        </p:nvSpPr>
        <p:spPr>
          <a:xfrm>
            <a:off x="819150" y="5076825"/>
            <a:ext cx="45529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UI bertanya: status apa, di mana, kapan,</a:t>
            </a:r>
          </a:p>
          <a:p>
            <a:pPr algn="l">
              <a:defRPr sz="142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dan apakah ada kendala?</a:t>
            </a:r>
          </a:p>
        </p:txBody>
      </p:sp>
      <p:pic>
        <p:nvPicPr>
          <p:cNvPr id="18" name="Gambar 17"/>
          <p:cNvPicPr>
            <a:picLocks noChangeAspect="1"/>
          </p:cNvPicPr>
          <p:nvPr/>
        </p:nvPicPr>
        <p:blipFill>
          <a:blip r:embed="rId4"/>
          <a:srcRect l="2394" r="2394"/>
          <a:stretch>
            <a:fillRect/>
          </a:stretch>
        </p:blipFill>
        <p:spPr>
          <a:xfrm>
            <a:off x="5810250" y="1695450"/>
            <a:ext cx="5772150" cy="4210050"/>
          </a:xfrm>
          <a:prstGeom prst="roundRect">
            <a:avLst>
              <a:gd name="adj" fmla="val 4072"/>
            </a:avLst>
          </a:prstGeom>
        </p:spPr>
      </p:pic>
    </p:spTree>
    <p:extLst>
      <p:ext uri="{BB962C8B-B14F-4D97-AF65-F5344CB8AC3E}">
        <p14:creationId xmlns:p14="http://schemas.microsoft.com/office/powerpoint/2010/main" val="1703244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ersegi Panjang 30">
            <a:extLst>
              <a:ext uri="{FF2B5EF4-FFF2-40B4-BE49-F238E27FC236}">
                <a16:creationId xmlns:a16="http://schemas.microsoft.com/office/drawing/2014/main" id="{5DFA33FD-6B51-49A7-B58E-A2664F4408B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DATA RELASIONAL MENJAGA TAMPILAN KONSISTEN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9691658E-09E9-4D67-8DFD-11798C57C4E0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Tabel inti punya tugas yang berbeda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623DA4CC-3A4F-44D3-A430-F361205C1B78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068EA958-550D-4834-8EAB-B1BE65EC7B74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6181902B-7EEE-4F8C-ACC9-9964DFE371C0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2E26BADF-7663-455D-8318-FDEA22D14BF2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D6839360-00A1-41F8-92D0-1C0873C4A581}"/>
              </a:ext>
            </a:extLst>
          </p:cNvPr>
          <p:cNvSpPr>
            <a:spLocks noGrp="1"/>
          </p:cNvSpPr>
          <p:nvPr/>
        </p:nvSpPr>
        <p:spPr>
          <a:xfrm>
            <a:off x="800100" y="198120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C50070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FD851CBF-B81D-48A0-8D2A-67E569503CD7}"/>
              </a:ext>
            </a:extLst>
          </p:cNvPr>
          <p:cNvSpPr>
            <a:spLocks noGrp="1"/>
          </p:cNvSpPr>
          <p:nvPr/>
        </p:nvSpPr>
        <p:spPr>
          <a:xfrm>
            <a:off x="1066800" y="1962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BD324A61-5291-4C66-995A-442DC72427BA}"/>
              </a:ext>
            </a:extLst>
          </p:cNvPr>
          <p:cNvSpPr>
            <a:spLocks noGrp="1"/>
          </p:cNvSpPr>
          <p:nvPr/>
        </p:nvSpPr>
        <p:spPr>
          <a:xfrm>
            <a:off x="1066800" y="236220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identitas resi, status, dan ETA</a:t>
            </a:r>
          </a:p>
        </p:txBody>
      </p:sp>
      <p:sp>
        <p:nvSpPr>
          <p:cNvPr id="10" name="Persegi Lengkung 9">
            <a:extLst>
              <a:ext uri="{FF2B5EF4-FFF2-40B4-BE49-F238E27FC236}">
                <a16:creationId xmlns:a16="http://schemas.microsoft.com/office/drawing/2014/main" id="{EC779585-C8FA-4584-BF45-046EF6C363AF}"/>
              </a:ext>
            </a:extLst>
          </p:cNvPr>
          <p:cNvSpPr>
            <a:spLocks noGrp="1"/>
          </p:cNvSpPr>
          <p:nvPr/>
        </p:nvSpPr>
        <p:spPr>
          <a:xfrm>
            <a:off x="4286250" y="177165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1" name="Persegi Lengkung 10">
            <a:extLst>
              <a:ext uri="{FF2B5EF4-FFF2-40B4-BE49-F238E27FC236}">
                <a16:creationId xmlns:a16="http://schemas.microsoft.com/office/drawing/2014/main" id="{5BD284EA-629A-4B6C-AD6F-FFCC4C5A4F63}"/>
              </a:ext>
            </a:extLst>
          </p:cNvPr>
          <p:cNvSpPr>
            <a:spLocks noGrp="1"/>
          </p:cNvSpPr>
          <p:nvPr/>
        </p:nvSpPr>
        <p:spPr>
          <a:xfrm>
            <a:off x="4476750" y="198120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12A97B"/>
          </a:solidFill>
          <a:ln w="0">
            <a:noFill/>
          </a:ln>
        </p:spPr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8C7FEE76-14BD-4091-9256-BF7CE63A2FBB}"/>
              </a:ext>
            </a:extLst>
          </p:cNvPr>
          <p:cNvSpPr>
            <a:spLocks noGrp="1"/>
          </p:cNvSpPr>
          <p:nvPr/>
        </p:nvSpPr>
        <p:spPr>
          <a:xfrm>
            <a:off x="4743450" y="1962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order_items</a:t>
            </a:r>
          </a:p>
        </p:txBody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68CE1A17-FC8B-49CB-977A-9E7CAF3A43ED}"/>
              </a:ext>
            </a:extLst>
          </p:cNvPr>
          <p:cNvSpPr>
            <a:spLocks noGrp="1"/>
          </p:cNvSpPr>
          <p:nvPr/>
        </p:nvSpPr>
        <p:spPr>
          <a:xfrm>
            <a:off x="4743450" y="236220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barang, kuantitas, nilai, ongkir</a:t>
            </a:r>
          </a:p>
        </p:txBody>
      </p:sp>
      <p:sp>
        <p:nvSpPr>
          <p:cNvPr id="14" name="Persegi Lengkung 13">
            <a:extLst>
              <a:ext uri="{FF2B5EF4-FFF2-40B4-BE49-F238E27FC236}">
                <a16:creationId xmlns:a16="http://schemas.microsoft.com/office/drawing/2014/main" id="{758CCD0A-A180-43D5-84AD-2E0524462A3E}"/>
              </a:ext>
            </a:extLst>
          </p:cNvPr>
          <p:cNvSpPr>
            <a:spLocks noGrp="1"/>
          </p:cNvSpPr>
          <p:nvPr/>
        </p:nvSpPr>
        <p:spPr>
          <a:xfrm>
            <a:off x="7962900" y="177165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5" name="Persegi Lengkung 14">
            <a:extLst>
              <a:ext uri="{FF2B5EF4-FFF2-40B4-BE49-F238E27FC236}">
                <a16:creationId xmlns:a16="http://schemas.microsoft.com/office/drawing/2014/main" id="{6EAD768C-278A-4760-B54B-87C32473BDB3}"/>
              </a:ext>
            </a:extLst>
          </p:cNvPr>
          <p:cNvSpPr>
            <a:spLocks noGrp="1"/>
          </p:cNvSpPr>
          <p:nvPr/>
        </p:nvSpPr>
        <p:spPr>
          <a:xfrm>
            <a:off x="8153400" y="198120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8058E8"/>
          </a:solidFill>
          <a:ln w="0">
            <a:noFill/>
          </a:ln>
        </p:spPr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4A3F3BC6-FD43-46CB-AA19-D992E353C038}"/>
              </a:ext>
            </a:extLst>
          </p:cNvPr>
          <p:cNvSpPr>
            <a:spLocks noGrp="1"/>
          </p:cNvSpPr>
          <p:nvPr/>
        </p:nvSpPr>
        <p:spPr>
          <a:xfrm>
            <a:off x="8420100" y="1962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sellers / customers</a:t>
            </a:r>
          </a:p>
        </p:txBody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326885F7-2DFB-481C-BD0D-5CD82F203E8E}"/>
              </a:ext>
            </a:extLst>
          </p:cNvPr>
          <p:cNvSpPr>
            <a:spLocks noGrp="1"/>
          </p:cNvSpPr>
          <p:nvPr/>
        </p:nvSpPr>
        <p:spPr>
          <a:xfrm>
            <a:off x="8420100" y="236220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kota asal dan tujuan</a:t>
            </a:r>
          </a:p>
        </p:txBody>
      </p:sp>
      <p:sp>
        <p:nvSpPr>
          <p:cNvPr id="18" name="Persegi Lengkung 17">
            <a:extLst>
              <a:ext uri="{FF2B5EF4-FFF2-40B4-BE49-F238E27FC236}">
                <a16:creationId xmlns:a16="http://schemas.microsoft.com/office/drawing/2014/main" id="{5B946E5A-42D6-43AC-BCB8-5442B5F2A5C8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9" name="Persegi Lengkung 18">
            <a:extLst>
              <a:ext uri="{FF2B5EF4-FFF2-40B4-BE49-F238E27FC236}">
                <a16:creationId xmlns:a16="http://schemas.microsoft.com/office/drawing/2014/main" id="{1E1791EE-A4B0-4898-B298-0DBF2EFE27AA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E8A600"/>
          </a:solidFill>
          <a:ln w="0">
            <a:noFill/>
          </a:ln>
        </p:spPr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9C946511-00EA-4AB2-8912-82EC4CA0AE30}"/>
              </a:ext>
            </a:extLst>
          </p:cNvPr>
          <p:cNvSpPr>
            <a:spLocks noGrp="1"/>
          </p:cNvSpPr>
          <p:nvPr/>
        </p:nvSpPr>
        <p:spPr>
          <a:xfrm>
            <a:off x="1066800" y="37719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smart_logistics_context</a:t>
            </a:r>
          </a:p>
        </p:txBody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98606876-EA5F-435D-883E-7558093C1D1F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cuaca, trafik, alasan delay</a:t>
            </a:r>
          </a:p>
        </p:txBody>
      </p:sp>
      <p:sp>
        <p:nvSpPr>
          <p:cNvPr id="22" name="Persegi Lengkung 21">
            <a:extLst>
              <a:ext uri="{FF2B5EF4-FFF2-40B4-BE49-F238E27FC236}">
                <a16:creationId xmlns:a16="http://schemas.microsoft.com/office/drawing/2014/main" id="{24C29148-A0A2-49EF-AAB9-C76D50800CEE}"/>
              </a:ext>
            </a:extLst>
          </p:cNvPr>
          <p:cNvSpPr>
            <a:spLocks noGrp="1"/>
          </p:cNvSpPr>
          <p:nvPr/>
        </p:nvSpPr>
        <p:spPr>
          <a:xfrm>
            <a:off x="4286250" y="358140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3" name="Persegi Lengkung 22">
            <a:extLst>
              <a:ext uri="{FF2B5EF4-FFF2-40B4-BE49-F238E27FC236}">
                <a16:creationId xmlns:a16="http://schemas.microsoft.com/office/drawing/2014/main" id="{5088B24E-F85A-4482-A982-1296A39EF132}"/>
              </a:ext>
            </a:extLst>
          </p:cNvPr>
          <p:cNvSpPr>
            <a:spLocks noGrp="1"/>
          </p:cNvSpPr>
          <p:nvPr/>
        </p:nvSpPr>
        <p:spPr>
          <a:xfrm>
            <a:off x="4476750" y="379095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C50070"/>
          </a:solidFill>
          <a:ln w="0">
            <a:noFill/>
          </a:ln>
        </p:spPr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44E980EF-0F5E-4C80-8C88-9B327C3509D6}"/>
              </a:ext>
            </a:extLst>
          </p:cNvPr>
          <p:cNvSpPr>
            <a:spLocks noGrp="1"/>
          </p:cNvSpPr>
          <p:nvPr/>
        </p:nvSpPr>
        <p:spPr>
          <a:xfrm>
            <a:off x="4743450" y="37719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tracking_events</a:t>
            </a:r>
          </a:p>
        </p:txBody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844AB2B6-4673-47F9-906B-43F99C5E7560}"/>
              </a:ext>
            </a:extLst>
          </p:cNvPr>
          <p:cNvSpPr>
            <a:spLocks noGrp="1"/>
          </p:cNvSpPr>
          <p:nvPr/>
        </p:nvSpPr>
        <p:spPr>
          <a:xfrm>
            <a:off x="4743450" y="417195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timeline / milestone</a:t>
            </a:r>
          </a:p>
        </p:txBody>
      </p:sp>
      <p:sp>
        <p:nvSpPr>
          <p:cNvPr id="26" name="Persegi Lengkung 25">
            <a:extLst>
              <a:ext uri="{FF2B5EF4-FFF2-40B4-BE49-F238E27FC236}">
                <a16:creationId xmlns:a16="http://schemas.microsoft.com/office/drawing/2014/main" id="{593D94E4-7936-414F-A033-169EA570B285}"/>
              </a:ext>
            </a:extLst>
          </p:cNvPr>
          <p:cNvSpPr>
            <a:spLocks noGrp="1"/>
          </p:cNvSpPr>
          <p:nvPr/>
        </p:nvSpPr>
        <p:spPr>
          <a:xfrm>
            <a:off x="7962900" y="3581400"/>
            <a:ext cx="3429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7" name="Persegi Lengkung 26">
            <a:extLst>
              <a:ext uri="{FF2B5EF4-FFF2-40B4-BE49-F238E27FC236}">
                <a16:creationId xmlns:a16="http://schemas.microsoft.com/office/drawing/2014/main" id="{18749F63-D083-4897-8EB0-B600CAA2D261}"/>
              </a:ext>
            </a:extLst>
          </p:cNvPr>
          <p:cNvSpPr>
            <a:spLocks noGrp="1"/>
          </p:cNvSpPr>
          <p:nvPr/>
        </p:nvSpPr>
        <p:spPr>
          <a:xfrm>
            <a:off x="8153400" y="3790950"/>
            <a:ext cx="114300" cy="590550"/>
          </a:xfrm>
          <a:prstGeom prst="roundRect">
            <a:avLst>
              <a:gd name="adj" fmla="val 50000"/>
            </a:avLst>
          </a:prstGeom>
          <a:solidFill>
            <a:srgbClr val="20283A"/>
          </a:solidFill>
          <a:ln w="0">
            <a:noFill/>
          </a:ln>
        </p:spPr>
      </p:sp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04AE04D0-48CC-4741-AB37-B18E210D19AC}"/>
              </a:ext>
            </a:extLst>
          </p:cNvPr>
          <p:cNvSpPr>
            <a:spLocks noGrp="1"/>
          </p:cNvSpPr>
          <p:nvPr/>
        </p:nvSpPr>
        <p:spPr>
          <a:xfrm>
            <a:off x="8420100" y="377190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ai_narratives</a:t>
            </a:r>
          </a:p>
        </p:txBody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71621C4E-2433-443D-9A24-2110EB8BFE22}"/>
              </a:ext>
            </a:extLst>
          </p:cNvPr>
          <p:cNvSpPr>
            <a:spLocks noGrp="1"/>
          </p:cNvSpPr>
          <p:nvPr/>
        </p:nvSpPr>
        <p:spPr>
          <a:xfrm>
            <a:off x="8420100" y="4171950"/>
            <a:ext cx="27241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narasi, fallback, waktu dibuat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A87095F3-5B12-411C-89AE-34AE6A412107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Join yang tepat membuat stepper, narasi, warning, dan ETA bercerita dari data yang sama.</a:t>
            </a:r>
          </a:p>
        </p:txBody>
      </p:sp>
    </p:spTree>
    <p:extLst>
      <p:ext uri="{BB962C8B-B14F-4D97-AF65-F5344CB8AC3E}">
        <p14:creationId xmlns:p14="http://schemas.microsoft.com/office/powerpoint/2010/main" val="1762788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39BC8DA7-0A43-4BF0-B723-1B6DD2B3179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DARI STRUKTUR HALAMAN KE INTERAKSI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EFB7CCD4-9746-400F-A79B-4B6BB88048E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Materi Front-End mana yang langsung terasa?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4AF3EB6F-F965-491D-A053-D54E64BD92F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5D41021F-9FB2-4A84-A63E-CC63FDA4D186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39C1658A-FEE6-4ED5-9196-B78A3B69BC8B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02046527-1BCF-478E-A721-E075C616CA7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B15680A9-E914-446B-83EF-5B77C53D8B63}"/>
              </a:ext>
            </a:extLst>
          </p:cNvPr>
          <p:cNvSpPr>
            <a:spLocks noGrp="1"/>
          </p:cNvSpPr>
          <p:nvPr/>
        </p:nvSpPr>
        <p:spPr>
          <a:xfrm>
            <a:off x="819150" y="194310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DAD39E26-975C-44A8-9F3C-541B39C921C5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W2D1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38D37099-E387-4BF4-8C17-29B69B888766}"/>
              </a:ext>
            </a:extLst>
          </p:cNvPr>
          <p:cNvSpPr>
            <a:spLocks noGrp="1"/>
          </p:cNvSpPr>
          <p:nvPr/>
        </p:nvSpPr>
        <p:spPr>
          <a:xfrm>
            <a:off x="1885950" y="1857375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HTML semantik • CSS • grid/responsif • JSON-LD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377019F6-1792-4D32-9522-6D733E3A9D5B}"/>
              </a:ext>
            </a:extLst>
          </p:cNvPr>
          <p:cNvSpPr>
            <a:spLocks noGrp="1"/>
          </p:cNvSpPr>
          <p:nvPr/>
        </p:nvSpPr>
        <p:spPr>
          <a:xfrm>
            <a:off x="1885950" y="2228850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Prototype punya 13 halaman, breakpoint, dan ParcelDelivery JSON-LD.</a:t>
            </a:r>
          </a:p>
        </p:txBody>
      </p:sp>
      <p:sp>
        <p:nvSpPr>
          <p:cNvPr id="11" name="Persegi Lengkung 10">
            <a:extLst>
              <a:ext uri="{FF2B5EF4-FFF2-40B4-BE49-F238E27FC236}">
                <a16:creationId xmlns:a16="http://schemas.microsoft.com/office/drawing/2014/main" id="{E56B063C-3515-460D-B77D-D06F50AAD37E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2" name="Persegi Lengkung 11">
            <a:extLst>
              <a:ext uri="{FF2B5EF4-FFF2-40B4-BE49-F238E27FC236}">
                <a16:creationId xmlns:a16="http://schemas.microsoft.com/office/drawing/2014/main" id="{2586D625-67F1-4C6C-B8CB-F81C50FB26B7}"/>
              </a:ext>
            </a:extLst>
          </p:cNvPr>
          <p:cNvSpPr>
            <a:spLocks noGrp="1"/>
          </p:cNvSpPr>
          <p:nvPr/>
        </p:nvSpPr>
        <p:spPr>
          <a:xfrm>
            <a:off x="819150" y="3248025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8F3B4280-563E-48D1-9E9F-A0F6B7D45AEE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W2D2</a:t>
            </a: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522BC630-3349-4567-9545-9E0957FC9777}"/>
              </a:ext>
            </a:extLst>
          </p:cNvPr>
          <p:cNvSpPr>
            <a:spLocks noGrp="1"/>
          </p:cNvSpPr>
          <p:nvPr/>
        </p:nvSpPr>
        <p:spPr>
          <a:xfrm>
            <a:off x="1885950" y="3162300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JavaScript • DOM/event • validasi • data async</a:t>
            </a:r>
          </a:p>
        </p:txBody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28030601-BC20-40AF-8D35-C5E0838BA8BF}"/>
              </a:ext>
            </a:extLst>
          </p:cNvPr>
          <p:cNvSpPr>
            <a:spLocks noGrp="1"/>
          </p:cNvSpPr>
          <p:nvPr/>
        </p:nvSpPr>
        <p:spPr>
          <a:xfrm>
            <a:off x="1885950" y="3533775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Demo resi berpindah ke fixture state lokal; belum API async.</a:t>
            </a:r>
          </a:p>
        </p:txBody>
      </p:sp>
      <p:sp>
        <p:nvSpPr>
          <p:cNvPr id="16" name="Persegi Lengkung 15">
            <a:extLst>
              <a:ext uri="{FF2B5EF4-FFF2-40B4-BE49-F238E27FC236}">
                <a16:creationId xmlns:a16="http://schemas.microsoft.com/office/drawing/2014/main" id="{861C7507-222F-43A9-B72A-FA19B4CB0D6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109728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7" name="Persegi Lengkung 16">
            <a:extLst>
              <a:ext uri="{FF2B5EF4-FFF2-40B4-BE49-F238E27FC236}">
                <a16:creationId xmlns:a16="http://schemas.microsoft.com/office/drawing/2014/main" id="{D29BD7D1-A223-4F3B-9EF1-231DF976B512}"/>
              </a:ext>
            </a:extLst>
          </p:cNvPr>
          <p:cNvSpPr>
            <a:spLocks noGrp="1"/>
          </p:cNvSpPr>
          <p:nvPr/>
        </p:nvSpPr>
        <p:spPr>
          <a:xfrm>
            <a:off x="819150" y="455295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58A9BFB4-989F-4E0B-B51C-868134C35346}"/>
              </a:ext>
            </a:extLst>
          </p:cNvPr>
          <p:cNvSpPr>
            <a:spLocks noGrp="1"/>
          </p:cNvSpPr>
          <p:nvPr/>
        </p:nvSpPr>
        <p:spPr>
          <a:xfrm>
            <a:off x="914400" y="4562475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519" lnSpcReduction="20000"/>
          </a:bodyPr>
          <a:lstStyle/>
          <a:p>
            <a:pPr algn="l">
              <a:defRPr sz="9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Hasil belajar</a:t>
            </a:r>
          </a:p>
        </p:txBody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C31D4977-F41F-4529-A873-D96368348C5C}"/>
              </a:ext>
            </a:extLst>
          </p:cNvPr>
          <p:cNvSpPr>
            <a:spLocks noGrp="1"/>
          </p:cNvSpPr>
          <p:nvPr/>
        </p:nvSpPr>
        <p:spPr>
          <a:xfrm>
            <a:off x="1885950" y="4467225"/>
            <a:ext cx="923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825"/>
          </a:bodyPr>
          <a:lstStyle/>
          <a:p>
            <a:pPr algn="l">
              <a:defRPr sz="15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Mulai dari struktur dan alur yang bisa diuji</a:t>
            </a:r>
          </a:p>
        </p:txBody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05C67570-67B9-4147-A5E8-A82C8CE34F32}"/>
              </a:ext>
            </a:extLst>
          </p:cNvPr>
          <p:cNvSpPr>
            <a:spLocks noGrp="1"/>
          </p:cNvSpPr>
          <p:nvPr/>
        </p:nvSpPr>
        <p:spPr>
          <a:xfrm>
            <a:off x="1885950" y="4838700"/>
            <a:ext cx="9239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Satu halaman = satu state; tombol dan navigasi saling terhubung.</a:t>
            </a:r>
          </a:p>
        </p:txBody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8EE9146E-C773-425A-A5C3-104F29383C0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Yang dipinjam dari modul: bukan sekadar sintaks, tetapi pola validasi, state, dan responsivitas.</a:t>
            </a:r>
          </a:p>
        </p:txBody>
      </p:sp>
    </p:spTree>
    <p:extLst>
      <p:ext uri="{BB962C8B-B14F-4D97-AF65-F5344CB8AC3E}">
        <p14:creationId xmlns:p14="http://schemas.microsoft.com/office/powerpoint/2010/main" val="109062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ersegi Panjang 36">
            <a:extLst>
              <a:ext uri="{FF2B5EF4-FFF2-40B4-BE49-F238E27FC236}">
                <a16:creationId xmlns:a16="http://schemas.microsoft.com/office/drawing/2014/main" id="{85D041D6-0D8F-422A-9A93-54C4D087A42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PROTOTYPE JADI PETA MIGRASI, BUKAN KLAIM IMPLEMENTASI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4F600095-1C9E-46DD-97CA-3E460B25A80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Ke mana materi React dan hooks mengarah?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91B22CC0-FF92-4745-A501-0C62DA9C22E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58CA5E37-2C0E-46CF-B3D9-C127A6A05CA1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D3E1E019-0B0A-4380-A846-26ADFFACF994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2EF5045B-FBF9-48C9-8A9B-58D1D967C8A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9149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67B53674-D0B0-4B95-90A1-57FE43072B01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1952625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9752060A-0684-4585-BE4C-29BEC8170913}"/>
              </a:ext>
            </a:extLst>
          </p:cNvPr>
          <p:cNvSpPr>
            <a:spLocks noGrp="1"/>
          </p:cNvSpPr>
          <p:nvPr/>
        </p:nvSpPr>
        <p:spPr>
          <a:xfrm>
            <a:off x="933450" y="1933575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PROTOTYPE SEKARANG</a:t>
            </a:r>
          </a:p>
        </p:txBody>
      </p:sp>
      <p:sp>
        <p:nvSpPr>
          <p:cNvPr id="9" name="Persegi Lengkung 8">
            <a:extLst>
              <a:ext uri="{FF2B5EF4-FFF2-40B4-BE49-F238E27FC236}">
                <a16:creationId xmlns:a16="http://schemas.microsoft.com/office/drawing/2014/main" id="{92349B09-B469-4FEA-8EBC-95A37EB07084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4419600" cy="390525"/>
          </a:xfrm>
          <a:prstGeom prst="roundRect">
            <a:avLst>
              <a:gd name="adj" fmla="val 19512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425EAA02-65E7-43D6-BAF3-AE32CCA709E1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CF274AF2-2852-4C99-8F6A-766BBED829DE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2533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navigasi global</a:t>
            </a:r>
          </a:p>
        </p:txBody>
      </p:sp>
      <p:sp>
        <p:nvSpPr>
          <p:cNvPr id="12" name="Persegi Lengkung 11">
            <a:extLst>
              <a:ext uri="{FF2B5EF4-FFF2-40B4-BE49-F238E27FC236}">
                <a16:creationId xmlns:a16="http://schemas.microsoft.com/office/drawing/2014/main" id="{054D9C50-99D3-4FF0-A30B-6747B214501D}"/>
              </a:ext>
            </a:extLst>
          </p:cNvPr>
          <p:cNvSpPr>
            <a:spLocks noGrp="1"/>
          </p:cNvSpPr>
          <p:nvPr/>
        </p:nvSpPr>
        <p:spPr>
          <a:xfrm>
            <a:off x="838200" y="2924175"/>
            <a:ext cx="4419600" cy="390525"/>
          </a:xfrm>
          <a:prstGeom prst="roundRect">
            <a:avLst>
              <a:gd name="adj" fmla="val 19512"/>
            </a:avLst>
          </a:prstGeom>
          <a:solidFill>
            <a:srgbClr val="F3EEF0"/>
          </a:solidFill>
          <a:ln w="0">
            <a:noFill/>
          </a:ln>
        </p:spPr>
      </p:sp>
      <p:sp>
        <p:nvSpPr>
          <p:cNvPr id="13" name="Persegi Panjang 12">
            <a:extLst>
              <a:ext uri="{FF2B5EF4-FFF2-40B4-BE49-F238E27FC236}">
                <a16:creationId xmlns:a16="http://schemas.microsoft.com/office/drawing/2014/main" id="{2126C907-A34C-42CE-8092-9D13215D7E98}"/>
              </a:ext>
            </a:extLst>
          </p:cNvPr>
          <p:cNvSpPr>
            <a:spLocks noGrp="1"/>
          </p:cNvSpPr>
          <p:nvPr/>
        </p:nvSpPr>
        <p:spPr>
          <a:xfrm>
            <a:off x="971550" y="29527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1CFA3BB3-C245-45B5-A637-1FF93EDF3D6B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2533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input + validasi</a:t>
            </a:r>
          </a:p>
        </p:txBody>
      </p:sp>
      <p:sp>
        <p:nvSpPr>
          <p:cNvPr id="15" name="Persegi Lengkung 14">
            <a:extLst>
              <a:ext uri="{FF2B5EF4-FFF2-40B4-BE49-F238E27FC236}">
                <a16:creationId xmlns:a16="http://schemas.microsoft.com/office/drawing/2014/main" id="{66C02D1D-0F73-4B01-935D-F080CEDADDD0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4419600" cy="390525"/>
          </a:xfrm>
          <a:prstGeom prst="roundRect">
            <a:avLst>
              <a:gd name="adj" fmla="val 19512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085B15C2-E458-4354-8FDA-7C70C3772077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Stepper</a:t>
            </a:r>
          </a:p>
        </p:txBody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43B1041F-5A83-42F2-9A25-068BC42E562C}"/>
              </a:ext>
            </a:extLst>
          </p:cNvPr>
          <p:cNvSpPr>
            <a:spLocks noGrp="1"/>
          </p:cNvSpPr>
          <p:nvPr/>
        </p:nvSpPr>
        <p:spPr>
          <a:xfrm>
            <a:off x="2571750" y="3476625"/>
            <a:ext cx="2533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status 4 tahap</a:t>
            </a:r>
          </a:p>
        </p:txBody>
      </p:sp>
      <p:sp>
        <p:nvSpPr>
          <p:cNvPr id="18" name="Persegi Lengkung 17">
            <a:extLst>
              <a:ext uri="{FF2B5EF4-FFF2-40B4-BE49-F238E27FC236}">
                <a16:creationId xmlns:a16="http://schemas.microsoft.com/office/drawing/2014/main" id="{C0140086-6F25-4537-9C38-CA8A78841881}"/>
              </a:ext>
            </a:extLst>
          </p:cNvPr>
          <p:cNvSpPr>
            <a:spLocks noGrp="1"/>
          </p:cNvSpPr>
          <p:nvPr/>
        </p:nvSpPr>
        <p:spPr>
          <a:xfrm>
            <a:off x="838200" y="3971925"/>
            <a:ext cx="4419600" cy="390525"/>
          </a:xfrm>
          <a:prstGeom prst="roundRect">
            <a:avLst>
              <a:gd name="adj" fmla="val 19512"/>
            </a:avLst>
          </a:prstGeom>
          <a:solidFill>
            <a:srgbClr val="F3EEF0"/>
          </a:solidFill>
          <a:ln w="0">
            <a:noFill/>
          </a:ln>
        </p:spPr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281EED75-F7FF-4601-A8A4-178F60FAD811}"/>
              </a:ext>
            </a:extLst>
          </p:cNvPr>
          <p:cNvSpPr>
            <a:spLocks noGrp="1"/>
          </p:cNvSpPr>
          <p:nvPr/>
        </p:nvSpPr>
        <p:spPr>
          <a:xfrm>
            <a:off x="971550" y="400050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Narrative</a:t>
            </a:r>
          </a:p>
        </p:txBody>
      </p:sp>
      <p:sp>
        <p:nvSpPr>
          <p:cNvPr id="20" name="Persegi Panjang 19">
            <a:extLst>
              <a:ext uri="{FF2B5EF4-FFF2-40B4-BE49-F238E27FC236}">
                <a16:creationId xmlns:a16="http://schemas.microsoft.com/office/drawing/2014/main" id="{E5EDA60B-34E9-4EE0-815C-287D309FB02F}"/>
              </a:ext>
            </a:extLst>
          </p:cNvPr>
          <p:cNvSpPr>
            <a:spLocks noGrp="1"/>
          </p:cNvSpPr>
          <p:nvPr/>
        </p:nvSpPr>
        <p:spPr>
          <a:xfrm>
            <a:off x="2571750" y="4000500"/>
            <a:ext cx="2533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AI / fallback</a:t>
            </a:r>
          </a:p>
        </p:txBody>
      </p:sp>
      <p:sp>
        <p:nvSpPr>
          <p:cNvPr id="21" name="Persegi Lengkung 20">
            <a:extLst>
              <a:ext uri="{FF2B5EF4-FFF2-40B4-BE49-F238E27FC236}">
                <a16:creationId xmlns:a16="http://schemas.microsoft.com/office/drawing/2014/main" id="{6B719BE8-5D6C-4409-A75D-71C988B7F65C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4419600" cy="390525"/>
          </a:xfrm>
          <a:prstGeom prst="roundRect">
            <a:avLst>
              <a:gd name="adj" fmla="val 19512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56B06427-F5FC-4E84-A254-580F14F7CA56}"/>
              </a:ext>
            </a:extLst>
          </p:cNvPr>
          <p:cNvSpPr>
            <a:spLocks noGrp="1"/>
          </p:cNvSpPr>
          <p:nvPr/>
        </p:nvSpPr>
        <p:spPr>
          <a:xfrm>
            <a:off x="971550" y="4524375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Warning + ETA</a:t>
            </a:r>
          </a:p>
        </p:txBody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BCC9EEF8-05C7-437F-96DA-B6168EB84E2F}"/>
              </a:ext>
            </a:extLst>
          </p:cNvPr>
          <p:cNvSpPr>
            <a:spLocks noGrp="1"/>
          </p:cNvSpPr>
          <p:nvPr/>
        </p:nvSpPr>
        <p:spPr>
          <a:xfrm>
            <a:off x="2571750" y="4524375"/>
            <a:ext cx="2533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exception state</a:t>
            </a:r>
          </a:p>
        </p:txBody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CA9C76C6-158A-4720-8620-4AF9DABCF785}"/>
              </a:ext>
            </a:extLst>
          </p:cNvPr>
          <p:cNvSpPr>
            <a:spLocks noGrp="1"/>
          </p:cNvSpPr>
          <p:nvPr/>
        </p:nvSpPr>
        <p:spPr>
          <a:xfrm>
            <a:off x="5676900" y="3190875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ctr">
              <a:defRPr sz="3600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Persegi Lengkung 24">
            <a:extLst>
              <a:ext uri="{FF2B5EF4-FFF2-40B4-BE49-F238E27FC236}">
                <a16:creationId xmlns:a16="http://schemas.microsoft.com/office/drawing/2014/main" id="{3B9C2DBB-36DE-40BD-A104-D1157BF1B193}"/>
              </a:ext>
            </a:extLst>
          </p:cNvPr>
          <p:cNvSpPr>
            <a:spLocks noGrp="1"/>
          </p:cNvSpPr>
          <p:nvPr/>
        </p:nvSpPr>
        <p:spPr>
          <a:xfrm>
            <a:off x="6534150" y="1714500"/>
            <a:ext cx="5048250" cy="3848100"/>
          </a:xfrm>
          <a:prstGeom prst="roundRect">
            <a:avLst>
              <a:gd name="adj" fmla="val 1980"/>
            </a:avLst>
          </a:prstGeom>
          <a:solidFill>
            <a:srgbClr val="20283A"/>
          </a:solidFill>
          <a:ln w="9525">
            <a:solidFill>
              <a:srgbClr val="20283A"/>
            </a:solidFill>
          </a:ln>
        </p:spPr>
      </p:sp>
      <p:sp>
        <p:nvSpPr>
          <p:cNvPr id="26" name="Persegi Lengkung 25">
            <a:extLst>
              <a:ext uri="{FF2B5EF4-FFF2-40B4-BE49-F238E27FC236}">
                <a16:creationId xmlns:a16="http://schemas.microsoft.com/office/drawing/2014/main" id="{ECBE4C5D-5F5A-4EA6-8741-0EB4D59E962F}"/>
              </a:ext>
            </a:extLst>
          </p:cNvPr>
          <p:cNvSpPr>
            <a:spLocks noGrp="1"/>
          </p:cNvSpPr>
          <p:nvPr/>
        </p:nvSpPr>
        <p:spPr>
          <a:xfrm>
            <a:off x="6762750" y="1924050"/>
            <a:ext cx="1809750" cy="266700"/>
          </a:xfrm>
          <a:prstGeom prst="roundRect">
            <a:avLst>
              <a:gd name="adj" fmla="val 28571"/>
            </a:avLst>
          </a:prstGeom>
          <a:solidFill>
            <a:srgbClr val="434A5C"/>
          </a:solidFill>
          <a:ln w="0">
            <a:noFill/>
          </a:ln>
        </p:spPr>
      </p:sp>
      <p:sp>
        <p:nvSpPr>
          <p:cNvPr id="27" name="Persegi Panjang 26">
            <a:extLst>
              <a:ext uri="{FF2B5EF4-FFF2-40B4-BE49-F238E27FC236}">
                <a16:creationId xmlns:a16="http://schemas.microsoft.com/office/drawing/2014/main" id="{E1918B87-5260-49F3-BE82-3F6FA27E7890}"/>
              </a:ext>
            </a:extLst>
          </p:cNvPr>
          <p:cNvSpPr>
            <a:spLocks noGrp="1"/>
          </p:cNvSpPr>
          <p:nvPr/>
        </p:nvSpPr>
        <p:spPr>
          <a:xfrm>
            <a:off x="6858000" y="1933575"/>
            <a:ext cx="1619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PORTING KE REACT</a:t>
            </a:r>
          </a:p>
        </p:txBody>
      </p:sp>
      <p:sp>
        <p:nvSpPr>
          <p:cNvPr id="28" name="Persegi Panjang 27">
            <a:extLst>
              <a:ext uri="{FF2B5EF4-FFF2-40B4-BE49-F238E27FC236}">
                <a16:creationId xmlns:a16="http://schemas.microsoft.com/office/drawing/2014/main" id="{596DAB1E-D368-417A-94E9-9FEF999F36EC}"/>
              </a:ext>
            </a:extLst>
          </p:cNvPr>
          <p:cNvSpPr>
            <a:spLocks noGrp="1"/>
          </p:cNvSpPr>
          <p:nvPr/>
        </p:nvSpPr>
        <p:spPr>
          <a:xfrm>
            <a:off x="6781800" y="245745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 + props</a:t>
            </a:r>
          </a:p>
        </p:txBody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CFFC6ED3-D13F-49AE-81AE-B675E7E8B8FA}"/>
              </a:ext>
            </a:extLst>
          </p:cNvPr>
          <p:cNvSpPr>
            <a:spLocks noGrp="1"/>
          </p:cNvSpPr>
          <p:nvPr/>
        </p:nvSpPr>
        <p:spPr>
          <a:xfrm>
            <a:off x="6781800" y="2724150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0">
                <a:solidFill>
                  <a:srgbClr val="C8C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7D0"/>
                </a:solidFill>
                <a:latin typeface="Arial"/>
                <a:ea typeface="Arial"/>
                <a:cs typeface="Arial"/>
              </a:rPr>
              <a:t>bagikan komponen antar state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E7902BF3-3DC2-43DD-852E-33B4B7A4BD0B}"/>
              </a:ext>
            </a:extLst>
          </p:cNvPr>
          <p:cNvSpPr>
            <a:spLocks noGrp="1"/>
          </p:cNvSpPr>
          <p:nvPr/>
        </p:nvSpPr>
        <p:spPr>
          <a:xfrm>
            <a:off x="6781800" y="31337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useState + events</a:t>
            </a:r>
          </a:p>
        </p:txBody>
      </p:sp>
      <p:sp>
        <p:nvSpPr>
          <p:cNvPr id="31" name="Persegi Panjang 30">
            <a:extLst>
              <a:ext uri="{FF2B5EF4-FFF2-40B4-BE49-F238E27FC236}">
                <a16:creationId xmlns:a16="http://schemas.microsoft.com/office/drawing/2014/main" id="{BE7F7BCE-60F9-48FC-BA5A-601B9B2FC86B}"/>
              </a:ext>
            </a:extLst>
          </p:cNvPr>
          <p:cNvSpPr>
            <a:spLocks noGrp="1"/>
          </p:cNvSpPr>
          <p:nvPr/>
        </p:nvSpPr>
        <p:spPr>
          <a:xfrm>
            <a:off x="6781800" y="3400425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0">
                <a:solidFill>
                  <a:srgbClr val="C8C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7D0"/>
                </a:solidFill>
                <a:latin typeface="Arial"/>
                <a:ea typeface="Arial"/>
                <a:cs typeface="Arial"/>
              </a:rPr>
              <a:t>form dan state interaktif</a:t>
            </a:r>
          </a:p>
        </p:txBody>
      </p:sp>
      <p:sp>
        <p:nvSpPr>
          <p:cNvPr id="32" name="Persegi Panjang 31">
            <a:extLst>
              <a:ext uri="{FF2B5EF4-FFF2-40B4-BE49-F238E27FC236}">
                <a16:creationId xmlns:a16="http://schemas.microsoft.com/office/drawing/2014/main" id="{8D471969-80E3-41E6-940D-853D458AA984}"/>
              </a:ext>
            </a:extLst>
          </p:cNvPr>
          <p:cNvSpPr>
            <a:spLocks noGrp="1"/>
          </p:cNvSpPr>
          <p:nvPr/>
        </p:nvSpPr>
        <p:spPr>
          <a:xfrm>
            <a:off x="6781800" y="381000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useEffect + API</a:t>
            </a:r>
          </a:p>
        </p:txBody>
      </p:sp>
      <p:sp>
        <p:nvSpPr>
          <p:cNvPr id="33" name="Persegi Panjang 32">
            <a:extLst>
              <a:ext uri="{FF2B5EF4-FFF2-40B4-BE49-F238E27FC236}">
                <a16:creationId xmlns:a16="http://schemas.microsoft.com/office/drawing/2014/main" id="{6F2D3A34-61AF-466D-8A2F-877D5A834B5C}"/>
              </a:ext>
            </a:extLst>
          </p:cNvPr>
          <p:cNvSpPr>
            <a:spLocks noGrp="1"/>
          </p:cNvSpPr>
          <p:nvPr/>
        </p:nvSpPr>
        <p:spPr>
          <a:xfrm>
            <a:off x="6781800" y="4076700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0">
                <a:solidFill>
                  <a:srgbClr val="C8C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7D0"/>
                </a:solidFill>
                <a:latin typeface="Arial"/>
                <a:ea typeface="Arial"/>
                <a:cs typeface="Arial"/>
              </a:rPr>
              <a:t>fetch tracking &amp; lifecycle</a:t>
            </a:r>
          </a:p>
        </p:txBody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2AABC16C-F5D2-4A4D-B4CA-E806D36BD090}"/>
              </a:ext>
            </a:extLst>
          </p:cNvPr>
          <p:cNvSpPr>
            <a:spLocks noGrp="1"/>
          </p:cNvSpPr>
          <p:nvPr/>
        </p:nvSpPr>
        <p:spPr>
          <a:xfrm>
            <a:off x="6781800" y="448627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/ hooks</a:t>
            </a:r>
          </a:p>
        </p:txBody>
      </p:sp>
      <p:sp>
        <p:nvSpPr>
          <p:cNvPr id="35" name="Persegi Panjang 34">
            <a:extLst>
              <a:ext uri="{FF2B5EF4-FFF2-40B4-BE49-F238E27FC236}">
                <a16:creationId xmlns:a16="http://schemas.microsoft.com/office/drawing/2014/main" id="{9FFD8289-4A5C-40FF-BADA-6F2296654354}"/>
              </a:ext>
            </a:extLst>
          </p:cNvPr>
          <p:cNvSpPr>
            <a:spLocks noGrp="1"/>
          </p:cNvSpPr>
          <p:nvPr/>
        </p:nvSpPr>
        <p:spPr>
          <a:xfrm>
            <a:off x="6781800" y="4752975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0">
                <a:solidFill>
                  <a:srgbClr val="C8C7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C7D0"/>
                </a:solidFill>
                <a:latin typeface="Arial"/>
                <a:ea typeface="Arial"/>
                <a:cs typeface="Arial"/>
              </a:rPr>
              <a:t>state lintas komponen dan reuse</a:t>
            </a:r>
          </a:p>
        </p:txBody>
      </p:sp>
      <p:sp>
        <p:nvSpPr>
          <p:cNvPr id="36" name="Persegi Panjang 35">
            <a:extLst>
              <a:ext uri="{FF2B5EF4-FFF2-40B4-BE49-F238E27FC236}">
                <a16:creationId xmlns:a16="http://schemas.microsoft.com/office/drawing/2014/main" id="{855E94B5-EE4F-4B96-990E-F41CFD2988C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algn="ctr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Langkah berikutnya: ganti fixture lokal dengan API sambil pertahankan komponen dan state UI.</a:t>
            </a:r>
          </a:p>
        </p:txBody>
      </p:sp>
    </p:spTree>
    <p:extLst>
      <p:ext uri="{BB962C8B-B14F-4D97-AF65-F5344CB8AC3E}">
        <p14:creationId xmlns:p14="http://schemas.microsoft.com/office/powerpoint/2010/main" val="36707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ersegi Panjang 37">
            <a:extLst>
              <a:ext uri="{FF2B5EF4-FFF2-40B4-BE49-F238E27FC236}">
                <a16:creationId xmlns:a16="http://schemas.microsoft.com/office/drawing/2014/main" id="{5FB132D1-B1CB-4908-8662-A6FBC772E96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HOW • KONTEKS KERJA + JEJAK PERUBAHAN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B7267F5C-F670-455C-9803-D2EA13029190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Bagaimana tools dan Git menjaga prosesnya?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E9A6DD5C-8883-410C-858F-C0CE4D2AA50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EC9798DA-8F16-4096-84EB-6036F2BCD359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832D3D8E-7E0D-4E6A-B845-E32A690AE755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81600A3C-B2E6-4187-9ADD-681C1280B26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19700" cy="37338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C34D026D-6B97-4E5D-BB63-B47384FA8AA9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343150" cy="266700"/>
          </a:xfrm>
          <a:prstGeom prst="roundRect">
            <a:avLst>
              <a:gd name="adj" fmla="val 28571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A4A87DD1-901A-42E2-A9D5-B3B761DD0A24}"/>
              </a:ext>
            </a:extLst>
          </p:cNvPr>
          <p:cNvSpPr>
            <a:spLocks noGrp="1"/>
          </p:cNvSpPr>
          <p:nvPr/>
        </p:nvSpPr>
        <p:spPr>
          <a:xfrm>
            <a:off x="933450" y="1971675"/>
            <a:ext cx="2152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MCP • KONTEKS DALAM IDE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50BB856A-386F-41D3-BA3C-0DD2BA97DADF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4476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Bukan prompt kosong.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3808B9C5-895A-4603-8808-1B33A999C5E6}"/>
              </a:ext>
            </a:extLst>
          </p:cNvPr>
          <p:cNvSpPr>
            <a:spLocks noGrp="1"/>
          </p:cNvSpPr>
          <p:nvPr/>
        </p:nvSpPr>
        <p:spPr>
          <a:xfrm>
            <a:off x="838200" y="296227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Konteks repo membantu menghubungkan: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D20E3C-A852-415E-A1D9-7C8C4D5E86E8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85725" cy="85725"/>
          </a:xfrm>
          <a:prstGeom prst="ellipse">
            <a:avLst/>
          </a:prstGeom>
          <a:solidFill>
            <a:srgbClr val="8058E8"/>
          </a:solidFill>
          <a:ln w="0">
            <a:noFill/>
          </a:ln>
        </p:spPr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3B64FAF4-36CD-40F1-BEC0-04A77DC1F6DB}"/>
              </a:ext>
            </a:extLst>
          </p:cNvPr>
          <p:cNvSpPr>
            <a:spLocks noGrp="1"/>
          </p:cNvSpPr>
          <p:nvPr/>
        </p:nvSpPr>
        <p:spPr>
          <a:xfrm>
            <a:off x="1047750" y="3343275"/>
            <a:ext cx="43815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PRD + FRD sebagai sumber kebutuhan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BB9CE4-2902-4C5D-865A-B450870FCA75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85725" cy="85725"/>
          </a:xfrm>
          <a:prstGeom prst="ellipse">
            <a:avLst/>
          </a:prstGeom>
          <a:solidFill>
            <a:srgbClr val="8058E8"/>
          </a:solidFill>
          <a:ln w="0">
            <a:noFill/>
          </a:ln>
        </p:spPr>
      </p:sp>
      <p:sp>
        <p:nvSpPr>
          <p:cNvPr id="14" name="Persegi Panjang 13">
            <a:extLst>
              <a:ext uri="{FF2B5EF4-FFF2-40B4-BE49-F238E27FC236}">
                <a16:creationId xmlns:a16="http://schemas.microsoft.com/office/drawing/2014/main" id="{DC93A057-1767-457A-B87D-09DA40A137B4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43815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Flow map sebagai alur yang harus diikuti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3700F93-F880-48BA-83FB-28FCF4478CEF}"/>
              </a:ext>
            </a:extLst>
          </p:cNvPr>
          <p:cNvSpPr>
            <a:spLocks noGrp="1"/>
          </p:cNvSpPr>
          <p:nvPr/>
        </p:nvSpPr>
        <p:spPr>
          <a:xfrm>
            <a:off x="857250" y="4295775"/>
            <a:ext cx="85725" cy="85725"/>
          </a:xfrm>
          <a:prstGeom prst="ellipse">
            <a:avLst/>
          </a:prstGeom>
          <a:solidFill>
            <a:srgbClr val="8058E8"/>
          </a:solidFill>
          <a:ln w="0">
            <a:noFill/>
          </a:ln>
        </p:spPr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888D1AAB-DCB3-4911-B4A7-954F5F942047}"/>
              </a:ext>
            </a:extLst>
          </p:cNvPr>
          <p:cNvSpPr>
            <a:spLocks noGrp="1"/>
          </p:cNvSpPr>
          <p:nvPr/>
        </p:nvSpPr>
        <p:spPr>
          <a:xfrm>
            <a:off x="1047750" y="4162425"/>
            <a:ext cx="43815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File prototype sebagai implementasi yang ditinjau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61C385-5646-4060-967F-AE0B79D7A322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85725" cy="85725"/>
          </a:xfrm>
          <a:prstGeom prst="ellipse">
            <a:avLst/>
          </a:prstGeom>
          <a:solidFill>
            <a:srgbClr val="8058E8"/>
          </a:solidFill>
          <a:ln w="0">
            <a:noFill/>
          </a:ln>
        </p:spPr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961CF9E3-4986-4ACD-8B09-10C625939269}"/>
              </a:ext>
            </a:extLst>
          </p:cNvPr>
          <p:cNvSpPr>
            <a:spLocks noGrp="1"/>
          </p:cNvSpPr>
          <p:nvPr/>
        </p:nvSpPr>
        <p:spPr>
          <a:xfrm>
            <a:off x="1047750" y="4572000"/>
            <a:ext cx="43815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11A1D"/>
                </a:solidFill>
                <a:latin typeface="Arial"/>
                <a:ea typeface="Arial"/>
                <a:cs typeface="Arial"/>
              </a:rPr>
              <a:t>Browser / screenshot sebagai umpan balik visual</a:t>
            </a:r>
          </a:p>
        </p:txBody>
      </p:sp>
      <p:sp>
        <p:nvSpPr>
          <p:cNvPr id="19" name="Persegi Lengkung 18">
            <a:extLst>
              <a:ext uri="{FF2B5EF4-FFF2-40B4-BE49-F238E27FC236}">
                <a16:creationId xmlns:a16="http://schemas.microsoft.com/office/drawing/2014/main" id="{21AD0733-D878-4DAD-9E12-A1BB156B972F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5505450" cy="3733800"/>
          </a:xfrm>
          <a:prstGeom prst="roundRect">
            <a:avLst>
              <a:gd name="adj" fmla="val 2041"/>
            </a:avLst>
          </a:prstGeom>
          <a:solidFill>
            <a:srgbClr val="20283A"/>
          </a:solidFill>
          <a:ln w="9525">
            <a:solidFill>
              <a:srgbClr val="20283A"/>
            </a:solidFill>
          </a:ln>
        </p:spPr>
      </p:sp>
      <p:sp>
        <p:nvSpPr>
          <p:cNvPr id="20" name="Persegi Lengkung 19">
            <a:extLst>
              <a:ext uri="{FF2B5EF4-FFF2-40B4-BE49-F238E27FC236}">
                <a16:creationId xmlns:a16="http://schemas.microsoft.com/office/drawing/2014/main" id="{CD7A21C8-CD76-4FDE-89C0-0DB4AAA5B510}"/>
              </a:ext>
            </a:extLst>
          </p:cNvPr>
          <p:cNvSpPr>
            <a:spLocks noGrp="1"/>
          </p:cNvSpPr>
          <p:nvPr/>
        </p:nvSpPr>
        <p:spPr>
          <a:xfrm>
            <a:off x="6305550" y="1962150"/>
            <a:ext cx="2400300" cy="266700"/>
          </a:xfrm>
          <a:prstGeom prst="roundRect">
            <a:avLst>
              <a:gd name="adj" fmla="val 28571"/>
            </a:avLst>
          </a:prstGeom>
          <a:solidFill>
            <a:srgbClr val="434A5C"/>
          </a:solidFill>
          <a:ln w="0">
            <a:noFill/>
          </a:ln>
        </p:spPr>
      </p:sp>
      <p:sp>
        <p:nvSpPr>
          <p:cNvPr id="21" name="Persegi Panjang 20">
            <a:extLst>
              <a:ext uri="{FF2B5EF4-FFF2-40B4-BE49-F238E27FC236}">
                <a16:creationId xmlns:a16="http://schemas.microsoft.com/office/drawing/2014/main" id="{06B5D4DD-FD26-4BA9-93C7-53C6C562AD82}"/>
              </a:ext>
            </a:extLst>
          </p:cNvPr>
          <p:cNvSpPr>
            <a:spLocks noGrp="1"/>
          </p:cNvSpPr>
          <p:nvPr/>
        </p:nvSpPr>
        <p:spPr>
          <a:xfrm>
            <a:off x="6400800" y="1971675"/>
            <a:ext cx="2209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• PERUBAHAN TERLACAK</a:t>
            </a:r>
          </a:p>
        </p:txBody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B98B685B-BD45-4573-8D8A-AA01115F66A9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commit modular</a:t>
            </a:r>
          </a:p>
        </p:txBody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BE1F5D4C-0B63-48ED-9B2F-C03FB98802AC}"/>
              </a:ext>
            </a:extLst>
          </p:cNvPr>
          <p:cNvSpPr>
            <a:spLocks noGrp="1"/>
          </p:cNvSpPr>
          <p:nvPr/>
        </p:nvSpPr>
        <p:spPr>
          <a:xfrm>
            <a:off x="6305550" y="294322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CAC8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AC8D1"/>
                </a:solidFill>
                <a:latin typeface="Arial"/>
                <a:ea typeface="Arial"/>
                <a:cs typeface="Arial"/>
              </a:rPr>
              <a:t>fondasi → halaman → dokumentasi → perapian navigasi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A341730-FC11-4D2C-B30F-EC4F2DD39E86}"/>
              </a:ext>
            </a:extLst>
          </p:cNvPr>
          <p:cNvSpPr>
            <a:spLocks noGrp="1"/>
          </p:cNvSpPr>
          <p:nvPr/>
        </p:nvSpPr>
        <p:spPr>
          <a:xfrm>
            <a:off x="6324600" y="3562350"/>
            <a:ext cx="285750" cy="28575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867320E5-C66F-4D95-8956-B95AF22ACAFC}"/>
              </a:ext>
            </a:extLst>
          </p:cNvPr>
          <p:cNvSpPr>
            <a:spLocks noGrp="1"/>
          </p:cNvSpPr>
          <p:nvPr/>
        </p:nvSpPr>
        <p:spPr>
          <a:xfrm>
            <a:off x="6324600" y="356235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68"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76B79B3D-8236-40A4-BAD3-38BE4E2E3831}"/>
              </a:ext>
            </a:extLst>
          </p:cNvPr>
          <p:cNvSpPr>
            <a:spLocks noGrp="1"/>
          </p:cNvSpPr>
          <p:nvPr/>
        </p:nvSpPr>
        <p:spPr>
          <a:xfrm>
            <a:off x="6762750" y="355282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Buat branch</a:t>
            </a:r>
          </a:p>
        </p:txBody>
      </p:sp>
      <p:sp>
        <p:nvSpPr>
          <p:cNvPr id="27" name="Persegi Panjang 26">
            <a:extLst>
              <a:ext uri="{FF2B5EF4-FFF2-40B4-BE49-F238E27FC236}">
                <a16:creationId xmlns:a16="http://schemas.microsoft.com/office/drawing/2014/main" id="{F3D114B0-F4F8-4B05-B412-558934A85DC6}"/>
              </a:ext>
            </a:extLst>
          </p:cNvPr>
          <p:cNvSpPr>
            <a:spLocks noGrp="1"/>
          </p:cNvSpPr>
          <p:nvPr/>
        </p:nvSpPr>
        <p:spPr>
          <a:xfrm>
            <a:off x="8763000" y="3552825"/>
            <a:ext cx="2333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0">
                <a:solidFill>
                  <a:srgbClr val="CAC8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AC8D1"/>
                </a:solidFill>
                <a:latin typeface="Arial"/>
                <a:ea typeface="Arial"/>
                <a:cs typeface="Arial"/>
              </a:rPr>
              <a:t>7-prototype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BB23DE0-37AB-453B-B9B6-0447D4E51612}"/>
              </a:ext>
            </a:extLst>
          </p:cNvPr>
          <p:cNvSpPr>
            <a:spLocks noGrp="1"/>
          </p:cNvSpPr>
          <p:nvPr/>
        </p:nvSpPr>
        <p:spPr>
          <a:xfrm>
            <a:off x="6324600" y="4067175"/>
            <a:ext cx="285750" cy="285750"/>
          </a:xfrm>
          <a:prstGeom prst="ellipse">
            <a:avLst/>
          </a:prstGeom>
          <a:solidFill>
            <a:srgbClr val="C50070"/>
          </a:solidFill>
          <a:ln w="0">
            <a:noFill/>
          </a:ln>
        </p:spPr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75AF5CB4-F89B-4040-A360-FAE431E46BC2}"/>
              </a:ext>
            </a:extLst>
          </p:cNvPr>
          <p:cNvSpPr>
            <a:spLocks noGrp="1"/>
          </p:cNvSpPr>
          <p:nvPr/>
        </p:nvSpPr>
        <p:spPr>
          <a:xfrm>
            <a:off x="6324600" y="4067175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68"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8FDA02B4-C965-40C7-9676-77310CC567A1}"/>
              </a:ext>
            </a:extLst>
          </p:cNvPr>
          <p:cNvSpPr>
            <a:spLocks noGrp="1"/>
          </p:cNvSpPr>
          <p:nvPr/>
        </p:nvSpPr>
        <p:spPr>
          <a:xfrm>
            <a:off x="6762750" y="4057650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per bagian</a:t>
            </a:r>
          </a:p>
        </p:txBody>
      </p:sp>
      <p:sp>
        <p:nvSpPr>
          <p:cNvPr id="31" name="Persegi Panjang 30">
            <a:extLst>
              <a:ext uri="{FF2B5EF4-FFF2-40B4-BE49-F238E27FC236}">
                <a16:creationId xmlns:a16="http://schemas.microsoft.com/office/drawing/2014/main" id="{271E6AB3-9FE8-4CEA-AF69-416B047B83B1}"/>
              </a:ext>
            </a:extLst>
          </p:cNvPr>
          <p:cNvSpPr>
            <a:spLocks noGrp="1"/>
          </p:cNvSpPr>
          <p:nvPr/>
        </p:nvSpPr>
        <p:spPr>
          <a:xfrm>
            <a:off x="8763000" y="4057650"/>
            <a:ext cx="2333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0">
                <a:solidFill>
                  <a:srgbClr val="CAC8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AC8D1"/>
                </a:solidFill>
                <a:latin typeface="Arial"/>
                <a:ea typeface="Arial"/>
                <a:cs typeface="Arial"/>
              </a:rPr>
              <a:t>status • diff • log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68F5A6E-3F49-41E9-8CC8-FF218FD03C2A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285750" cy="285750"/>
          </a:xfrm>
          <a:prstGeom prst="ellipse">
            <a:avLst/>
          </a:prstGeom>
          <a:solidFill>
            <a:srgbClr val="12A97B"/>
          </a:solidFill>
          <a:ln w="0">
            <a:noFill/>
          </a:ln>
        </p:spPr>
      </p:sp>
      <p:sp>
        <p:nvSpPr>
          <p:cNvPr id="33" name="Persegi Panjang 32">
            <a:extLst>
              <a:ext uri="{FF2B5EF4-FFF2-40B4-BE49-F238E27FC236}">
                <a16:creationId xmlns:a16="http://schemas.microsoft.com/office/drawing/2014/main" id="{3864353A-324E-4477-8665-E2434CCF96D2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285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68"/>
          </a:bodyPr>
          <a:lstStyle/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A547046E-21F2-4163-A343-875D7F15345C}"/>
              </a:ext>
            </a:extLst>
          </p:cNvPr>
          <p:cNvSpPr>
            <a:spLocks noGrp="1"/>
          </p:cNvSpPr>
          <p:nvPr/>
        </p:nvSpPr>
        <p:spPr>
          <a:xfrm>
            <a:off x="6762750" y="4562475"/>
            <a:ext cx="1952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&amp; bagikan</a:t>
            </a:r>
          </a:p>
        </p:txBody>
      </p:sp>
      <p:sp>
        <p:nvSpPr>
          <p:cNvPr id="35" name="Persegi Panjang 34">
            <a:extLst>
              <a:ext uri="{FF2B5EF4-FFF2-40B4-BE49-F238E27FC236}">
                <a16:creationId xmlns:a16="http://schemas.microsoft.com/office/drawing/2014/main" id="{696305CA-F0D8-4EF8-820D-3344033FE42D}"/>
              </a:ext>
            </a:extLst>
          </p:cNvPr>
          <p:cNvSpPr>
            <a:spLocks noGrp="1"/>
          </p:cNvSpPr>
          <p:nvPr/>
        </p:nvSpPr>
        <p:spPr>
          <a:xfrm>
            <a:off x="8763000" y="4562475"/>
            <a:ext cx="2333625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050" b="0">
                <a:solidFill>
                  <a:srgbClr val="CAC8D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AC8D1"/>
                </a:solidFill>
                <a:latin typeface="Arial"/>
                <a:ea typeface="Arial"/>
                <a:cs typeface="Arial"/>
              </a:rPr>
              <a:t>branch remote</a:t>
            </a:r>
          </a:p>
        </p:txBody>
      </p:sp>
      <p:sp>
        <p:nvSpPr>
          <p:cNvPr id="36" name="Persegi Lengkung 35">
            <a:extLst>
              <a:ext uri="{FF2B5EF4-FFF2-40B4-BE49-F238E27FC236}">
                <a16:creationId xmlns:a16="http://schemas.microsoft.com/office/drawing/2014/main" id="{9FBA85F2-69E5-4819-B328-1D02093A15D8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457200"/>
          </a:xfrm>
          <a:prstGeom prst="roundRect">
            <a:avLst>
              <a:gd name="adj" fmla="val 16667"/>
            </a:avLst>
          </a:prstGeom>
          <a:solidFill>
            <a:srgbClr val="FCEAF3"/>
          </a:solidFill>
          <a:ln w="9525">
            <a:solidFill>
              <a:srgbClr val="F3D7E4"/>
            </a:solidFill>
          </a:ln>
        </p:spPr>
      </p:sp>
      <p:sp>
        <p:nvSpPr>
          <p:cNvPr id="37" name="Persegi Panjang 36">
            <a:extLst>
              <a:ext uri="{FF2B5EF4-FFF2-40B4-BE49-F238E27FC236}">
                <a16:creationId xmlns:a16="http://schemas.microsoft.com/office/drawing/2014/main" id="{449D20C8-56C9-4A25-860E-251739BD551B}"/>
              </a:ext>
            </a:extLst>
          </p:cNvPr>
          <p:cNvSpPr>
            <a:spLocks noGrp="1"/>
          </p:cNvSpPr>
          <p:nvPr/>
        </p:nvSpPr>
        <p:spPr>
          <a:xfrm>
            <a:off x="781050" y="5800725"/>
            <a:ext cx="1062037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github.com/asyep/anteraja-capstone-asyep/tree/7-prototype</a:t>
            </a:r>
          </a:p>
        </p:txBody>
      </p:sp>
    </p:spTree>
    <p:extLst>
      <p:ext uri="{BB962C8B-B14F-4D97-AF65-F5344CB8AC3E}">
        <p14:creationId xmlns:p14="http://schemas.microsoft.com/office/powerpoint/2010/main" val="972236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rsegi Panjang 35">
            <a:extLst>
              <a:ext uri="{FF2B5EF4-FFF2-40B4-BE49-F238E27FC236}">
                <a16:creationId xmlns:a16="http://schemas.microsoft.com/office/drawing/2014/main" id="{6A33F7F4-BE44-4F50-9FEA-CB62685DA1B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80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WHEN • URUTAN 8 MINGGU YANG DITETAPKAN PRD</a:t>
            </a:r>
          </a:p>
        </p:txBody>
      </p:sp>
      <p:sp>
        <p:nvSpPr>
          <p:cNvPr id="2" name="Persegi Panjang 1">
            <a:extLst>
              <a:ext uri="{FF2B5EF4-FFF2-40B4-BE49-F238E27FC236}">
                <a16:creationId xmlns:a16="http://schemas.microsoft.com/office/drawing/2014/main" id="{141FFA1D-7451-4451-B5FC-7F47014C9CF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Kapan tiap bagian masuk?</a:t>
            </a: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D2A9295E-9459-46EE-B10A-E8573286CAA1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0972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D650B7A1-0CE8-432C-82E7-524EB9B98FB3}"/>
              </a:ext>
            </a:extLst>
          </p:cNvPr>
          <p:cNvSpPr>
            <a:spLocks noGrp="1"/>
          </p:cNvSpPr>
          <p:nvPr/>
        </p:nvSpPr>
        <p:spPr>
          <a:xfrm>
            <a:off x="609600" y="65055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l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endParaRPr sz="825" b="1" dirty="0">
              <a:solidFill>
                <a:srgbClr val="7167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ersegi Panjang 4">
            <a:extLst>
              <a:ext uri="{FF2B5EF4-FFF2-40B4-BE49-F238E27FC236}">
                <a16:creationId xmlns:a16="http://schemas.microsoft.com/office/drawing/2014/main" id="{21485FDD-B667-4F3A-AD43-5643F3C69F1E}"/>
              </a:ext>
            </a:extLst>
          </p:cNvPr>
          <p:cNvSpPr>
            <a:spLocks noGrp="1"/>
          </p:cNvSpPr>
          <p:nvPr/>
        </p:nvSpPr>
        <p:spPr>
          <a:xfrm>
            <a:off x="10858500" y="6505575"/>
            <a:ext cx="7239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136" lnSpcReduction="20000"/>
          </a:bodyPr>
          <a:lstStyle/>
          <a:p>
            <a:pPr algn="r">
              <a:defRPr sz="8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6" name="Persegi Lengkung 5">
            <a:extLst>
              <a:ext uri="{FF2B5EF4-FFF2-40B4-BE49-F238E27FC236}">
                <a16:creationId xmlns:a16="http://schemas.microsoft.com/office/drawing/2014/main" id="{CD2FBE51-4595-4A9E-A63E-5990353275C2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552700" cy="29146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7" name="Persegi Lengkung 6">
            <a:extLst>
              <a:ext uri="{FF2B5EF4-FFF2-40B4-BE49-F238E27FC236}">
                <a16:creationId xmlns:a16="http://schemas.microsoft.com/office/drawing/2014/main" id="{50F673DD-E7CB-46E1-932A-78A87DA63CC1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1257300" cy="266700"/>
          </a:xfrm>
          <a:prstGeom prst="roundRect">
            <a:avLst>
              <a:gd name="adj" fmla="val 28571"/>
            </a:avLst>
          </a:prstGeom>
          <a:solidFill>
            <a:srgbClr val="FCEAF3"/>
          </a:solidFill>
          <a:ln w="0">
            <a:noFill/>
          </a:ln>
        </p:spPr>
      </p:sp>
      <p:sp>
        <p:nvSpPr>
          <p:cNvPr id="8" name="Persegi Panjang 7">
            <a:extLst>
              <a:ext uri="{FF2B5EF4-FFF2-40B4-BE49-F238E27FC236}">
                <a16:creationId xmlns:a16="http://schemas.microsoft.com/office/drawing/2014/main" id="{73B8770D-03C4-4722-8F16-664DEDD50719}"/>
              </a:ext>
            </a:extLst>
          </p:cNvPr>
          <p:cNvSpPr>
            <a:spLocks noGrp="1"/>
          </p:cNvSpPr>
          <p:nvPr/>
        </p:nvSpPr>
        <p:spPr>
          <a:xfrm>
            <a:off x="876300" y="22193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C500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50070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9" name="Persegi Panjang 8">
            <a:extLst>
              <a:ext uri="{FF2B5EF4-FFF2-40B4-BE49-F238E27FC236}">
                <a16:creationId xmlns:a16="http://schemas.microsoft.com/office/drawing/2014/main" id="{E6D19502-3949-4FDA-9198-79E650342CBA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22098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Minggu 1–2</a:t>
            </a:r>
          </a:p>
        </p:txBody>
      </p:sp>
      <p:sp>
        <p:nvSpPr>
          <p:cNvPr id="10" name="Persegi Panjang 9">
            <a:extLst>
              <a:ext uri="{FF2B5EF4-FFF2-40B4-BE49-F238E27FC236}">
                <a16:creationId xmlns:a16="http://schemas.microsoft.com/office/drawing/2014/main" id="{7C0A01AB-0F78-4953-A8CF-8D2F71DA2C29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Fondasi</a:t>
            </a:r>
          </a:p>
        </p:txBody>
      </p:sp>
      <p:sp>
        <p:nvSpPr>
          <p:cNvPr id="11" name="Persegi Panjang 10">
            <a:extLst>
              <a:ext uri="{FF2B5EF4-FFF2-40B4-BE49-F238E27FC236}">
                <a16:creationId xmlns:a16="http://schemas.microsoft.com/office/drawing/2014/main" id="{0913AC27-E236-400D-9E22-4600EF6AF01B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09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12" name="Persegi Panjang 11">
            <a:extLst>
              <a:ext uri="{FF2B5EF4-FFF2-40B4-BE49-F238E27FC236}">
                <a16:creationId xmlns:a16="http://schemas.microsoft.com/office/drawing/2014/main" id="{3C4BFF01-D03D-46A9-8802-C715CB6ABD9B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22098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validasi resi • model data</a:t>
            </a:r>
          </a:p>
        </p:txBody>
      </p:sp>
      <p:sp>
        <p:nvSpPr>
          <p:cNvPr id="13" name="Persegi Lengkung 12">
            <a:extLst>
              <a:ext uri="{FF2B5EF4-FFF2-40B4-BE49-F238E27FC236}">
                <a16:creationId xmlns:a16="http://schemas.microsoft.com/office/drawing/2014/main" id="{49BDFE41-382E-49EA-B8F2-EA795B9501AF}"/>
              </a:ext>
            </a:extLst>
          </p:cNvPr>
          <p:cNvSpPr>
            <a:spLocks noGrp="1"/>
          </p:cNvSpPr>
          <p:nvPr/>
        </p:nvSpPr>
        <p:spPr>
          <a:xfrm>
            <a:off x="3371850" y="2019300"/>
            <a:ext cx="2552700" cy="29146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14" name="Persegi Lengkung 13">
            <a:extLst>
              <a:ext uri="{FF2B5EF4-FFF2-40B4-BE49-F238E27FC236}">
                <a16:creationId xmlns:a16="http://schemas.microsoft.com/office/drawing/2014/main" id="{6D31CB0E-5294-492C-A262-3499EA182A45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1257300" cy="266700"/>
          </a:xfrm>
          <a:prstGeom prst="roundRect">
            <a:avLst>
              <a:gd name="adj" fmla="val 28571"/>
            </a:avLst>
          </a:prstGeom>
          <a:solidFill>
            <a:srgbClr val="E7F8F1"/>
          </a:solidFill>
          <a:ln w="0">
            <a:noFill/>
          </a:ln>
        </p:spPr>
      </p:sp>
      <p:sp>
        <p:nvSpPr>
          <p:cNvPr id="15" name="Persegi Panjang 14">
            <a:extLst>
              <a:ext uri="{FF2B5EF4-FFF2-40B4-BE49-F238E27FC236}">
                <a16:creationId xmlns:a16="http://schemas.microsoft.com/office/drawing/2014/main" id="{6B6BE870-A7F6-4ABC-816C-453A5712BB72}"/>
              </a:ext>
            </a:extLst>
          </p:cNvPr>
          <p:cNvSpPr>
            <a:spLocks noGrp="1"/>
          </p:cNvSpPr>
          <p:nvPr/>
        </p:nvSpPr>
        <p:spPr>
          <a:xfrm>
            <a:off x="3638550" y="22193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12A9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A97B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16" name="Persegi Panjang 15">
            <a:extLst>
              <a:ext uri="{FF2B5EF4-FFF2-40B4-BE49-F238E27FC236}">
                <a16:creationId xmlns:a16="http://schemas.microsoft.com/office/drawing/2014/main" id="{DC0C8496-9C05-4331-B362-B82CCB4E2FDE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22098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Minggu 3–4</a:t>
            </a:r>
          </a:p>
        </p:txBody>
      </p:sp>
      <p:sp>
        <p:nvSpPr>
          <p:cNvPr id="17" name="Persegi Panjang 16">
            <a:extLst>
              <a:ext uri="{FF2B5EF4-FFF2-40B4-BE49-F238E27FC236}">
                <a16:creationId xmlns:a16="http://schemas.microsoft.com/office/drawing/2014/main" id="{7AEF156F-051A-46B7-9874-B5F86DC12A5E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Alur inti</a:t>
            </a:r>
          </a:p>
        </p:txBody>
      </p: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F281A23D-EA8D-4001-AE59-EEB625DF7C54}"/>
              </a:ext>
            </a:extLst>
          </p:cNvPr>
          <p:cNvSpPr>
            <a:spLocks noGrp="1"/>
          </p:cNvSpPr>
          <p:nvPr/>
        </p:nvSpPr>
        <p:spPr>
          <a:xfrm>
            <a:off x="3543300" y="3829050"/>
            <a:ext cx="2209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19" name="Persegi Panjang 18">
            <a:extLst>
              <a:ext uri="{FF2B5EF4-FFF2-40B4-BE49-F238E27FC236}">
                <a16:creationId xmlns:a16="http://schemas.microsoft.com/office/drawing/2014/main" id="{9434ED75-CE89-4D48-B259-3AB3DF568B56}"/>
              </a:ext>
            </a:extLst>
          </p:cNvPr>
          <p:cNvSpPr>
            <a:spLocks noGrp="1"/>
          </p:cNvSpPr>
          <p:nvPr/>
        </p:nvSpPr>
        <p:spPr>
          <a:xfrm>
            <a:off x="3543300" y="4019550"/>
            <a:ext cx="22098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stepper • event • integrasi UI</a:t>
            </a:r>
          </a:p>
        </p:txBody>
      </p:sp>
      <p:sp>
        <p:nvSpPr>
          <p:cNvPr id="20" name="Persegi Lengkung 19">
            <a:extLst>
              <a:ext uri="{FF2B5EF4-FFF2-40B4-BE49-F238E27FC236}">
                <a16:creationId xmlns:a16="http://schemas.microsoft.com/office/drawing/2014/main" id="{0E9F8CCF-0D5F-4883-AE7A-99B13848E167}"/>
              </a:ext>
            </a:extLst>
          </p:cNvPr>
          <p:cNvSpPr>
            <a:spLocks noGrp="1"/>
          </p:cNvSpPr>
          <p:nvPr/>
        </p:nvSpPr>
        <p:spPr>
          <a:xfrm>
            <a:off x="6134100" y="2019300"/>
            <a:ext cx="2552700" cy="29146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1" name="Persegi Lengkung 20">
            <a:extLst>
              <a:ext uri="{FF2B5EF4-FFF2-40B4-BE49-F238E27FC236}">
                <a16:creationId xmlns:a16="http://schemas.microsoft.com/office/drawing/2014/main" id="{90BC029D-21BB-4042-B0F1-649525114A07}"/>
              </a:ext>
            </a:extLst>
          </p:cNvPr>
          <p:cNvSpPr>
            <a:spLocks noGrp="1"/>
          </p:cNvSpPr>
          <p:nvPr/>
        </p:nvSpPr>
        <p:spPr>
          <a:xfrm>
            <a:off x="6305550" y="2209800"/>
            <a:ext cx="1257300" cy="266700"/>
          </a:xfrm>
          <a:prstGeom prst="roundRect">
            <a:avLst>
              <a:gd name="adj" fmla="val 28571"/>
            </a:avLst>
          </a:prstGeom>
          <a:solidFill>
            <a:srgbClr val="FFF5D9"/>
          </a:solidFill>
          <a:ln w="0">
            <a:noFill/>
          </a:ln>
        </p:spPr>
      </p:sp>
      <p:sp>
        <p:nvSpPr>
          <p:cNvPr id="22" name="Persegi Panjang 21">
            <a:extLst>
              <a:ext uri="{FF2B5EF4-FFF2-40B4-BE49-F238E27FC236}">
                <a16:creationId xmlns:a16="http://schemas.microsoft.com/office/drawing/2014/main" id="{DCAA254E-27C4-48C4-AC59-78EA939A27F1}"/>
              </a:ext>
            </a:extLst>
          </p:cNvPr>
          <p:cNvSpPr>
            <a:spLocks noGrp="1"/>
          </p:cNvSpPr>
          <p:nvPr/>
        </p:nvSpPr>
        <p:spPr>
          <a:xfrm>
            <a:off x="6400800" y="22193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E8A6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A600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3" name="Persegi Panjang 22">
            <a:extLst>
              <a:ext uri="{FF2B5EF4-FFF2-40B4-BE49-F238E27FC236}">
                <a16:creationId xmlns:a16="http://schemas.microsoft.com/office/drawing/2014/main" id="{ADFFBE31-9469-45C5-9CA6-262DB0D6DFDE}"/>
              </a:ext>
            </a:extLst>
          </p:cNvPr>
          <p:cNvSpPr>
            <a:spLocks noGrp="1"/>
          </p:cNvSpPr>
          <p:nvPr/>
        </p:nvSpPr>
        <p:spPr>
          <a:xfrm>
            <a:off x="6305550" y="2667000"/>
            <a:ext cx="22098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Minggu 5–6</a:t>
            </a:r>
          </a:p>
        </p:txBody>
      </p:sp>
      <p:sp>
        <p:nvSpPr>
          <p:cNvPr id="24" name="Persegi Panjang 23">
            <a:extLst>
              <a:ext uri="{FF2B5EF4-FFF2-40B4-BE49-F238E27FC236}">
                <a16:creationId xmlns:a16="http://schemas.microsoft.com/office/drawing/2014/main" id="{E4F43850-7E93-4A39-AC36-3A00D29D49FD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577" lnSpcReduction="10000"/>
          </a:bodyPr>
          <a:lstStyle/>
          <a:p>
            <a:pPr algn="l">
              <a:defRPr sz="18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Narasi &amp; exception</a:t>
            </a:r>
          </a:p>
        </p:txBody>
      </p:sp>
      <p:sp>
        <p:nvSpPr>
          <p:cNvPr id="25" name="Persegi Panjang 24">
            <a:extLst>
              <a:ext uri="{FF2B5EF4-FFF2-40B4-BE49-F238E27FC236}">
                <a16:creationId xmlns:a16="http://schemas.microsoft.com/office/drawing/2014/main" id="{613E9F59-2ADC-47EE-B4A4-C075CFFD9730}"/>
              </a:ext>
            </a:extLst>
          </p:cNvPr>
          <p:cNvSpPr>
            <a:spLocks noGrp="1"/>
          </p:cNvSpPr>
          <p:nvPr/>
        </p:nvSpPr>
        <p:spPr>
          <a:xfrm>
            <a:off x="6305550" y="3829050"/>
            <a:ext cx="2209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202DA871-D181-4152-BDE5-DC1FA268BCDD}"/>
              </a:ext>
            </a:extLst>
          </p:cNvPr>
          <p:cNvSpPr>
            <a:spLocks noGrp="1"/>
          </p:cNvSpPr>
          <p:nvPr/>
        </p:nvSpPr>
        <p:spPr>
          <a:xfrm>
            <a:off x="6305550" y="4019550"/>
            <a:ext cx="22098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Gemini • warning • fallback</a:t>
            </a:r>
          </a:p>
        </p:txBody>
      </p:sp>
      <p:sp>
        <p:nvSpPr>
          <p:cNvPr id="27" name="Persegi Lengkung 26">
            <a:extLst>
              <a:ext uri="{FF2B5EF4-FFF2-40B4-BE49-F238E27FC236}">
                <a16:creationId xmlns:a16="http://schemas.microsoft.com/office/drawing/2014/main" id="{8C364232-646E-4E78-9DF8-7BCB3E285E99}"/>
              </a:ext>
            </a:extLst>
          </p:cNvPr>
          <p:cNvSpPr>
            <a:spLocks noGrp="1"/>
          </p:cNvSpPr>
          <p:nvPr/>
        </p:nvSpPr>
        <p:spPr>
          <a:xfrm>
            <a:off x="8896350" y="2019300"/>
            <a:ext cx="2552700" cy="29146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9525">
            <a:solidFill>
              <a:srgbClr val="E9E1E5"/>
            </a:solidFill>
          </a:ln>
        </p:spPr>
      </p:sp>
      <p:sp>
        <p:nvSpPr>
          <p:cNvPr id="28" name="Persegi Lengkung 27">
            <a:extLst>
              <a:ext uri="{FF2B5EF4-FFF2-40B4-BE49-F238E27FC236}">
                <a16:creationId xmlns:a16="http://schemas.microsoft.com/office/drawing/2014/main" id="{C200A2BE-56D9-4B1E-86C3-F81488B7E173}"/>
              </a:ext>
            </a:extLst>
          </p:cNvPr>
          <p:cNvSpPr>
            <a:spLocks noGrp="1"/>
          </p:cNvSpPr>
          <p:nvPr/>
        </p:nvSpPr>
        <p:spPr>
          <a:xfrm>
            <a:off x="9067800" y="2209800"/>
            <a:ext cx="1257300" cy="266700"/>
          </a:xfrm>
          <a:prstGeom prst="roundRect">
            <a:avLst>
              <a:gd name="adj" fmla="val 28571"/>
            </a:avLst>
          </a:prstGeom>
          <a:solidFill>
            <a:srgbClr val="F0EBFF"/>
          </a:solidFill>
          <a:ln w="0">
            <a:noFill/>
          </a:ln>
        </p:spPr>
      </p:sp>
      <p:sp>
        <p:nvSpPr>
          <p:cNvPr id="29" name="Persegi Panjang 28">
            <a:extLst>
              <a:ext uri="{FF2B5EF4-FFF2-40B4-BE49-F238E27FC236}">
                <a16:creationId xmlns:a16="http://schemas.microsoft.com/office/drawing/2014/main" id="{3D34174E-5733-4C4F-A95B-177D711F133C}"/>
              </a:ext>
            </a:extLst>
          </p:cNvPr>
          <p:cNvSpPr>
            <a:spLocks noGrp="1"/>
          </p:cNvSpPr>
          <p:nvPr/>
        </p:nvSpPr>
        <p:spPr>
          <a:xfrm>
            <a:off x="9163050" y="2219325"/>
            <a:ext cx="10668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8058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058E8"/>
                </a:solidFill>
                <a:latin typeface="Arial"/>
                <a:ea typeface="Arial"/>
                <a:cs typeface="Arial"/>
              </a:rPr>
              <a:t>SPRINT 4</a:t>
            </a:r>
          </a:p>
        </p:txBody>
      </p:sp>
      <p:sp>
        <p:nvSpPr>
          <p:cNvPr id="30" name="Persegi Panjang 29">
            <a:extLst>
              <a:ext uri="{FF2B5EF4-FFF2-40B4-BE49-F238E27FC236}">
                <a16:creationId xmlns:a16="http://schemas.microsoft.com/office/drawing/2014/main" id="{49465106-6B90-4B69-B86C-E2D5AA24F1B9}"/>
              </a:ext>
            </a:extLst>
          </p:cNvPr>
          <p:cNvSpPr>
            <a:spLocks noGrp="1"/>
          </p:cNvSpPr>
          <p:nvPr/>
        </p:nvSpPr>
        <p:spPr>
          <a:xfrm>
            <a:off x="9067800" y="2667000"/>
            <a:ext cx="22098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67" lnSpcReduction="10000"/>
          </a:bodyPr>
          <a:lstStyle/>
          <a:p>
            <a:pPr algn="l">
              <a:defRPr sz="1125" b="1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676D"/>
                </a:solidFill>
                <a:latin typeface="Arial"/>
                <a:ea typeface="Arial"/>
                <a:cs typeface="Arial"/>
              </a:rPr>
              <a:t>Minggu 7–8</a:t>
            </a:r>
          </a:p>
        </p:txBody>
      </p:sp>
      <p:sp>
        <p:nvSpPr>
          <p:cNvPr id="31" name="Persegi Panjang 30">
            <a:extLst>
              <a:ext uri="{FF2B5EF4-FFF2-40B4-BE49-F238E27FC236}">
                <a16:creationId xmlns:a16="http://schemas.microsoft.com/office/drawing/2014/main" id="{63E23A5B-802D-498C-9C78-24ED3E4EDED4}"/>
              </a:ext>
            </a:extLst>
          </p:cNvPr>
          <p:cNvSpPr>
            <a:spLocks noGrp="1"/>
          </p:cNvSpPr>
          <p:nvPr/>
        </p:nvSpPr>
        <p:spPr>
          <a:xfrm>
            <a:off x="9067800" y="3105150"/>
            <a:ext cx="22098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Uji &amp; rilis</a:t>
            </a:r>
          </a:p>
        </p:txBody>
      </p:sp>
      <p:sp>
        <p:nvSpPr>
          <p:cNvPr id="32" name="Persegi Panjang 31">
            <a:extLst>
              <a:ext uri="{FF2B5EF4-FFF2-40B4-BE49-F238E27FC236}">
                <a16:creationId xmlns:a16="http://schemas.microsoft.com/office/drawing/2014/main" id="{51645BF5-508F-4F2F-AE55-58D12382064F}"/>
              </a:ext>
            </a:extLst>
          </p:cNvPr>
          <p:cNvSpPr>
            <a:spLocks noGrp="1"/>
          </p:cNvSpPr>
          <p:nvPr/>
        </p:nvSpPr>
        <p:spPr>
          <a:xfrm>
            <a:off x="9067800" y="3829050"/>
            <a:ext cx="2209800" cy="9525"/>
          </a:xfrm>
          <a:prstGeom prst="rect">
            <a:avLst/>
          </a:prstGeom>
          <a:solidFill>
            <a:srgbClr val="E9E1E5"/>
          </a:solidFill>
          <a:ln w="0">
            <a:noFill/>
          </a:ln>
        </p:spPr>
      </p:sp>
      <p:sp>
        <p:nvSpPr>
          <p:cNvPr id="33" name="Persegi Panjang 32">
            <a:extLst>
              <a:ext uri="{FF2B5EF4-FFF2-40B4-BE49-F238E27FC236}">
                <a16:creationId xmlns:a16="http://schemas.microsoft.com/office/drawing/2014/main" id="{1FB74992-8AA9-42B6-BE33-F4D529919C3C}"/>
              </a:ext>
            </a:extLst>
          </p:cNvPr>
          <p:cNvSpPr>
            <a:spLocks noGrp="1"/>
          </p:cNvSpPr>
          <p:nvPr/>
        </p:nvSpPr>
        <p:spPr>
          <a:xfrm>
            <a:off x="9067800" y="4019550"/>
            <a:ext cx="22098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latensi • cache • akurasi</a:t>
            </a:r>
          </a:p>
        </p:txBody>
      </p:sp>
      <p:sp>
        <p:nvSpPr>
          <p:cNvPr id="34" name="Persegi Panjang 33">
            <a:extLst>
              <a:ext uri="{FF2B5EF4-FFF2-40B4-BE49-F238E27FC236}">
                <a16:creationId xmlns:a16="http://schemas.microsoft.com/office/drawing/2014/main" id="{1DBF94CC-A41F-49D0-B8E5-20827865AB20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1A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11A1D"/>
                </a:solidFill>
                <a:latin typeface="Arial"/>
                <a:ea typeface="Arial"/>
                <a:cs typeface="Arial"/>
              </a:rPr>
              <a:t>Target yang dicek setelah integrasi: narasi sinkron 100% • latensi &lt;2 detik p95 • WISMO turun 25–35%</a:t>
            </a:r>
          </a:p>
        </p:txBody>
      </p:sp>
      <p:sp>
        <p:nvSpPr>
          <p:cNvPr id="35" name="Persegi Panjang 34">
            <a:extLst>
              <a:ext uri="{FF2B5EF4-FFF2-40B4-BE49-F238E27FC236}">
                <a16:creationId xmlns:a16="http://schemas.microsoft.com/office/drawing/2014/main" id="{8DFCE30C-D905-4D62-85D2-7752539A2FC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0">
                <a:solidFill>
                  <a:srgbClr val="7167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676D"/>
                </a:solidFill>
                <a:latin typeface="Arial"/>
                <a:ea typeface="Arial"/>
                <a:cs typeface="Arial"/>
              </a:rPr>
              <a:t>Catatan: fase ini masih perlu API/backend nyata, uji acceptance criteria, dan data operasional.</a:t>
            </a:r>
          </a:p>
        </p:txBody>
      </p:sp>
    </p:spTree>
    <p:extLst>
      <p:ext uri="{BB962C8B-B14F-4D97-AF65-F5344CB8AC3E}">
        <p14:creationId xmlns:p14="http://schemas.microsoft.com/office/powerpoint/2010/main" val="28020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rsegi Panjang 1">
            <a:extLst>
              <a:ext uri="{FF2B5EF4-FFF2-40B4-BE49-F238E27FC236}">
                <a16:creationId xmlns:a16="http://schemas.microsoft.com/office/drawing/2014/main" id="{32C0E2AB-E404-4D13-9C02-D57C54000A01}"/>
              </a:ext>
            </a:extLst>
          </p:cNvPr>
          <p:cNvSpPr>
            <a:spLocks noGrp="1"/>
          </p:cNvSpPr>
          <p:nvPr/>
        </p:nvSpPr>
        <p:spPr>
          <a:xfrm>
            <a:off x="704850" y="523875"/>
            <a:ext cx="1619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 lnSpcReduction="10000"/>
          </a:bodyPr>
          <a:lstStyle/>
          <a:p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9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ersegi Panjang 2">
            <a:extLst>
              <a:ext uri="{FF2B5EF4-FFF2-40B4-BE49-F238E27FC236}">
                <a16:creationId xmlns:a16="http://schemas.microsoft.com/office/drawing/2014/main" id="{E56830CA-F531-467E-99A7-415EA67E35C8}"/>
              </a:ext>
            </a:extLst>
          </p:cNvPr>
          <p:cNvSpPr>
            <a:spLocks noGrp="1"/>
          </p:cNvSpPr>
          <p:nvPr/>
        </p:nvSpPr>
        <p:spPr>
          <a:xfrm>
            <a:off x="2619375" y="3009364"/>
            <a:ext cx="6953250" cy="1790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</a:t>
            </a:r>
            <a:endParaRPr sz="32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ersegi Panjang 3">
            <a:extLst>
              <a:ext uri="{FF2B5EF4-FFF2-40B4-BE49-F238E27FC236}">
                <a16:creationId xmlns:a16="http://schemas.microsoft.com/office/drawing/2014/main" id="{41FD0898-ED65-4F39-B01D-15405DB20E52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FF9BCC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FF9BC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069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1648</Words>
  <Application>Microsoft Macintosh PowerPoint</Application>
  <DocSecurity>0</DocSecurity>
  <PresentationFormat>Layar Lebar</PresentationFormat>
  <Paragraphs>247</Paragraphs>
  <Slides>14</Slides>
  <Notes>14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Asep Nadhirin</cp:lastModifiedBy>
  <cp:revision>1</cp:revision>
  <dcterms:created xsi:type="dcterms:W3CDTF">2026-09-28T03:05:48Z</dcterms:created>
  <dcterms:modified xsi:type="dcterms:W3CDTF">2026-09-28T04:13:10Z</dcterms:modified>
</cp:coreProperties>
</file>