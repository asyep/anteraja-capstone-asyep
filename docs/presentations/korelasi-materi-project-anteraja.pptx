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b5b19d68ca34ef7" /><Relationship Type="http://schemas.openxmlformats.org/officeDocument/2006/relationships/extended-properties" Target="/docProps/app.xml" Id="R6d1f8a29a803403f" /><Relationship Type="http://schemas.openxmlformats.org/officeDocument/2006/relationships/officeDocument" Target="/ppt/presentation.xml" Id="R7d4c000c0f074d7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01238421c8f4fad"/>
  </p:sldMasterIdLst>
  <p:notesMasterIdLst>
    <p:notesMasterId xmlns:r="http://schemas.openxmlformats.org/officeDocument/2006/relationships" r:id="R782f2efd064b4f7b"/>
  </p:notesMasterIdLst>
  <p:sldIdLst>
    <p:sldId xmlns:r="http://schemas.openxmlformats.org/officeDocument/2006/relationships" id="256" r:id="R42281a279ee6454c"/>
    <p:sldId xmlns:r="http://schemas.openxmlformats.org/officeDocument/2006/relationships" id="257" r:id="R4e05a1ac5a0244e7"/>
    <p:sldId xmlns:r="http://schemas.openxmlformats.org/officeDocument/2006/relationships" id="258" r:id="Rbd77b273ae694013"/>
    <p:sldId xmlns:r="http://schemas.openxmlformats.org/officeDocument/2006/relationships" id="259" r:id="R7c975e267e164070"/>
    <p:sldId xmlns:r="http://schemas.openxmlformats.org/officeDocument/2006/relationships" id="260" r:id="Rd0c9efb106994470"/>
    <p:sldId xmlns:r="http://schemas.openxmlformats.org/officeDocument/2006/relationships" id="261" r:id="Rde50b8bc83724578"/>
    <p:sldId xmlns:r="http://schemas.openxmlformats.org/officeDocument/2006/relationships" id="262" r:id="R0267f162011844c2"/>
    <p:sldId xmlns:r="http://schemas.openxmlformats.org/officeDocument/2006/relationships" id="263" r:id="R00dc445546164fb4"/>
    <p:sldId xmlns:r="http://schemas.openxmlformats.org/officeDocument/2006/relationships" id="264" r:id="R89789762fdd340c0"/>
    <p:sldId xmlns:r="http://schemas.openxmlformats.org/officeDocument/2006/relationships" id="265" r:id="R58d9f2b88c634646"/>
    <p:sldId xmlns:r="http://schemas.openxmlformats.org/officeDocument/2006/relationships" id="266" r:id="R54cf35ac91b142ab"/>
    <p:sldId xmlns:r="http://schemas.openxmlformats.org/officeDocument/2006/relationships" id="267" r:id="R8a330e918ec240c3"/>
    <p:sldId xmlns:r="http://schemas.openxmlformats.org/officeDocument/2006/relationships" id="268" r:id="R415ab82502bd4ff6"/>
    <p:sldId xmlns:r="http://schemas.openxmlformats.org/officeDocument/2006/relationships" id="269" r:id="R1ec46e7b73b141c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bdce54b846a4fe6" /><Relationship Type="http://schemas.openxmlformats.org/officeDocument/2006/relationships/slideMaster" Target="/ppt/slideMasters/slideMaster1.xml" Id="R401238421c8f4fad" /><Relationship Type="http://schemas.openxmlformats.org/officeDocument/2006/relationships/notesMaster" Target="/ppt/notesMasters/notesMaster1.xml" Id="R782f2efd064b4f7b" /><Relationship Type="http://schemas.openxmlformats.org/officeDocument/2006/relationships/presProps" Target="/ppt/presProps.xml" Id="R2239a0ba4bb24139" /><Relationship Type="http://schemas.openxmlformats.org/officeDocument/2006/relationships/tableStyles" Target="/ppt/tableStyles.xml" Id="R86a599808b124dda" /><Relationship Type="http://schemas.openxmlformats.org/officeDocument/2006/relationships/slide" Target="/ppt/slides/slide1.xml" Id="R42281a279ee6454c" /><Relationship Type="http://schemas.openxmlformats.org/officeDocument/2006/relationships/slide" Target="/ppt/slides/slide2.xml" Id="R4e05a1ac5a0244e7" /><Relationship Type="http://schemas.openxmlformats.org/officeDocument/2006/relationships/slide" Target="/ppt/slides/slide3.xml" Id="Rbd77b273ae694013" /><Relationship Type="http://schemas.openxmlformats.org/officeDocument/2006/relationships/slide" Target="/ppt/slides/slide4.xml" Id="R7c975e267e164070" /><Relationship Type="http://schemas.openxmlformats.org/officeDocument/2006/relationships/slide" Target="/ppt/slides/slide5.xml" Id="Rd0c9efb106994470" /><Relationship Type="http://schemas.openxmlformats.org/officeDocument/2006/relationships/slide" Target="/ppt/slides/slide6.xml" Id="Rde50b8bc83724578" /><Relationship Type="http://schemas.openxmlformats.org/officeDocument/2006/relationships/slide" Target="/ppt/slides/slide7.xml" Id="R0267f162011844c2" /><Relationship Type="http://schemas.openxmlformats.org/officeDocument/2006/relationships/slide" Target="/ppt/slides/slide8.xml" Id="R00dc445546164fb4" /><Relationship Type="http://schemas.openxmlformats.org/officeDocument/2006/relationships/slide" Target="/ppt/slides/slide9.xml" Id="R89789762fdd340c0" /><Relationship Type="http://schemas.openxmlformats.org/officeDocument/2006/relationships/slide" Target="/ppt/slides/slide10.xml" Id="R58d9f2b88c634646" /><Relationship Type="http://schemas.openxmlformats.org/officeDocument/2006/relationships/slide" Target="/ppt/slides/slide11.xml" Id="R54cf35ac91b142ab" /><Relationship Type="http://schemas.openxmlformats.org/officeDocument/2006/relationships/slide" Target="/ppt/slides/slide12.xml" Id="R8a330e918ec240c3" /><Relationship Type="http://schemas.openxmlformats.org/officeDocument/2006/relationships/slide" Target="/ppt/slides/slide13.xml" Id="R415ab82502bd4ff6" /><Relationship Type="http://schemas.openxmlformats.org/officeDocument/2006/relationships/slide" Target="/ppt/slides/slide14.xml" Id="R1ec46e7b73b141c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53fc462c8c74a2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bed6c44311b47c2" /><Relationship Type="http://schemas.openxmlformats.org/officeDocument/2006/relationships/notesMaster" Target="/ppt/notesMasters/notesMaster1.xml" Id="R9eb2b4bda3c0499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60f3ca57e63446a" /><Relationship Type="http://schemas.openxmlformats.org/officeDocument/2006/relationships/notesMaster" Target="/ppt/notesMasters/notesMaster1.xml" Id="Re562b47b0e8c4b4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83958449b1a4755" /><Relationship Type="http://schemas.openxmlformats.org/officeDocument/2006/relationships/notesMaster" Target="/ppt/notesMasters/notesMaster1.xml" Id="Rb3b7636201bf466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3ecbc257ce94a1b" /><Relationship Type="http://schemas.openxmlformats.org/officeDocument/2006/relationships/notesMaster" Target="/ppt/notesMasters/notesMaster1.xml" Id="R4462291a6ac04fd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f47e52dbde349c2" /><Relationship Type="http://schemas.openxmlformats.org/officeDocument/2006/relationships/notesMaster" Target="/ppt/notesMasters/notesMaster1.xml" Id="Rc24049560e29406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794c8e8746c4785" /><Relationship Type="http://schemas.openxmlformats.org/officeDocument/2006/relationships/notesMaster" Target="/ppt/notesMasters/notesMaster1.xml" Id="R37190c586d0e49e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717f3a0adb64c37" /><Relationship Type="http://schemas.openxmlformats.org/officeDocument/2006/relationships/notesMaster" Target="/ppt/notesMasters/notesMaster1.xml" Id="Rd89ba0cfdbf6426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35dfcf6d94440df" /><Relationship Type="http://schemas.openxmlformats.org/officeDocument/2006/relationships/notesMaster" Target="/ppt/notesMasters/notesMaster1.xml" Id="Re798f85b4bc3470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c7af90a0bcd45ff" /><Relationship Type="http://schemas.openxmlformats.org/officeDocument/2006/relationships/notesMaster" Target="/ppt/notesMasters/notesMaster1.xml" Id="R4556e9e15661474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43bbf3b30ff462c" /><Relationship Type="http://schemas.openxmlformats.org/officeDocument/2006/relationships/notesMaster" Target="/ppt/notesMasters/notesMaster1.xml" Id="R93c983616933450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9e31365094947d1" /><Relationship Type="http://schemas.openxmlformats.org/officeDocument/2006/relationships/notesMaster" Target="/ppt/notesMasters/notesMaster1.xml" Id="R2c671f6c56c142f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c971500a59a4a83" /><Relationship Type="http://schemas.openxmlformats.org/officeDocument/2006/relationships/notesMaster" Target="/ppt/notesMasters/notesMaster1.xml" Id="R546a1faccd8d451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66683c43c3e49dc" /><Relationship Type="http://schemas.openxmlformats.org/officeDocument/2006/relationships/notesMaster" Target="/ppt/notesMasters/notesMaster1.xml" Id="Rd7f41df66eb14dc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5125c41be6d43f8" /><Relationship Type="http://schemas.openxmlformats.org/officeDocument/2006/relationships/notesMaster" Target="/ppt/notesMasters/notesMaster1.xml" Id="Red43df38db6d405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Pembuka: cerita ini mengikuti perjalanan dari materi belajar dan dokumen kebutuhan sampai prototype tracking. Sumber visual: docs/ui/ui-state-1-success-intransit.webp.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Sumber: PRD Smart Tracking v4.0, bagian Problem Statement dan Success Metrics. Angka &gt;40% adalah kondisi masalah yang dinyatakan PRD; 25–35% adalah target pasca-MVP, bukan hasil yang sudah tercapai.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Sumber: PRD bagian User Roles &amp; Quantities; kebutuhan diringkas dari tujuan peran dan akses pada FRD. Volume adalah asumsi/profil dalam dokumen perancangan.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Sumber: PRD Feature Matrix; FRD F-01 sampai F-06; prototype/DOKUMENTASI.md. F-06 merupakan fallback dan cache manager di master FRD.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Sumber: PRD bagian Tech Stack/Constraints; FRD System Workflow; prototype/README.md. Prototype HTML/CSS + local navigation/demo mapping. React, Laravel, PostgreSQL, Redis, Gemini merupakan target arsitektur PRD, belum terhubung pada prototype.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Sumber: docs/flow map.md, prototype/FLOW.md, prototype/DOKUMENTASI.md, FRD AC-F.1–AC-F.4. Nomor 13 digit pada tombol demo adalah fixture lokal, bukan klaim format resi produksi.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Sumber: UI course PDF, bagian “Front-end yang enak dipakai, bukan cuma enak dilihat”; Modul FE W2D1; prototype/pages. Referensi layar adalah artefak desain UI yang diberikan pengguna.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Sumber: docs/database/database-design.md dan docs/database/erd-smart-tracking.webp; FRD bagian Data Utama dan workflow. Model tabel mendukung hasil UI; Redis adalah cache, bukan tabel relasional.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Sumber: docs/database/database-design.md; docs/database/erd-smart-tracking.webp. Desain mengikuti dataset sumber yang dinyatakan PRD: orders, order_items, sellers, customers, smart_logistics_context; tracking_events dan ai_narratives memperluas dukungan fitur.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Sumber: Modul FE W2D1, W2D2, W2D3. Modul W2D3 tersedia dua kali dengan checksum identik; dihitung satu kali. Prototype saat ini fokus HTML/CSS sesuai lingkup yang diminta, ditambah demo navigation/local sample mapping untuk alur.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Sumber: Modul FE W2D3 React Fundamentals; W2D4 React Hooks &amp; Context API; PRD menetapkan React + Tailwind untuk target widget. Catatan penting: prototype ini belum menggunakan React, hook, backend, Gemini, maupun Redis.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Sumber: MCP in Your IDE / Antigravity PDF; CLI Git Craftsmanship PPTX; branch 7-prototype dan git history repositori. Korelasi MCP: konteks repo dan tools membuat pekerjaan merujuk dokumen aktual. Bukti Git: branch remote dengan 8 commit modular. Contoh riwayat: ca596aa feat(prototype): add responsive design foundations; 329ac32 feat(prototype): add customer landing page; d0346d6 feat(prototype): add tracking search and transit state; 980aa1c feat(prototype): add shipment and recovery states; 2fe269a docs(prototype): add FRD mapping and submission PDF; da81a54 style(prototype): align the shared page header; 112f8d7 fix(prototype): correct footer shortcut destinations; 7f30f5d fix(prototype): prevent navigation link height overflow.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Sumber: PRD/FRD target deliverable 8 minggu / 4 sprint. Ini jadwal rancangan MVP, bukan bukti seluruh backend sudah selesai.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Penutup santai. Buka prototype pada index.html, pilih contoh resi untuk memperlihatkan transisi status. Tanyakan masukan terkait kejelasan flow, batas MVP, dan validasi requirement. Sumber visual: docs/ui/ui-state-4-error-404-not-found.webp.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d07456dc2d488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ac3baa7dc4a4d31" /><Relationship Type="http://schemas.openxmlformats.org/officeDocument/2006/relationships/slideLayout" Target="/ppt/slideLayouts/slideLayout1.xml" Id="R96387e0416b94e5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6387e0416b94e5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dc7bd25a6041c0" /><Relationship Type="http://schemas.openxmlformats.org/officeDocument/2006/relationships/image" Target="/ppt/media/image.jpeg" Id="R2b9ecb588f614602" /><Relationship Type="http://schemas.openxmlformats.org/officeDocument/2006/relationships/notesSlide" Target="/ppt/notesSlides/notesSlide1.xml" Id="Rc9bca646f1d6447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9dc1d379664aea" /><Relationship Type="http://schemas.openxmlformats.org/officeDocument/2006/relationships/notesSlide" Target="/ppt/notesSlides/notesSlide2.xml" Id="R45cc76584d8443a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d38e1af496462b" /><Relationship Type="http://schemas.openxmlformats.org/officeDocument/2006/relationships/notesSlide" Target="/ppt/notesSlides/notesSlide3.xml" Id="R2975d9936e034e9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ffe0f9e9e64b90" /><Relationship Type="http://schemas.openxmlformats.org/officeDocument/2006/relationships/notesSlide" Target="/ppt/notesSlides/notesSlide4.xml" Id="Rb3744bbed8a7468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b10f7b43fb4c26" /><Relationship Type="http://schemas.openxmlformats.org/officeDocument/2006/relationships/notesSlide" Target="/ppt/notesSlides/notesSlide5.xml" Id="R034fcc752b664a5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66e54a4674414d" /><Relationship Type="http://schemas.openxmlformats.org/officeDocument/2006/relationships/notesSlide" Target="/ppt/notesSlides/notesSlide6.xml" Id="Rc8ca29853bcc4b9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3b03aa4ed047e4" /><Relationship Type="http://schemas.openxmlformats.org/officeDocument/2006/relationships/image" Target="/ppt/media/image2.jpeg" Id="R88c189af46ea4724" /><Relationship Type="http://schemas.openxmlformats.org/officeDocument/2006/relationships/notesSlide" Target="/ppt/notesSlides/notesSlide7.xml" Id="Re9b7d66fb58e429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387b2f64a448dc" /><Relationship Type="http://schemas.openxmlformats.org/officeDocument/2006/relationships/image" Target="/ppt/media/image3.jpeg" Id="R4f6d4d038fc34853" /><Relationship Type="http://schemas.openxmlformats.org/officeDocument/2006/relationships/image" Target="/ppt/media/image.png" Id="Rf68d2e0f8c494244" /><Relationship Type="http://schemas.openxmlformats.org/officeDocument/2006/relationships/notesSlide" Target="/ppt/notesSlides/notesSlide8.xml" Id="Re3848894616848e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bf59893e2b4f8a" /><Relationship Type="http://schemas.openxmlformats.org/officeDocument/2006/relationships/notesSlide" Target="/ppt/notesSlides/notesSlide9.xml" Id="Rde8b4e7137b2482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401570c60f47af" /><Relationship Type="http://schemas.openxmlformats.org/officeDocument/2006/relationships/notesSlide" Target="/ppt/notesSlides/notesSlide10.xml" Id="R0af603b7dd414f0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48efbeb4664940" /><Relationship Type="http://schemas.openxmlformats.org/officeDocument/2006/relationships/notesSlide" Target="/ppt/notesSlides/notesSlide11.xml" Id="R951afe152944401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eebd97ee764363" /><Relationship Type="http://schemas.openxmlformats.org/officeDocument/2006/relationships/notesSlide" Target="/ppt/notesSlides/notesSlide12.xml" Id="Rd42ac829d364446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ce1dec32264b27" /><Relationship Type="http://schemas.openxmlformats.org/officeDocument/2006/relationships/notesSlide" Target="/ppt/notesSlides/notesSlide13.xml" Id="Rb3003da5938a4cb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d3a5a60a064e51" /><Relationship Type="http://schemas.openxmlformats.org/officeDocument/2006/relationships/image" Target="/ppt/media/image4.jpeg" Id="R7d5baaf1fc35488c" /><Relationship Type="http://schemas.openxmlformats.org/officeDocument/2006/relationships/notesSlide" Target="/ppt/notesSlides/notesSlide14.xml" Id="R848376eab8174d2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4538F2-00A4-449F-A237-297F30512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2333625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CEAF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7DC05A-A148-4AB1-8281-B11B7E178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4825"/>
            <a:ext cx="2143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PRESENTASI KELAS • 5W + 1H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CE4D0C-45EA-4F92-AFE1-DB5C3392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6191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Dari requirement</a:t>
            </a:r>
          </a:p>
          <a:p xmlns:a="http://schemas.openxmlformats.org/drawingml/2006/main">
            <a:pPr algn="l">
              <a:defRPr sz="3600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menjadi pengalaman</a:t>
            </a:r>
          </a:p>
          <a:p xmlns:a="http://schemas.openxmlformats.org/drawingml/2006/main">
            <a:pPr algn="l">
              <a:defRPr sz="3600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tracking yang jelas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717F2C-0A49-4B31-875A-5BF530B8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533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Korelasi materi pembelajaran dengan prototype</a:t>
            </a:r>
          </a:p>
          <a:p xmlns:a="http://schemas.openxmlformats.org/drawingml/2006/main">
            <a:pPr algn="l">
              <a:defRPr sz="1725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Anteraja Smart Tracking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1A9B57-DA36-4B50-8266-2E43FF4FF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33875"/>
            <a:ext cx="85725" cy="85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5007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A51263-699B-4911-B52C-0D0841B90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481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85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Demo alur pengguna • keputusan UI/UX • pembelajaran FE &amp; Git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474E09-613C-4595-9D9A-26F5D64D6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436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Untuk dosen dan teman sekelas  ·  7–10 menit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9ecb588f614602"/>
          <a:srcRect xmlns:a="http://schemas.openxmlformats.org/drawingml/2006/main" l="0" t="6172" r="0" b="61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0" y="457200"/>
            <a:ext cx="4286250" cy="5753100"/>
          </a:xfrm>
          <a:prstGeom xmlns:a="http://schemas.openxmlformats.org/drawingml/2006/main" prst="roundRect">
            <a:avLst>
              <a:gd name="adj" fmla="val 4000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A60413-5F41-4F07-8CAC-840D3F15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924550"/>
            <a:ext cx="1952625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7CC9DD-252F-41D1-B6A2-EE5690C5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934075"/>
            <a:ext cx="1762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SMART AI TRACKING</a:t>
            </a:r>
          </a:p>
        </p:txBody>
      </p:sp>
    </p:spTree>
    <p:extLst>
      <p:ext uri="{BB962C8B-B14F-4D97-AF65-F5344CB8AC3E}">
        <p14:creationId xmlns:p14="http://schemas.microsoft.com/office/powerpoint/2010/main" val="5580874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45EB57-776A-48F8-B69C-FE2B1ADE3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WHY • MASALAH YANG INGIN DIKURANGI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0DA6EB-A38E-4CAC-B99B-BAD0F496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Kenapa tracking ini dibuat?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59A37C-2AAB-46E4-8461-56846E37F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1E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FA7089-0B84-42EF-BCEA-6E89AF78A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ANTERAJA SMART TRACKING  •  CERITA BELAJAR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BBE61E-21EC-4697-BE2B-EB46095C0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02 / 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036D4B-7D6C-4A8A-BF8D-0994D8DB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504825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748389-BD2C-4B60-85B2-B7C22E118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85950"/>
            <a:ext cx="18288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CEAF3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D9FDB0-3675-434D-A59A-068BA3DF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95475"/>
            <a:ext cx="1638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MASALAH PENGGUNA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5F8224-722F-4B79-B29E-58778D60A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52675"/>
            <a:ext cx="4381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“Paket saya</a:t>
            </a:r>
          </a:p>
          <a:p xmlns:a="http://schemas.openxmlformats.org/drawingml/2006/main">
            <a:pPr algn="l">
              <a:defRPr sz="277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sudah sampai mana?”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8F5A28-4A04-4896-BBA0-D93BE53E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004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50070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E64BDA-A978-4848-9361-FEE46B4CA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14750"/>
            <a:ext cx="411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11A1D"/>
                </a:solidFill>
                <a:latin typeface="Arial"/>
                <a:ea typeface="Arial"/>
                <a:cs typeface="Arial"/>
              </a:rPr>
              <a:t>Kode status operasional sulit dipahami.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BC6612-8FCC-4EB6-8D74-8ADA6B82E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148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50070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013B6B-B938-40F8-AB2B-00D365440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29100"/>
            <a:ext cx="411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11A1D"/>
                </a:solidFill>
                <a:latin typeface="Arial"/>
                <a:ea typeface="Arial"/>
                <a:cs typeface="Arial"/>
              </a:rPr>
              <a:t>Rentang ETA terlalu lebar; pengguna cemas.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BA26AF-458C-44D8-BAE8-110ED57B4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29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50070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161406-7847-4276-A838-7438B9113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743450"/>
            <a:ext cx="411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11A1D"/>
                </a:solidFill>
                <a:latin typeface="Arial"/>
                <a:ea typeface="Arial"/>
                <a:cs typeface="Arial"/>
              </a:rPr>
              <a:t>Pertanyaan berulang menjadi tiket WISMO.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81273E-DFB1-4F96-B021-3537FE051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76400"/>
            <a:ext cx="56769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CEAF3"/>
          </a:solidFill>
          <a:ln xmlns:a="http://schemas.openxmlformats.org/drawingml/2006/main" w="9525">
            <a:solidFill>
              <a:srgbClr val="F5D4E4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81116F-1077-4226-A4DF-EB3495BA2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76450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123"/>
          </a:bodyPr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&gt;40%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B219D5-536D-4317-BD92-6A840ECFB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3028950"/>
            <a:ext cx="457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tiket Customer Service terkait</a:t>
            </a:r>
          </a:p>
          <a:p xmlns:a="http://schemas.openxmlformats.org/drawingml/2006/main">
            <a:pPr algn="l">
              <a:defRPr sz="1650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“Where Is My Order?”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E7400A-09A6-41A2-9CF5-FDEAA12DD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84810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C8D9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115E22-8959-41B7-A724-2ED388622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481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TARGET SETELAH MVP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4BDE4C-1A4C-49DF-A479-AAEF65C4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400550"/>
            <a:ext cx="295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927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−25–35%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6F2691-07C9-496D-8376-D54CA630B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0482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tiket WISMO  ·  latensi API &lt;2 detik p95</a:t>
            </a:r>
          </a:p>
        </p:txBody>
      </p:sp>
    </p:spTree>
    <p:extLst>
      <p:ext uri="{BB962C8B-B14F-4D97-AF65-F5344CB8AC3E}">
        <p14:creationId xmlns:p14="http://schemas.microsoft.com/office/powerpoint/2010/main" val="18297475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ABF2FC-9BE6-4226-A30C-E6A0A2190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WHO • TIGA KEBUTUHAN, SATU STATUS YANG TEPERCAYA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A6CF77-BC27-4133-972D-A3A5A0E08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Siapa yang memakai hasilnya?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726ECD-2302-44E4-A4E0-331E25134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1E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621614-BE6E-497D-AFC3-42B4E6C37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ANTERAJA SMART TRACKING  •  CERITA BELAJAR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B36A60-1BC9-4BD8-B7D4-2DF8881E4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03 / 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14F476-DB39-4ACC-B62F-31BE374E3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29000" cy="371475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5B1311-008B-4FDB-9A2C-2D1AC44E8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666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CEAF3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552CAA-41C6-4101-AA95-44384485B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B2C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C9147A-5E0F-4A4A-828B-0C807B86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9085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Penerima paket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8E3BC0-8C8D-4349-8A1C-80179243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909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≈15.000+ / hari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32A6EC-A85A-40C6-8CC7-4E154ED8C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48100"/>
            <a:ext cx="2971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1E5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40FFBA-31D6-404E-A916-6106F171C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67175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Ingin tahu posisi, ETA, dan arti status tanpa istilah teknis.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A2A5E2-78D9-41A4-B0C0-A1871741B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809750"/>
            <a:ext cx="3429000" cy="371475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A07F23-BE1D-43DE-97A5-8907D84C7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666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7F8F1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4994C4-14D6-4BDA-9F4A-9E05ABCC1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2A97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2A97B"/>
                </a:solidFill>
                <a:latin typeface="Arial"/>
                <a:ea typeface="Arial"/>
                <a:cs typeface="Arial"/>
              </a:rPr>
              <a:t>B2B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97D405-C01D-41C5-8F23-324A191DE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99085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Merchant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8AFEC9-E48F-47D4-A02C-8618837C9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909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2A97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2A97B"/>
                </a:solidFill>
                <a:latin typeface="Arial"/>
                <a:ea typeface="Arial"/>
                <a:cs typeface="Arial"/>
              </a:rPr>
              <a:t>≈500+ / hari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871BA7-9E20-473A-8CE4-B47288921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848100"/>
            <a:ext cx="2971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1E5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89C391-A6BB-45CB-92F3-922B576FB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67175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Memantau paket yang dikirim dan memberi jawaban ke pembeli.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2B9A59-A0FC-4FDA-B318-B6BD2DDF1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09750"/>
            <a:ext cx="3429000" cy="371475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710B2F-C782-4F3E-8143-87173F100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57400"/>
            <a:ext cx="666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0EBFF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0E80E3-1BE5-4CB1-9CE8-2AD3F408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57400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8058E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8058E8"/>
                </a:solidFill>
                <a:latin typeface="Arial"/>
                <a:ea typeface="Arial"/>
                <a:cs typeface="Arial"/>
              </a:rPr>
              <a:t>CS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FFEF6B-EEFF-4E53-B5E8-BA5630DA2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9085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Customer Service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6DF3C4-F939-4AB5-8616-A12C4817A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3909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058E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8058E8"/>
                </a:solidFill>
                <a:latin typeface="Arial"/>
                <a:ea typeface="Arial"/>
                <a:cs typeface="Arial"/>
              </a:rPr>
              <a:t>≈50 staf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92DE3A-053C-4521-83B8-2317C6EDA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48100"/>
            <a:ext cx="2971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1E5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D5519D-6EDA-49F9-A517-0F9A4097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67175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Mendapat ringkasan status dan konteks kendala untuk eskalasi.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ABD68B-0DCD-481F-ABEB-00CEB4C1D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Semua berangkat dari satu pertanyaan pengguna: “apa langkah berikutnya untuk paket saya?”</a:t>
            </a:r>
          </a:p>
        </p:txBody>
      </p:sp>
    </p:spTree>
    <p:extLst>
      <p:ext uri="{BB962C8B-B14F-4D97-AF65-F5344CB8AC3E}">
        <p14:creationId xmlns:p14="http://schemas.microsoft.com/office/powerpoint/2010/main" val="12398176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89E43B1-F36A-4E62-A5D9-FF269BB4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WHAT • FITUR FRD DITERJEMAHKAN KE KOMPONEN YANG TERLIHAT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A56E7F-1CCE-4017-8788-1E46276E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Apa yang dibangun?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152222-A475-42D3-8BCD-72ADE5992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1E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B73A8F-9DBA-4E22-862A-697FBADF6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ANTERAJA SMART TRACKING  •  CERITA BELAJAR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B49B26-C392-4B1B-8141-26D4336B9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04 / 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34DA1A-C74F-4989-95C9-61235721F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290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081C63-62FA-4A07-AA31-3207FD21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81200"/>
            <a:ext cx="6858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CEAF3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59A757-85E0-4926-B135-ABAFF43F8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9072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F-01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D47973-0F90-4551-8E33-42DBD745F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812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Cari resi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3F2794-4064-466D-9F3B-B5455B820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Input, validasi, loading, hasil/error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EBA907-C35C-4C17-ACFE-9CF28E1FC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809750"/>
            <a:ext cx="34290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7347A0-8D4A-47B1-9743-8C5820E68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81200"/>
            <a:ext cx="6858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7F8F1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650D85-7241-43ED-9D04-E9353291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9072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2A97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2A97B"/>
                </a:solidFill>
                <a:latin typeface="Arial"/>
                <a:ea typeface="Arial"/>
                <a:cs typeface="Arial"/>
              </a:rPr>
              <a:t>F-02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971316-1B61-43C6-957B-4FDD71B3F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812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Milestone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17D3AD-3D21-4B24-B7F6-505E87B16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813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Empat tahap perjalanan paket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FD5B42-D8A4-4483-994F-C1E51537C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09750"/>
            <a:ext cx="34290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04C313-F20E-4CC5-8B50-AB7C6940B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981200"/>
            <a:ext cx="6858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0EBFF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19BE29-4880-4E4E-9CA7-6E02EDD60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9072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058E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8058E8"/>
                </a:solidFill>
                <a:latin typeface="Arial"/>
                <a:ea typeface="Arial"/>
                <a:cs typeface="Arial"/>
              </a:rPr>
              <a:t>F-03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DC867A-E7D3-4170-994F-CF369E5B0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Narasi AI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DF5F66-AD38-4D23-B560-47C20CECE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7813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Status teknis jadi bahasa pelanggan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A4C055-9CA9-4FAE-99CC-D439373C6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34290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AA4D6C-9495-4189-881E-4E41B9FAD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29050"/>
            <a:ext cx="6858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5D9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6AC8BC-0072-4027-9B7D-A0948A8C9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3857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8A60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8A600"/>
                </a:solidFill>
                <a:latin typeface="Arial"/>
                <a:ea typeface="Arial"/>
                <a:cs typeface="Arial"/>
              </a:rPr>
              <a:t>F-04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C9A139-362F-4A1B-A5E0-B59869367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29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Peringatan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2F4662-F3AF-4B86-8967-A966CC1B0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291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Kendala terlihat dan dijelaskan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1DFFBE-2DC4-494E-A443-3C07F56D8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57600"/>
            <a:ext cx="34290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853F42-6499-4E24-BD1A-3DAC642E5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29050"/>
            <a:ext cx="6858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CEAF3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B03959-20C0-4D60-86DA-C393E5D67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3857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F-05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6FBAAC-4925-42DA-BAA5-4FE19A73D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29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Estimasi tiba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5AB55F-76C0-4E74-8AF9-0DE8720D9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291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Tanggal/jam ETA yang mudah dibaca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FC59267-5357-40B2-BBB8-48AD29D50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657600"/>
            <a:ext cx="34290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18AEABF-5BBB-414F-ACE5-6BAC6D8A9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29050"/>
            <a:ext cx="6858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9EDF3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89AE74-993A-4195-A7CC-3461D36C6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83857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0283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0283A"/>
                </a:solidFill>
                <a:latin typeface="Arial"/>
                <a:ea typeface="Arial"/>
                <a:cs typeface="Arial"/>
              </a:rPr>
              <a:t>F-06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D459DA9-375E-4F7C-A2EB-BCCD57D8E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29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Fallback &amp; cache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424B9C4-5265-497B-A50A-E9EA86454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291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Narasi cadangan saat AI gagal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F7DDBFF-7F15-49DA-B19D-B04B4BCD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PRD menetapkan ruang lingkup; FRD menjabarkan perilaku dan aturan bisnisnya.</a:t>
            </a:r>
          </a:p>
        </p:txBody>
      </p:sp>
    </p:spTree>
    <p:extLst>
      <p:ext uri="{BB962C8B-B14F-4D97-AF65-F5344CB8AC3E}">
        <p14:creationId xmlns:p14="http://schemas.microsoft.com/office/powerpoint/2010/main" val="3615366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21A535C-295D-42A9-A926-C13EF621C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WHERE • BEDAKAN YANG SUDAH DIDEMOKAN DAN YANG DIRENCANAKAN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3325B1-DF9D-455A-AF99-E8DA76D16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Di mana prototype berada dalam sistem?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B497B1-83A7-4B04-83B3-EF74BCF6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1E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5099A2-D22E-42A5-AAA4-B2F74A940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ANTERAJA SMART TRACKING  •  CERITA BELAJAR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38641A-3DF8-4DA5-A03B-76A767399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05 / 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F46070-4875-4B0B-AB1C-7D6A17F44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1838325"/>
          </a:xfrm>
          <a:prstGeom xmlns:a="http://schemas.openxmlformats.org/drawingml/2006/main" prst="roundRect">
            <a:avLst>
              <a:gd name="adj" fmla="val 41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91E3E2-0BDA-4546-BE15-0274A87F5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47850"/>
            <a:ext cx="21907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7F8F1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8E34E7-3618-45E9-81F0-5F6816AAD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57375"/>
            <a:ext cx="2000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2A97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2A97B"/>
                </a:solidFill>
                <a:latin typeface="Arial"/>
                <a:ea typeface="Arial"/>
                <a:cs typeface="Arial"/>
              </a:rPr>
              <a:t>SEKARANG • PROTOTYPE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99083C-99E7-444E-9395-BF257DBFE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05050"/>
            <a:ext cx="3009900" cy="866775"/>
          </a:xfrm>
          <a:prstGeom xmlns:a="http://schemas.openxmlformats.org/drawingml/2006/main" prst="roundRect">
            <a:avLst>
              <a:gd name="adj" fmla="val 8791"/>
            </a:avLst>
          </a:prstGeom>
          <a:solidFill xmlns:a="http://schemas.openxmlformats.org/drawingml/2006/main">
            <a:srgbClr val="F3EEF0"/>
          </a:solidFill>
          <a:ln xmlns:a="http://schemas.openxmlformats.org/drawingml/2006/main" w="9525">
            <a:solidFill>
              <a:srgbClr val="F3EEF0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B9D651-FC1B-4315-BECA-C68DC2B3E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90775"/>
            <a:ext cx="2705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Browser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B71B76-9379-467F-A117-5844BD333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47950"/>
            <a:ext cx="2705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HTML + CSS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F5CBB1-C809-4881-980E-2D5E2D01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2524125"/>
            <a:ext cx="34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59802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6AD6DD-360E-4626-AC28-148F63FA1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05050"/>
            <a:ext cx="3009900" cy="866775"/>
          </a:xfrm>
          <a:prstGeom xmlns:a="http://schemas.openxmlformats.org/drawingml/2006/main" prst="roundRect">
            <a:avLst>
              <a:gd name="adj" fmla="val 8791"/>
            </a:avLst>
          </a:prstGeom>
          <a:solidFill xmlns:a="http://schemas.openxmlformats.org/drawingml/2006/main">
            <a:srgbClr val="F3EEF0"/>
          </a:solidFill>
          <a:ln xmlns:a="http://schemas.openxmlformats.org/drawingml/2006/main" w="9525">
            <a:solidFill>
              <a:srgbClr val="F3EEF0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A3F2DE-205C-4419-A24D-3E74CFC7B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390775"/>
            <a:ext cx="2705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Demo route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0C066C-AC12-4803-8E96-4695B019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647950"/>
            <a:ext cx="2705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contoh resi → halaman state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508B2E-BA47-4BEA-8DB0-5A40E319A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524125"/>
            <a:ext cx="34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59802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6707AD-4ED7-4B26-AD38-749A991D9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05050"/>
            <a:ext cx="3009900" cy="866775"/>
          </a:xfrm>
          <a:prstGeom xmlns:a="http://schemas.openxmlformats.org/drawingml/2006/main" prst="roundRect">
            <a:avLst>
              <a:gd name="adj" fmla="val 8791"/>
            </a:avLst>
          </a:prstGeom>
          <a:solidFill xmlns:a="http://schemas.openxmlformats.org/drawingml/2006/main">
            <a:srgbClr val="F3EEF0"/>
          </a:solidFill>
          <a:ln xmlns:a="http://schemas.openxmlformats.org/drawingml/2006/main" w="9525">
            <a:solidFill>
              <a:srgbClr val="F3EEF0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A24830-5F9C-41D3-B1BB-E2E3F921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90775"/>
            <a:ext cx="2705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UI states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16DE83-0DFC-4603-9A8F-ED22C178E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47950"/>
            <a:ext cx="2705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13 halaman terhubung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2E2445-50C2-4EAC-B395-81CA9173C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20283A"/>
          </a:solidFill>
          <a:ln xmlns:a="http://schemas.openxmlformats.org/drawingml/2006/main" w="9525">
            <a:solidFill>
              <a:srgbClr val="20283A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031AE1-BA0F-41F8-941B-5C4199CD5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14775"/>
            <a:ext cx="2543175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373E5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B70B94-0366-46DE-849A-55D09EA5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24300"/>
            <a:ext cx="23526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TARGET MVP • SESUAI PRD/FRD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B11503-E7A5-4595-954F-03F2BF25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95800"/>
            <a:ext cx="23431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30384A"/>
          </a:solidFill>
          <a:ln xmlns:a="http://schemas.openxmlformats.org/drawingml/2006/main" w="9525">
            <a:solidFill>
              <a:srgbClr val="51586A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DA7E11-5666-4F81-AB66-7FCD3CA5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581525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C4D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C7C4D4"/>
                </a:solidFill>
                <a:latin typeface="Arial"/>
                <a:ea typeface="Arial"/>
                <a:cs typeface="Arial"/>
              </a:rPr>
              <a:t>Widget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0CC1E0-488F-4DB6-99BC-27B181CC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8768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React + Tailwind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135B1C-844A-455E-8A85-05B05880A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714875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48839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9BC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9BC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583750-A70E-4B17-9623-EE9B615F8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495800"/>
            <a:ext cx="23431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30384A"/>
          </a:solidFill>
          <a:ln xmlns:a="http://schemas.openxmlformats.org/drawingml/2006/main" w="9525">
            <a:solidFill>
              <a:srgbClr val="51586A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E00EB6-6B3B-4CE1-9941-AF69C768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581525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C4D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C7C4D4"/>
                </a:solidFill>
                <a:latin typeface="Arial"/>
                <a:ea typeface="Arial"/>
                <a:cs typeface="Arial"/>
              </a:rPr>
              <a:t>API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9DE199-F0B6-421E-8F16-2C5A02497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8768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Laravel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43FC1E-602D-4DE4-8433-DA3047BB3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714875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48839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9BC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9BC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9B50CC0-1463-418D-A343-23688DD1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495800"/>
            <a:ext cx="23431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30384A"/>
          </a:solidFill>
          <a:ln xmlns:a="http://schemas.openxmlformats.org/drawingml/2006/main" w="9525">
            <a:solidFill>
              <a:srgbClr val="51586A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FFBF323-2767-44BF-80A4-D67A26784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81525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C4D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C7C4D4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669A9DF-E59B-400D-8488-38959E3B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8768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PostgreSQL + Redis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4A80EB9-7AF7-46A1-B903-0582EBB46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714875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48839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9BC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9BC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CCAFC38-9517-4B07-B133-A44253B9C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495800"/>
            <a:ext cx="23431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30384A"/>
          </a:solidFill>
          <a:ln xmlns:a="http://schemas.openxmlformats.org/drawingml/2006/main" w="9525">
            <a:solidFill>
              <a:srgbClr val="51586A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27BF70A-0689-415C-9290-2D1FEE26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581525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C4D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C7C4D4"/>
                </a:solidFill>
                <a:latin typeface="Arial"/>
                <a:ea typeface="Arial"/>
                <a:cs typeface="Arial"/>
              </a:rPr>
              <a:t>Narrative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0354869-79A3-476D-975F-AC59F69BA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8768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Gemini + fallback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A9850C4-8D72-4322-802D-FD7DD911A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673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7E7E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7E7ED"/>
                </a:solidFill>
                <a:latin typeface="Arial"/>
                <a:ea typeface="Arial"/>
                <a:cs typeface="Arial"/>
              </a:rPr>
              <a:t>Batas demo: tidak ada lookup database atau tracking API sungguhan.</a:t>
            </a:r>
          </a:p>
        </p:txBody>
      </p:sp>
    </p:spTree>
    <p:extLst>
      <p:ext uri="{BB962C8B-B14F-4D97-AF65-F5344CB8AC3E}">
        <p14:creationId xmlns:p14="http://schemas.microsoft.com/office/powerpoint/2010/main" val="16397433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C0FBF0C-F168-4975-B829-715C9F36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HOW • INPUT → STATE → TINDAKAN BERIKUTNYA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239981-D00C-4A0D-A4BE-04687EB16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Bagaimana flow pengguna berjalan?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70A845-DD0F-4A0E-9177-ED139A9C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1E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B716D7-AAED-44E5-9482-5729E48BA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ANTERAJA SMART TRACKING  •  CERITA BELAJAR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2AC5BA-3743-4850-B3A4-219D2FCC8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06 / 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E699DC-81DA-494B-8A1F-D8150E95D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1571625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1AC8B4-F2DF-48CB-AF0F-4CC84C05C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50070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44173E-7883-4526-98FF-45512111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0DD793-4966-4A81-BC1E-7CF8A9CD5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14600"/>
            <a:ext cx="213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Beranda / Lacak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B45382-F47D-4F0F-84DE-BB7C74A33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009775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79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E26C76-ABC9-4E0E-8625-642A772E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9812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50070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A27D6D-6AF2-45C1-BD55-984CE82D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9812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FD6F06-D829-4255-BF23-81259232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14600"/>
            <a:ext cx="213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Isi nomor resi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37AEB6-D489-42AF-9059-6797B2CCE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009775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79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1649E3-84C8-4172-9493-ECD422637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812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50070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423231-59A9-45BE-9FC5-CA0D88F18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812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D99AF9-ACA9-4EAF-B256-844FB71DB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14600"/>
            <a:ext cx="213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Loading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D49F1F-575A-423D-AB04-7028CE04E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009775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79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CC3BE2-8EDD-4319-86EC-CD64EA93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9812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50070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A599AF-7378-4568-B043-E3FF0D6AF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9812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08CDB8-02D1-42DB-BC29-E14C38B11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514600"/>
            <a:ext cx="213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Hasil sesuai state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354970-3F23-4407-ADDF-DBA1E618D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TIGA CONTOH DEMO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BFD54D-66BA-433B-8903-7590A2209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3429000" cy="1438275"/>
          </a:xfrm>
          <a:prstGeom xmlns:a="http://schemas.openxmlformats.org/drawingml/2006/main" prst="roundRect">
            <a:avLst>
              <a:gd name="adj" fmla="val 52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1F1D76-D6BA-45D0-A0EA-E77272DCC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433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A97B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012562-7A21-4C42-9E01-A2A857F11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48125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952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In-Transit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4222B7-A74C-410C-A413-20121F744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29125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#1000849201994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864573-7DBB-4241-AFC3-5A6514A35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26670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7F8F1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81AC4C-8146-4F56-9106-D8FEDD299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67275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2A97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2A97B"/>
                </a:solidFill>
                <a:latin typeface="Arial"/>
                <a:ea typeface="Arial"/>
                <a:cs typeface="Arial"/>
              </a:rPr>
              <a:t>tracking-normal.html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4B6396-C64C-4AC4-ADBD-11F009584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3429000" cy="1438275"/>
          </a:xfrm>
          <a:prstGeom xmlns:a="http://schemas.openxmlformats.org/drawingml/2006/main" prst="roundRect">
            <a:avLst>
              <a:gd name="adj" fmla="val 52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B2B7F27-479A-48D4-A9D5-FFE4870F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1433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058E8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A7A317A-FAD6-4FB6-A035-C6BBF0F58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048125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952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Live map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79CFD45-70A4-4D36-92CD-702F3E1C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29125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#1000921477821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78D11A8-5863-4D42-8415-6880398E5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857750"/>
            <a:ext cx="26670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0EBFF"/>
          </a:solidFill>
          <a:ln xmlns:a="http://schemas.openxmlformats.org/drawingml/2006/main" w="0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970063-EAEF-42F1-B2FB-6D3F9B0C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867275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058E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8058E8"/>
                </a:solidFill>
                <a:latin typeface="Arial"/>
                <a:ea typeface="Arial"/>
                <a:cs typeface="Arial"/>
              </a:rPr>
              <a:t>tracking-live.html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FA2EC2E-9239-42D9-A819-EDCD34C54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43350"/>
            <a:ext cx="3429000" cy="1438275"/>
          </a:xfrm>
          <a:prstGeom xmlns:a="http://schemas.openxmlformats.org/drawingml/2006/main" prst="roundRect">
            <a:avLst>
              <a:gd name="adj" fmla="val 52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69234AC-915E-4063-A9DC-C7C9EE40D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1433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600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FC21E1A-E315-4DB4-9D3C-DFCB0033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48125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952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Peringatan jalur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0439B9F-9DCC-4061-BE18-455A3051C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429125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#1000781293812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1CE5AD1-3143-4CC3-88EE-BED33DE45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857750"/>
            <a:ext cx="26670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5D9"/>
          </a:solidFill>
          <a:ln xmlns:a="http://schemas.openxmlformats.org/drawingml/2006/main" w="0">
            <a:noFill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C0D9559-4E66-41AB-A492-FF18697B3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67275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8A60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8A600"/>
                </a:solidFill>
                <a:latin typeface="Arial"/>
                <a:ea typeface="Arial"/>
                <a:cs typeface="Arial"/>
              </a:rPr>
              <a:t>tracking.html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53EEB7B-61F6-45FA-9441-4B5ECFF3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Validasi, tidak ditemukan, dibatalkan, tiba, fallback, dan gangguan layanan punya state tersendiri.</a:t>
            </a:r>
          </a:p>
        </p:txBody>
      </p:sp>
    </p:spTree>
    <p:extLst>
      <p:ext uri="{BB962C8B-B14F-4D97-AF65-F5344CB8AC3E}">
        <p14:creationId xmlns:p14="http://schemas.microsoft.com/office/powerpoint/2010/main" val="112985150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9A625D-7384-405D-ADFC-C6A458004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HOW • VISUAL YANG RAPI HARUS MENYELESAIKAN TUGAS PENGGUNA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315547-D82F-4ED9-91A3-F9AF444C3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Apa yang dipelajari soal UI/UX?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BC68F3-B5B7-405E-BEA1-6526642F6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1E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73A87E-595B-4B66-8916-873100CAA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ANTERAJA SMART TRACKING  •  CERITA BELAJAR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1F7CC7-6946-46F1-9D86-F443108C9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07 / 14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c189af46ea4724"/>
          <a:srcRect xmlns:a="http://schemas.openxmlformats.org/drawingml/2006/main" l="0" t="9237" r="0" b="92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66875"/>
            <a:ext cx="3143250" cy="4324350"/>
          </a:xfrm>
          <a:prstGeom xmlns:a="http://schemas.openxmlformats.org/drawingml/2006/main" prst="roundRect">
            <a:avLst>
              <a:gd name="adj" fmla="val 5455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06591C-754F-4534-99FA-E9F4AF181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666875"/>
            <a:ext cx="7486650" cy="4324350"/>
          </a:xfrm>
          <a:prstGeom xmlns:a="http://schemas.openxmlformats.org/drawingml/2006/main" prst="roundRect">
            <a:avLst>
              <a:gd name="adj" fmla="val 1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85CF45-A5DD-4FD5-9AFA-F445CE5F5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943100"/>
            <a:ext cx="5143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CEAF3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7FFAE0-A47E-42A1-8251-AC578224A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952625"/>
            <a:ext cx="323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79240E-B206-4BC2-B2E1-9B89187F2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9240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Hierarki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439956-A554-4D4A-8B01-9834189A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200275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resi dan ETA terbaca dulu; status berikutnya jelas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EC3AE8-DA91-4232-9A27-1765B2058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38425"/>
            <a:ext cx="5143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5D9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C74706-1CA0-4692-9DF2-93EE3BEC9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647950"/>
            <a:ext cx="323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8A60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8A60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F89786-A8C7-40AA-A670-738A6B043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619375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Kelengkapan state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1B0AD1-8B21-4059-9A11-C96131250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956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success, loading, invalid, not-found, fallback, service-error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36F6ED-139B-4026-ADEC-FBA38BEF2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333750"/>
            <a:ext cx="5143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CEAF3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9E11E1-2308-4723-B5F0-8BA4CE84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343275"/>
            <a:ext cx="323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510573-73A6-4D9E-B14A-5265F376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31470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Pola familier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B9B7BB-943F-439F-A7C4-C9A358280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590925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form, tombol, navigasi, dan pesan yang tidak mengejutkan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022D6F-89F3-43EA-B170-7EAF3899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29075"/>
            <a:ext cx="5143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CEAF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E71DCF-7DFC-4494-92E9-F24D56EB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38600"/>
            <a:ext cx="323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CAD322-081A-4CF2-A790-240AE106F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010025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Responsive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D7AE86-CEDD-4C7E-B368-62B93566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2862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grid desktop diringkas menjadi alur vertikal di ponsel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FC79CE-2770-4380-909D-80EC8EE89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724400"/>
            <a:ext cx="5143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CEAF3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883F69-1E1B-48C4-8343-AD7F916FA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733925"/>
            <a:ext cx="323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3173F0-548A-46A8-9C59-BDB8A486D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7053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Aksesibilitas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C24BF1-BC28-4BE8-B412-84A100BC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981575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semantic HTML, label form, fokus keyboard, reduced motion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F5C684-5EDC-4C45-84FA-4BAC2236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514975"/>
            <a:ext cx="68389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F0EBFF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351274-C46E-429F-A177-B8F5D0C7E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534025"/>
            <a:ext cx="6572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667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058E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058E8"/>
                </a:solidFill>
                <a:latin typeface="Arial"/>
                <a:ea typeface="Arial"/>
                <a:cs typeface="Arial"/>
              </a:rPr>
              <a:t>tracking.html memuat JSON-LD Schema.org ParcelDelivery + DeliveryEvent</a:t>
            </a:r>
          </a:p>
        </p:txBody>
      </p:sp>
    </p:spTree>
    <p:extLst>
      <p:ext uri="{BB962C8B-B14F-4D97-AF65-F5344CB8AC3E}">
        <p14:creationId xmlns:p14="http://schemas.microsoft.com/office/powerpoint/2010/main" val="662403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2FAEB3-CE82-4578-A277-55EBBBA0B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HOW • ERD MENGHUBUNGKAN STATUS, KONTEKS, DAN NARASI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CA2A97-609D-4737-BEBE-7FE835FB8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Bagaimana kebutuhan UI jadi model data?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F30E48-E715-4AE9-8BD8-4560AC5E3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1E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29E260-13E2-4BE7-AD1C-02AC1676F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ANTERAJA SMART TRACKING  •  CERITA BELAJAR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72B1B5-DAFF-4A37-A2A8-098B2C862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08 / 14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6d4d038fc34853"/>
          <a:srcRect xmlns:a="http://schemas.openxmlformats.org/drawingml/2006/main" l="0" t="462" r="0" b="4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95450"/>
            <a:ext cx="4953000" cy="3067050"/>
          </a:xfrm>
          <a:prstGeom xmlns:a="http://schemas.openxmlformats.org/drawingml/2006/main" prst="roundRect">
            <a:avLst>
              <a:gd name="adj" fmla="val 5590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3F9A2D-962E-4D94-8437-D285ABDCF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4953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CEAF3"/>
          </a:solidFill>
          <a:ln xmlns:a="http://schemas.openxmlformats.org/drawingml/2006/main" w="9525">
            <a:solidFill>
              <a:srgbClr val="F3D7E4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6EDB16-E144-469C-A973-63BEAA868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76825"/>
            <a:ext cx="4552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UI bertanya: status apa, di mana, kapan,</a:t>
            </a:r>
          </a:p>
          <a:p xmlns:a="http://schemas.openxmlformats.org/drawingml/2006/main">
            <a:pPr algn="l">
              <a:defRPr sz="142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dan apakah ada kendala?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8d2e0f8c494244"/>
          <a:srcRect xmlns:a="http://schemas.openxmlformats.org/drawingml/2006/main" l="2394" t="0" r="239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10250" y="1695450"/>
            <a:ext cx="5772150" cy="4210050"/>
          </a:xfrm>
          <a:prstGeom xmlns:a="http://schemas.openxmlformats.org/drawingml/2006/main" prst="roundRect">
            <a:avLst>
              <a:gd name="adj" fmla="val 4072"/>
            </a:avLst>
          </a:prstGeom>
        </p:spPr>
      </p:pic>
    </p:spTree>
    <p:extLst>
      <p:ext uri="{BB962C8B-B14F-4D97-AF65-F5344CB8AC3E}">
        <p14:creationId xmlns:p14="http://schemas.microsoft.com/office/powerpoint/2010/main" val="170324487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FA33FD-6B51-49A7-B58E-A2664F440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HOW • DATA RELASIONAL MENJAGA TAMPILAN KONSISTEN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91658E-09E9-4D67-8DFD-11798C57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Tabel inti punya tugas yang berbeda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3DA4CC-3A4F-44D3-A430-F361205C1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1E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8EA958-550D-4834-8EAB-B1BE65EC7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ANTERAJA SMART TRACKING  •  CERITA BELAJAR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81902B-7EEE-4F8C-ACC9-9964DFE37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09 / 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26BADF-7663-455D-8318-FDEA22D14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342900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839360-00A1-41F8-92D0-1C0873C4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81200"/>
            <a:ext cx="1143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50070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851CBF-B81D-48A0-8D2A-67E569503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96215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orders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324A61-5291-4C66-995A-442DC724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62200"/>
            <a:ext cx="27241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identitas resi, status, dan ETA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779585-C8FA-4584-BF45-046EF6C36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71650"/>
            <a:ext cx="342900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D284EA-629A-4B6C-AD6F-FFCC4C5A4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81200"/>
            <a:ext cx="1143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A97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7FEE76-14BD-4091-9256-BF7CE63A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96215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order_items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CE1A17-FC8B-49CB-977A-9E7CAF3A4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62200"/>
            <a:ext cx="27241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barang, kuantitas, nilai, ongkir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8CCD0A-A180-43D5-84AD-2E0524462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771650"/>
            <a:ext cx="342900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AD768C-278A-4760-B54B-87C32473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981200"/>
            <a:ext cx="1143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058E8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3F3BC6-FD43-46CB-AA19-D992E353C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6215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sellers / customers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6885F7-2DFB-481C-BD0D-5CD82F203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362200"/>
            <a:ext cx="27241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kota asal dan tujuan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946E5A-42D6-43AC-BCB8-5442B5F2A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342900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1791EE-A4B0-4898-B298-0DBF2EFE2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90950"/>
            <a:ext cx="1143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A600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946511-00EA-4AB2-8912-82EC4CA0A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7190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smart_logistics_context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606876-EA5F-435D-883E-7558093C1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71950"/>
            <a:ext cx="27241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cuaca, trafik, alasan delay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C29148-A0A2-49EF-AAB9-C76D50800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81400"/>
            <a:ext cx="342900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88B24E-F85A-4482-A982-1296A39EF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90950"/>
            <a:ext cx="1143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50070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E980EF-0F5E-4C80-8C88-9B327C350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77190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tracking_events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4AB2B6-4673-47F9-906B-43F99C5E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171950"/>
            <a:ext cx="27241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timeline / milestone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93D94E4-7936-414F-A033-169EA570B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81400"/>
            <a:ext cx="342900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749F63-D083-4897-8EB0-B600CAA2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90950"/>
            <a:ext cx="1143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283A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AE04D0-48CC-4741-AB37-B18E210D1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77190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ai_narratives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621C4E-2433-443D-9A24-2110EB8BF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171950"/>
            <a:ext cx="27241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narasi, fallback, waktu dibuat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7095F3-5B12-411C-89AE-34AE6A412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Join yang tepat membuat stepper, narasi, warning, dan ETA bercerita dari data yang sama.</a:t>
            </a:r>
          </a:p>
        </p:txBody>
      </p:sp>
    </p:spTree>
    <p:extLst>
      <p:ext uri="{BB962C8B-B14F-4D97-AF65-F5344CB8AC3E}">
        <p14:creationId xmlns:p14="http://schemas.microsoft.com/office/powerpoint/2010/main" val="176278889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BC8DA7-0A43-4BF0-B723-1B6DD2B31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HOW • DARI STRUKTUR HALAMAN KE INTERAKSI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B7CCD4-9746-400F-A79B-4B6BB880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Materi Front-End mana yang langsung terasa?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F3EB6F-F965-491D-A053-D54E64BD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1E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41021F-9FB2-4A84-A63E-CC63FDA4D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ANTERAJA SMART TRACKING  •  CERITA BELAJAR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C1658A-FEE6-4ED5-9196-B78A3B69B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10 / 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046527-1BCF-478E-A721-E075C616C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5680A9-E914-446B-83EF-5B77C53D8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43100"/>
            <a:ext cx="8572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CEAF3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D39E26-975C-44A8-9F3C-541B39C9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52625"/>
            <a:ext cx="66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W2D1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D37099-E387-4BF4-8C17-29B69B88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857375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HTML semantik • CSS • grid/responsif • JSON-LD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7019F6-1792-4D32-9522-6D733E3A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228850"/>
            <a:ext cx="923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Prototype punya 13 halaman, breakpoint, dan ParcelDelivery JSON-LD.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6B063C-3515-460D-B77D-D06F50AAD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109728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86D625-67F1-4C6C-B8CB-F81C50FB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48025"/>
            <a:ext cx="8572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7F8F1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3B4280-563E-48D1-9E9F-A0F6B7D45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57550"/>
            <a:ext cx="66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2A97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2A97B"/>
                </a:solidFill>
                <a:latin typeface="Arial"/>
                <a:ea typeface="Arial"/>
                <a:cs typeface="Arial"/>
              </a:rPr>
              <a:t>W2D2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2BC630-3349-4567-9545-9E0957FC9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162300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JavaScript • DOM/event • validasi • data async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030601-BC20-40AF-8D35-C5E0838BA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533775"/>
            <a:ext cx="923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Demo resi berpindah ke fixture state lokal; belum API async.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1C7507-222F-43A9-B72A-FA19B4CB0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109728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9BD7D1-A223-4F3B-9EF1-231DF976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52950"/>
            <a:ext cx="8572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0EBFF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A9BFB4-989F-4E0B-B51C-868134C3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62475"/>
            <a:ext cx="66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6519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058E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8058E8"/>
                </a:solidFill>
                <a:latin typeface="Arial"/>
                <a:ea typeface="Arial"/>
                <a:cs typeface="Arial"/>
              </a:rPr>
              <a:t>Hasil belajar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1D4977-F41F-4529-A873-D96368348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467225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Mulai dari struktur dan alur yang bisa diuji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C67570-67B9-4147-A5E8-A82C8CE3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38700"/>
            <a:ext cx="923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Satu halaman = satu state; tombol dan navigasi saling terhubung.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E9146E-C773-425A-A5C3-104F29383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Yang dipinjam dari modul: bukan sekadar sintaks, tetapi pola validasi, state, dan responsivitas.</a:t>
            </a:r>
          </a:p>
        </p:txBody>
      </p:sp>
    </p:spTree>
    <p:extLst>
      <p:ext uri="{BB962C8B-B14F-4D97-AF65-F5344CB8AC3E}">
        <p14:creationId xmlns:p14="http://schemas.microsoft.com/office/powerpoint/2010/main" val="109062825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5D041D6-0D8F-422A-9A93-54C4D087A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HOW • PROTOTYPE JADI PETA MIGRASI, BUKAN KLAIM IMPLEMENTASI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00095-1C9E-46DD-97CA-3E460B25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Ke mana materi React dan hooks mengarah?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B22CC0-FF92-4745-A501-0C62DA9C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1E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CA5E37-2C0E-46CF-B3D9-C127A6A0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ANTERAJA SMART TRACKING  •  CERITA BELAJAR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E1E019-0B0A-4380-A846-26ADFFACF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11 / 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F5045B-FBF9-48C9-8A9B-58D1D967C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4914900" cy="3848100"/>
          </a:xfrm>
          <a:prstGeom xmlns:a="http://schemas.openxmlformats.org/drawingml/2006/main" prst="roundRect">
            <a:avLst>
              <a:gd name="adj" fmla="val 19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B53674-D0B0-4B95-90A1-57FE43072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24050"/>
            <a:ext cx="1952625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7F8F1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52060A-0684-4585-BE4C-29BEC8170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33575"/>
            <a:ext cx="1762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2A97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2A97B"/>
                </a:solidFill>
                <a:latin typeface="Arial"/>
                <a:ea typeface="Arial"/>
                <a:cs typeface="Arial"/>
              </a:rPr>
              <a:t>PROTOTYPE SEKARANG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349B09-B469-4FEA-8EBC-95A37EB0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0300"/>
            <a:ext cx="4419600" cy="390525"/>
          </a:xfrm>
          <a:prstGeom xmlns:a="http://schemas.openxmlformats.org/drawingml/2006/main" prst="roundRect">
            <a:avLst>
              <a:gd name="adj" fmla="val 19512"/>
            </a:avLst>
          </a:prstGeom>
          <a:solidFill xmlns:a="http://schemas.openxmlformats.org/drawingml/2006/main">
            <a:srgbClr val="FCEAF3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5EAA02-65E7-43D6-BAF3-AE32CCA70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288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Header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274AF2-2852-4C99-8F6A-766BBED82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428875"/>
            <a:ext cx="2533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navigasi global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4D9C50-99D3-4FF0-A30B-6747B214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24175"/>
            <a:ext cx="4419600" cy="390525"/>
          </a:xfrm>
          <a:prstGeom xmlns:a="http://schemas.openxmlformats.org/drawingml/2006/main" prst="roundRect">
            <a:avLst>
              <a:gd name="adj" fmla="val 19512"/>
            </a:avLst>
          </a:prstGeom>
          <a:solidFill xmlns:a="http://schemas.openxmlformats.org/drawingml/2006/main">
            <a:srgbClr val="F3EEF0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26C907-A34C-42CE-8092-9D13215D7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527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Search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FA3BB3-C245-45B5-A637-1FF93EDF3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52750"/>
            <a:ext cx="2533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input + validasi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C02D1D-0F73-4B01-935D-F080CEDAD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48050"/>
            <a:ext cx="4419600" cy="390525"/>
          </a:xfrm>
          <a:prstGeom xmlns:a="http://schemas.openxmlformats.org/drawingml/2006/main" prst="roundRect">
            <a:avLst>
              <a:gd name="adj" fmla="val 19512"/>
            </a:avLst>
          </a:prstGeom>
          <a:solidFill xmlns:a="http://schemas.openxmlformats.org/drawingml/2006/main">
            <a:srgbClr val="FCEAF3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5B15C2-E458-4354-8FDA-7C70C3772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7662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Stepper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B1041F-5A83-42F2-9A25-068BC42E5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76625"/>
            <a:ext cx="2533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status 4 tahap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140086-6F25-4537-9C38-CA8A78841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71925"/>
            <a:ext cx="4419600" cy="390525"/>
          </a:xfrm>
          <a:prstGeom xmlns:a="http://schemas.openxmlformats.org/drawingml/2006/main" prst="roundRect">
            <a:avLst>
              <a:gd name="adj" fmla="val 19512"/>
            </a:avLst>
          </a:prstGeom>
          <a:solidFill xmlns:a="http://schemas.openxmlformats.org/drawingml/2006/main">
            <a:srgbClr val="F3EEF0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1EED75-F7FF-4601-A8A4-178F60FAD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005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Narrative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EDA60B-34E9-4EE0-815C-287D309F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000500"/>
            <a:ext cx="2533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AI / fallback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719BE8-5D6C-4409-A75D-71C988B7F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95800"/>
            <a:ext cx="4419600" cy="390525"/>
          </a:xfrm>
          <a:prstGeom xmlns:a="http://schemas.openxmlformats.org/drawingml/2006/main" prst="roundRect">
            <a:avLst>
              <a:gd name="adj" fmla="val 19512"/>
            </a:avLst>
          </a:prstGeom>
          <a:solidFill xmlns:a="http://schemas.openxmlformats.org/drawingml/2006/main">
            <a:srgbClr val="FCEAF3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B06427-F5FC-4E84-A254-580F14F7C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5243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Warning + ETA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C9EEF8-05C7-437F-96DA-B6168EB84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524375"/>
            <a:ext cx="2533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exception state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9C76C6-158A-4720-8620-4AF9DABCF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90875"/>
            <a:ext cx="66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75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9C2DBB-36DE-40BD-A104-D1157BF1B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14500"/>
            <a:ext cx="5048250" cy="3848100"/>
          </a:xfrm>
          <a:prstGeom xmlns:a="http://schemas.openxmlformats.org/drawingml/2006/main" prst="roundRect">
            <a:avLst>
              <a:gd name="adj" fmla="val 1980"/>
            </a:avLst>
          </a:prstGeom>
          <a:solidFill xmlns:a="http://schemas.openxmlformats.org/drawingml/2006/main">
            <a:srgbClr val="20283A"/>
          </a:solidFill>
          <a:ln xmlns:a="http://schemas.openxmlformats.org/drawingml/2006/main" w="9525">
            <a:solidFill>
              <a:srgbClr val="20283A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BE4C5D-5F5A-4EA6-8741-0EB4D59E9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924050"/>
            <a:ext cx="18097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434A5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918B87-5260-49F3-BE82-3F6FA27E7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33575"/>
            <a:ext cx="161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PORTING KE REACT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96DAB1E-D368-417A-94E9-9FEF999F3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4574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Component + props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FFC6ED3-D13F-49AE-81AE-B675E7E8B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724150"/>
            <a:ext cx="4476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667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8C7D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C7D0"/>
                </a:solidFill>
                <a:latin typeface="Arial"/>
                <a:ea typeface="Arial"/>
                <a:cs typeface="Arial"/>
              </a:rPr>
              <a:t>bagikan komponen antar state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902BF3-3DC2-43DD-852E-33B4B7A4B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1337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useState + events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E7F7BCE-60F9-48FC-BA5A-601B9B2FC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400425"/>
            <a:ext cx="4476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667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8C7D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C7D0"/>
                </a:solidFill>
                <a:latin typeface="Arial"/>
                <a:ea typeface="Arial"/>
                <a:cs typeface="Arial"/>
              </a:rPr>
              <a:t>form dan state interaktif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471969-80E3-41E6-940D-853D458AA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8100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useEffect + API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2D3A34-61AF-466D-8A2F-877D5A834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076700"/>
            <a:ext cx="4476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667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8C7D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C7D0"/>
                </a:solidFill>
                <a:latin typeface="Arial"/>
                <a:ea typeface="Arial"/>
                <a:cs typeface="Arial"/>
              </a:rPr>
              <a:t>fetch tracking &amp; lifecycle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AABC16C-F5D2-4A4D-B4CA-E806D36BD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4862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Context / hooks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FFD8289-4A5C-40FF-BADA-6F229665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752975"/>
            <a:ext cx="4476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667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8C7D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C7D0"/>
                </a:solidFill>
                <a:latin typeface="Arial"/>
                <a:ea typeface="Arial"/>
                <a:cs typeface="Arial"/>
              </a:rPr>
              <a:t>state lintas komponen dan reuse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55E94B5-EE4F-4B96-990E-F41CFD298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Langkah berikutnya: ganti fixture lokal dengan API sambil pertahankan komponen dan state UI.</a:t>
            </a:r>
          </a:p>
        </p:txBody>
      </p:sp>
    </p:spTree>
    <p:extLst>
      <p:ext uri="{BB962C8B-B14F-4D97-AF65-F5344CB8AC3E}">
        <p14:creationId xmlns:p14="http://schemas.microsoft.com/office/powerpoint/2010/main" val="36707801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FB132D1-B1CB-4908-8662-A6FBC772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HOW • KONTEKS KERJA + JEJAK PERUBAHAN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267F5C-F670-455C-9803-D2EA13029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Bagaimana tools dan Git menjaga prosesnya?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A6DD5C-8883-410C-858F-C0CE4D2AA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1E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9798DA-8F16-4096-84EB-6036F2BCD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ANTERAJA SMART TRACKING  •  CERITA BELAJAR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2D3D8E-7E0D-4E6A-B845-E32A690AE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12 / 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600A3C-B2E6-4187-9ADD-681C1280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5219700" cy="3733800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4D026D-6B97-4E5D-BB63-B47384FA8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62150"/>
            <a:ext cx="23431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0EB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A87DD1-901A-42E2-A9D5-B3B761DD0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71675"/>
            <a:ext cx="21526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058E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8058E8"/>
                </a:solidFill>
                <a:latin typeface="Arial"/>
                <a:ea typeface="Arial"/>
                <a:cs typeface="Arial"/>
              </a:rPr>
              <a:t>MCP • KONTEKS DALAM IDE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BB856A-386F-41D3-BA3C-0DD2BA97D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Bukan prompt kosong.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08B9C5-895A-4603-8808-1B33A999C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62275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Konteks repo membantu menghubungkan: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D20E3C-A852-415E-A1D9-7C8C4D5E8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766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058E8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64FAF4-36CD-40F1-BEC0-04A77DC1F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43275"/>
            <a:ext cx="4381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11A1D"/>
                </a:solidFill>
                <a:latin typeface="Arial"/>
                <a:ea typeface="Arial"/>
                <a:cs typeface="Arial"/>
              </a:rPr>
              <a:t>PRD + FRD sebagai sumber kebutuhan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BB9CE4-2902-4C5D-865A-B450870FC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862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058E8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93A057-1767-457A-B87D-09DA40A1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52850"/>
            <a:ext cx="4381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11A1D"/>
                </a:solidFill>
                <a:latin typeface="Arial"/>
                <a:ea typeface="Arial"/>
                <a:cs typeface="Arial"/>
              </a:rPr>
              <a:t>Flow map sebagai alur yang harus diikuti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700F93-F880-48BA-83FB-28FCF4478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95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058E8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8D1AAB-DCB3-4911-B4A7-954F5F942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62425"/>
            <a:ext cx="4381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11A1D"/>
                </a:solidFill>
                <a:latin typeface="Arial"/>
                <a:ea typeface="Arial"/>
                <a:cs typeface="Arial"/>
              </a:rPr>
              <a:t>File prototype sebagai implementasi yang ditinjau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61C385-5646-4060-967F-AE0B79D7A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053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058E8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1CF9E3-4986-4ACD-8B09-10C625939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72000"/>
            <a:ext cx="4381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11A1D"/>
                </a:solidFill>
                <a:latin typeface="Arial"/>
                <a:ea typeface="Arial"/>
                <a:cs typeface="Arial"/>
              </a:rPr>
              <a:t>Browser / screenshot sebagai umpan balik visual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AD0733-D878-4DAD-9E12-A1BB156B9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752600"/>
            <a:ext cx="5505450" cy="3733800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20283A"/>
          </a:solidFill>
          <a:ln xmlns:a="http://schemas.openxmlformats.org/drawingml/2006/main" w="9525">
            <a:solidFill>
              <a:srgbClr val="20283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7A21C8-CD76-4FDE-89C0-0DB4AAA5B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62150"/>
            <a:ext cx="24003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434A5C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B5D4DD-FD26-4BA9-93C7-53C6C562A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71675"/>
            <a:ext cx="2209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GIT • PERUBAHAN TERLACAK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8B685B-BD45-4573-8D8A-AA01115F6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8 commit modular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1F5D4C-0B63-48ED-9B2F-C03FB988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9432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AC8D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AC8D1"/>
                </a:solidFill>
                <a:latin typeface="Arial"/>
                <a:ea typeface="Arial"/>
                <a:cs typeface="Arial"/>
              </a:rPr>
              <a:t>fondasi → halaman → dokumentasi → perapian navigasi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341730-FC11-4D2C-B30F-EC4F2DD39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5623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50070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7320E5-C66F-4D95-8956-B95AF22AC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5623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468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B79B3D-8236-40A4-BAD3-38BE4E2E3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552825"/>
            <a:ext cx="1952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Buat branch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3D114B0-F4F8-4B05-B412-558934A85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52825"/>
            <a:ext cx="2333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AC8D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CAC8D1"/>
                </a:solidFill>
                <a:latin typeface="Arial"/>
                <a:ea typeface="Arial"/>
                <a:cs typeface="Arial"/>
              </a:rPr>
              <a:t>7-prototype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B23DE0-37AB-453B-B9B6-0447D4E51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671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50070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AF5CB4-F89B-4040-A360-FAE431E46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671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468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DA02B4-C965-40C7-9676-77310CC56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57650"/>
            <a:ext cx="1952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Commit per bagian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71E6AB3-9FE8-4CEA-AF69-416B047B8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057650"/>
            <a:ext cx="2333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AC8D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CAC8D1"/>
                </a:solidFill>
                <a:latin typeface="Arial"/>
                <a:ea typeface="Arial"/>
                <a:cs typeface="Arial"/>
              </a:rPr>
              <a:t>status • diff • log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68F5A6E-3F49-41E9-8CC8-FF218FD03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5720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A97B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864353A-324E-4477-8665-E2434CCF9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468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47046E-21F2-4163-A343-875D7F153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62475"/>
            <a:ext cx="1952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Push &amp; bagikan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96305CA-F0D8-4EF8-820D-3344033FE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62475"/>
            <a:ext cx="2333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AC8D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CAC8D1"/>
                </a:solidFill>
                <a:latin typeface="Arial"/>
                <a:ea typeface="Arial"/>
                <a:cs typeface="Arial"/>
              </a:rPr>
              <a:t>branch remote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FBA85F2-69E5-4819-B328-1D02093A1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72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CEAF3"/>
          </a:solidFill>
          <a:ln xmlns:a="http://schemas.openxmlformats.org/drawingml/2006/main" w="9525">
            <a:solidFill>
              <a:srgbClr val="F3D7E4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9D20C8-56C9-4A25-860E-251739BD5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00725"/>
            <a:ext cx="1062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github.com/asyep/anteraja-capstone-asyep/tree/7-prototype</a:t>
            </a:r>
          </a:p>
        </p:txBody>
      </p:sp>
    </p:spTree>
    <p:extLst>
      <p:ext uri="{BB962C8B-B14F-4D97-AF65-F5344CB8AC3E}">
        <p14:creationId xmlns:p14="http://schemas.microsoft.com/office/powerpoint/2010/main" val="9722365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A33F7F4-BE44-4F50-9FEA-CB62685DA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WHEN • URUTAN 8 MINGGU YANG DITETAPKAN PRD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1FFA1D-7451-4451-B5FC-7F47014C9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Kapan tiap bagian masuk?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A9295E-9459-46EE-B10A-E8573286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1E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50B7A1-0CE8-432C-82E7-524EB9B98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ANTERAJA SMART TRACKING  •  CERITA BELAJAR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485FDD-B667-4F3A-AD43-5643F3C6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13 / 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2FBE51-4595-4A9E-A63E-599035327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2552700" cy="2914650"/>
          </a:xfrm>
          <a:prstGeom xmlns:a="http://schemas.openxmlformats.org/drawingml/2006/main" prst="roundRect">
            <a:avLst>
              <a:gd name="adj" fmla="val 29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F673DD-E7CB-46E1-932A-78A87DA63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2573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CEAF3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B8770D-03C4-4722-8F16-664DEDD50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19325"/>
            <a:ext cx="106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5007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50070"/>
                </a:solidFill>
                <a:latin typeface="Arial"/>
                <a:ea typeface="Arial"/>
                <a:cs typeface="Arial"/>
              </a:rPr>
              <a:t>SPRINT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D19502-3949-4FDA-9198-79E650342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2209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667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Minggu 1–2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0A01AB-0F78-4953-A8CF-8D2F71DA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2209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Fondasi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13AC27-E236-400D-9E22-4600EF6AF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29050"/>
            <a:ext cx="220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1E5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4BFF01-D03D-46A9-8802-C715CB6AB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9550"/>
            <a:ext cx="2209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validasi resi • model data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BDFE41-382E-49EA-B8F2-EA795B950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19300"/>
            <a:ext cx="2552700" cy="2914650"/>
          </a:xfrm>
          <a:prstGeom xmlns:a="http://schemas.openxmlformats.org/drawingml/2006/main" prst="roundRect">
            <a:avLst>
              <a:gd name="adj" fmla="val 29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31CB0E-5294-492C-A262-3499EA182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209800"/>
            <a:ext cx="12573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7F8F1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6BE870-A7F6-4ABC-816C-453A5712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19325"/>
            <a:ext cx="106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2A97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2A97B"/>
                </a:solidFill>
                <a:latin typeface="Arial"/>
                <a:ea typeface="Arial"/>
                <a:cs typeface="Arial"/>
              </a:rPr>
              <a:t>SPRINT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0C8496-9C05-4331-B362-B82CCB4E2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667000"/>
            <a:ext cx="2209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667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Minggu 3–4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EF156F-051A-46B7-9874-B5F86DC1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105150"/>
            <a:ext cx="2209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Alur inti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81A23D-EA8D-4001-AE59-EEB625DF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829050"/>
            <a:ext cx="220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1E5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34ED75-CE89-4D48-B259-3AB3DF56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019550"/>
            <a:ext cx="2209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stepper • event • integrasi UI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9F8CCF-0D5F-4883-AE7A-99B13848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19300"/>
            <a:ext cx="2552700" cy="2914650"/>
          </a:xfrm>
          <a:prstGeom xmlns:a="http://schemas.openxmlformats.org/drawingml/2006/main" prst="roundRect">
            <a:avLst>
              <a:gd name="adj" fmla="val 29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BC029D-21BB-4042-B0F1-649525114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09800"/>
            <a:ext cx="12573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5D9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AA254E-27C4-48C4-AC59-78EA939A2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19325"/>
            <a:ext cx="106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8A60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8A600"/>
                </a:solidFill>
                <a:latin typeface="Arial"/>
                <a:ea typeface="Arial"/>
                <a:cs typeface="Arial"/>
              </a:rPr>
              <a:t>SPRINT 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FFBE31-9469-45C5-9CA6-262DB0D6D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67000"/>
            <a:ext cx="2209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667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Minggu 5–6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F43850-7E93-4A39-AC36-3A00D29D4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05150"/>
            <a:ext cx="2209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8577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Narasi &amp; exception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3E9F59-2ADC-47EE-B4A4-C075CFFD9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29050"/>
            <a:ext cx="220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1E5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2DA871-D181-4152-BDE5-DC1FA268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019550"/>
            <a:ext cx="2209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Gemini • warning • fallback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364232-646E-4E78-9DF8-7BCB3E285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019300"/>
            <a:ext cx="2552700" cy="2914650"/>
          </a:xfrm>
          <a:prstGeom xmlns:a="http://schemas.openxmlformats.org/drawingml/2006/main" prst="roundRect">
            <a:avLst>
              <a:gd name="adj" fmla="val 29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1E5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00A2BE-56D9-4B1E-86C3-F81488B7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209800"/>
            <a:ext cx="12573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0EBFF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34174E-5733-4C4F-A95B-177D711F1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219325"/>
            <a:ext cx="106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058E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8058E8"/>
                </a:solidFill>
                <a:latin typeface="Arial"/>
                <a:ea typeface="Arial"/>
                <a:cs typeface="Arial"/>
              </a:rPr>
              <a:t>SPRINT 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465106-6B90-4B69-B86C-E2D5AA24F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667000"/>
            <a:ext cx="2209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667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1676D"/>
                </a:solidFill>
                <a:latin typeface="Arial"/>
                <a:ea typeface="Arial"/>
                <a:cs typeface="Arial"/>
              </a:rPr>
              <a:t>Minggu 7–8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3E23A5B-802D-498C-9C78-24ED3E4ED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105150"/>
            <a:ext cx="2209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Uji &amp; rilis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1645BF5-508F-4F2F-AE55-58D123820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829050"/>
            <a:ext cx="220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1E5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B74992-8AA9-42B6-BE33-F4D529919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019550"/>
            <a:ext cx="2209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latensi • cache • akurasi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DBF94CC-A41F-49D0-B8E5-20827865A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11A1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11A1D"/>
                </a:solidFill>
                <a:latin typeface="Arial"/>
                <a:ea typeface="Arial"/>
                <a:cs typeface="Arial"/>
              </a:rPr>
              <a:t>Target yang dicek setelah integrasi: narasi sinkron 100% • latensi &lt;2 detik p95 • WISMO turun 25–35%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DFCE30C-D905-4D62-85D2-7752539A2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71676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1676D"/>
                </a:solidFill>
                <a:latin typeface="Arial"/>
                <a:ea typeface="Arial"/>
                <a:cs typeface="Arial"/>
              </a:rPr>
              <a:t>Catatan: fase ini masih perlu API/backend nyata, uji acceptance criteria, dan data operasional.</a:t>
            </a:r>
          </a:p>
        </p:txBody>
      </p:sp>
    </p:spTree>
    <p:extLst>
      <p:ext uri="{BB962C8B-B14F-4D97-AF65-F5344CB8AC3E}">
        <p14:creationId xmlns:p14="http://schemas.microsoft.com/office/powerpoint/2010/main" val="2802097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2028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20D4C7-3698-46A8-BAA9-F62AD590B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8097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434A5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C0E2AB-E404-4D13-9C02-D57C54000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3875"/>
            <a:ext cx="161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KESIMPULAN • 5W + 1H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6830CA-F531-467E-99A7-415EA67E3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695325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Dokumen memberi arah.</a:t>
            </a:r>
          </a:p>
          <a:p xmlns:a="http://schemas.openxmlformats.org/drawingml/2006/main">
            <a:pPr algn="l"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Prototype membuat alurnya</a:t>
            </a:r>
          </a:p>
          <a:p xmlns:a="http://schemas.openxmlformats.org/drawingml/2006/main">
            <a:pPr algn="l"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bisa dilihat dan dikritik.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FD0898-ED65-4F39-B01D-15405DB20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242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9BC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9BCC"/>
                </a:solidFill>
                <a:latin typeface="Arial"/>
                <a:ea typeface="Arial"/>
                <a:cs typeface="Arial"/>
              </a:rPr>
              <a:t>Yang saya pelajari: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5F660D-D88B-483D-8CCA-70CF1CDB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386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A97B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CAB14C-251B-42BF-9788-9C88C7E56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38600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41129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0283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028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651475-5361-41C9-A585-9A99604ED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0050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0EEF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0EEF2"/>
                </a:solidFill>
                <a:latin typeface="Arial"/>
                <a:ea typeface="Arial"/>
                <a:cs typeface="Arial"/>
              </a:rPr>
              <a:t>UI harus menjawab kebutuhan peran pengguna.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37203C-376A-47C2-BB7D-DDF8AE8EB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910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600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C79F80-D801-4836-9ECE-27E347BCB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91050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41129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0283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028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715023-0CC8-4926-AB42-9B16E7E13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5295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0EEF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0EEF2"/>
                </a:solidFill>
                <a:latin typeface="Arial"/>
                <a:ea typeface="Arial"/>
                <a:cs typeface="Arial"/>
              </a:rPr>
              <a:t>FRD mengubah ide menjadi state dan aturan yang bisa diuji.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384211-C7BB-4133-9673-BCC699379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A97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D002A8-F641-4E17-98A1-EC07234E6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41129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0283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028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4CDDB1-6580-48AF-80C3-B58909000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0EEF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0EEF2"/>
                </a:solidFill>
                <a:latin typeface="Arial"/>
                <a:ea typeface="Arial"/>
                <a:cs typeface="Arial"/>
              </a:rPr>
              <a:t>HTML/CSS, data, Git, dan React punya tempat berbeda dalam proses.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5baaf1fc35488c"/>
          <a:srcRect xmlns:a="http://schemas.openxmlformats.org/drawingml/2006/main" l="0" t="460" r="0" b="4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96250" y="1047750"/>
            <a:ext cx="3238500" cy="4762500"/>
          </a:xfrm>
          <a:prstGeom xmlns:a="http://schemas.openxmlformats.org/drawingml/2006/main" prst="roundRect">
            <a:avLst>
              <a:gd name="adj" fmla="val 5294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672EAC-786E-43FC-8EFE-4DAADC60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TERIMA KASIH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935BA2-B2AA-4792-B465-493291BA0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61436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C8C7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C7D0"/>
                </a:solidFill>
                <a:latin typeface="Arial"/>
                <a:ea typeface="Arial"/>
                <a:cs typeface="Arial"/>
              </a:rPr>
              <a:t>Tanya, kritik, atau kita demo flow-nya?</a:t>
            </a:r>
          </a:p>
        </p:txBody>
      </p:sp>
    </p:spTree>
    <p:extLst>
      <p:ext uri="{BB962C8B-B14F-4D97-AF65-F5344CB8AC3E}">
        <p14:creationId xmlns:p14="http://schemas.microsoft.com/office/powerpoint/2010/main" val="3679069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2026-09-28T03:05:48.6810000Z</dcterms:created>
  <dcterms:modified xsi:type="dcterms:W3CDTF">2026-09-28T03:05:48.6810000Z</dcterms:modified>
</coreProperties>
</file>