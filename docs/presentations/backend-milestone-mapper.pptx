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50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50070"/>
                </a:solidFill>
                <a:latin typeface="Arial"/>
              </a:rPr>
              <a:t>BEDAH FITUR BACKEND •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11A1D"/>
                </a:solidFill>
                <a:latin typeface="Arial"/>
              </a:rPr>
              <a:t>Pemetaan Milestone &amp; Estimasi ETA Adaptif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1676D"/>
                </a:solidFill>
                <a:latin typeface="Arial"/>
              </a:rPr>
              <a:t>MILESTONE MAPPER  •  SATU FITUR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281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1676D"/>
                </a:solidFill>
                <a:latin typeface="Arial"/>
              </a:rPr>
              <a:t>01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0911535" cy="1874519"/>
          </a:xfrm>
          <a:prstGeom prst="roundRect">
            <a:avLst>
              <a:gd name="adj" fmla="val 5000"/>
            </a:avLst>
          </a:prstGeom>
          <a:solidFill>
            <a:srgbClr val="F0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74519"/>
            <a:ext cx="99971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C50070"/>
                </a:solidFill>
                <a:latin typeface="Courier New"/>
              </a:rPr>
              <a:t>App\Services\MilestoneMapperService::map()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A1D"/>
                </a:solidFill>
                <a:latin typeface="Arial"/>
              </a:rPr>
              <a:t>Mengubah data mentah pengiriman dari database menjadi empat tahap milestone,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A1D"/>
                </a:solidFill>
                <a:latin typeface="Arial"/>
              </a:rPr>
              <a:t>status tahap aktif, penanda keterlambatan, dan estimasi tiba dalam WIB.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03320"/>
            <a:ext cx="3503066" cy="1417320"/>
          </a:xfrm>
          <a:prstGeom prst="roundRect">
            <a:avLst>
              <a:gd name="adj" fmla="val 7000"/>
            </a:avLst>
          </a:prstGeom>
          <a:solidFill>
            <a:srgbClr val="FC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58768"/>
            <a:ext cx="295442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C50070"/>
                </a:solidFill>
                <a:latin typeface="Arial"/>
              </a:rPr>
              <a:t>121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1">
                <a:solidFill>
                  <a:srgbClr val="211A1D"/>
                </a:solidFill>
                <a:latin typeface="Arial"/>
              </a:rPr>
              <a:t>baris kode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71676D"/>
                </a:solidFill>
                <a:latin typeface="Arial"/>
              </a:rPr>
              <a:t>1 file, 1 method publik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4314" y="3703320"/>
            <a:ext cx="3503066" cy="1417320"/>
          </a:xfrm>
          <a:prstGeom prst="roundRect">
            <a:avLst>
              <a:gd name="adj" fmla="val 7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8634" y="3858768"/>
            <a:ext cx="295442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8058E8"/>
                </a:solidFill>
                <a:latin typeface="Arial"/>
              </a:rPr>
              <a:t>1.305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1">
                <a:solidFill>
                  <a:srgbClr val="211A1D"/>
                </a:solidFill>
                <a:latin typeface="Arial"/>
              </a:rPr>
              <a:t>baris backend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71676D"/>
                </a:solidFill>
                <a:latin typeface="Arial"/>
              </a:rPr>
              <a:t>total kode aplikasi Laravel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3703320"/>
            <a:ext cx="3503066" cy="1417320"/>
          </a:xfrm>
          <a:prstGeom prst="roundRect">
            <a:avLst>
              <a:gd name="adj" fmla="val 7000"/>
            </a:avLst>
          </a:prstGeom>
          <a:solidFill>
            <a:srgbClr val="E7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2868" y="3858768"/>
            <a:ext cx="295442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A97B"/>
                </a:solidFill>
                <a:latin typeface="Arial"/>
              </a:rPr>
              <a:t>12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1">
                <a:solidFill>
                  <a:srgbClr val="211A1D"/>
                </a:solidFill>
                <a:latin typeface="Arial"/>
              </a:rPr>
              <a:t>assertions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71676D"/>
                </a:solidFill>
                <a:latin typeface="Arial"/>
              </a:rPr>
              <a:t>test yang sudah lulus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1676D"/>
                </a:solidFill>
                <a:latin typeface="Arial"/>
              </a:rPr>
              <a:t>Presentasi 8–10 menit  •  Demo live 3 nomor resi  •  Tanpa database dan tanpa API key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50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50070"/>
                </a:solidFill>
                <a:latin typeface="Arial"/>
              </a:rPr>
              <a:t>KONTEKS •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11A1D"/>
                </a:solidFill>
                <a:latin typeface="Arial"/>
              </a:rPr>
              <a:t>Widget butuh progres dan ETA, database menyimpan data mentah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43584"/>
            <a:ext cx="109115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1676D"/>
                </a:solidFill>
                <a:latin typeface="Arial"/>
              </a:rPr>
              <a:t>Tiga masalah nyata yang harus diselesaikan di sisi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1676D"/>
                </a:solidFill>
                <a:latin typeface="Arial"/>
              </a:rPr>
              <a:t>MILESTONE MAPPER  •  SATU FITUR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2281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1676D"/>
                </a:solidFill>
                <a:latin typeface="Arial"/>
              </a:rPr>
              <a:t>02 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10911535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901952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FC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50070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865376"/>
            <a:ext cx="9539935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11A1D"/>
                </a:solidFill>
                <a:latin typeface="Arial"/>
              </a:rPr>
              <a:t>Kode status teknis tidak layak tampil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71676D"/>
                </a:solidFill>
                <a:latin typeface="Arial"/>
              </a:rPr>
              <a:t>Kolom </a:t>
            </a:r>
            <a:r>
              <a:rPr sz="1150" b="0">
                <a:solidFill>
                  <a:srgbClr val="C50070"/>
                </a:solidFill>
                <a:latin typeface="Courier New"/>
              </a:rPr>
              <a:t>event_code</a:t>
            </a:r>
            <a:r>
              <a:rPr sz="1150" b="0">
                <a:solidFill>
                  <a:srgbClr val="71676D"/>
                </a:solidFill>
                <a:latin typeface="Arial"/>
              </a:rPr>
              <a:t> berisi </a:t>
            </a:r>
            <a:r>
              <a:rPr sz="1150" b="0">
                <a:solidFill>
                  <a:srgbClr val="211A1D"/>
                </a:solidFill>
                <a:latin typeface="Courier New"/>
              </a:rPr>
              <a:t>OUT_FOR_DELIVERY</a:t>
            </a:r>
            <a:r>
              <a:rPr sz="1150" b="0">
                <a:solidFill>
                  <a:srgbClr val="71676D"/>
                </a:solidFill>
                <a:latin typeface="Arial"/>
              </a:rPr>
              <a:t>, </a:t>
            </a:r>
            <a:r>
              <a:rPr sz="1150" b="0">
                <a:solidFill>
                  <a:srgbClr val="211A1D"/>
                </a:solidFill>
                <a:latin typeface="Courier New"/>
              </a:rPr>
              <a:t>ARRIVED_AT_HUB</a:t>
            </a:r>
            <a:r>
              <a:rPr sz="1150" b="0">
                <a:solidFill>
                  <a:srgbClr val="71676D"/>
                </a:solidFill>
                <a:latin typeface="Arial"/>
              </a:rPr>
              <a:t>, </a:t>
            </a:r>
            <a:r>
              <a:rPr sz="1150" b="0">
                <a:solidFill>
                  <a:srgbClr val="211A1D"/>
                </a:solidFill>
                <a:latin typeface="Courier New"/>
              </a:rPr>
              <a:t>MANIFESTED</a:t>
            </a:r>
            <a:r>
              <a:rPr sz="1150" b="0">
                <a:solidFill>
                  <a:srgbClr val="71676D"/>
                </a:solidFill>
                <a:latin typeface="Arial"/>
              </a:rPr>
              <a:t> — istilah internal yang membingungkan pelanggan.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08960"/>
            <a:ext cx="10911535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3383280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FC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50070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346704"/>
            <a:ext cx="9539935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11A1D"/>
                </a:solidFill>
                <a:latin typeface="Arial"/>
              </a:rPr>
              <a:t>Sumber timestamp tersebar di dua tempat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71676D"/>
                </a:solidFill>
                <a:latin typeface="Arial"/>
              </a:rPr>
              <a:t>Sebagian dari kolom </a:t>
            </a:r>
            <a:r>
              <a:rPr sz="1150" b="0">
                <a:solidFill>
                  <a:srgbClr val="C50070"/>
                </a:solidFill>
                <a:latin typeface="Courier New"/>
              </a:rPr>
              <a:t>tracking_summary</a:t>
            </a:r>
            <a:r>
              <a:rPr sz="1150" b="0">
                <a:solidFill>
                  <a:srgbClr val="71676D"/>
                </a:solidFill>
                <a:latin typeface="Arial"/>
              </a:rPr>
              <a:t> (</a:t>
            </a:r>
            <a:r>
              <a:rPr sz="1150" b="0">
                <a:solidFill>
                  <a:srgbClr val="211A1D"/>
                </a:solidFill>
                <a:latin typeface="Courier New"/>
              </a:rPr>
              <a:t>order_purchase_timestamp</a:t>
            </a:r>
            <a:r>
              <a:rPr sz="1150" b="0">
                <a:solidFill>
                  <a:srgbClr val="71676D"/>
                </a:solidFill>
                <a:latin typeface="Arial"/>
              </a:rPr>
              <a:t>, </a:t>
            </a:r>
            <a:r>
              <a:rPr sz="1150" b="0">
                <a:solidFill>
                  <a:srgbClr val="211A1D"/>
                </a:solidFill>
                <a:latin typeface="Courier New"/>
              </a:rPr>
              <a:t>order_delivered_carrier_date</a:t>
            </a:r>
            <a:r>
              <a:rPr sz="1150" b="0">
                <a:solidFill>
                  <a:srgbClr val="71676D"/>
                </a:solidFill>
                <a:latin typeface="Arial"/>
              </a:rPr>
              <a:t>), sebagian dari tabel </a:t>
            </a:r>
            <a:r>
              <a:rPr sz="1150" b="0">
                <a:solidFill>
                  <a:srgbClr val="C50070"/>
                </a:solidFill>
                <a:latin typeface="Courier New"/>
              </a:rPr>
              <a:t>tracking_events.milestone_stage</a:t>
            </a:r>
            <a:r>
              <a:rPr sz="1150" b="0">
                <a:solidFill>
                  <a:srgbClr val="71676D"/>
                </a:solidFill>
                <a:latin typeface="Arial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90288"/>
            <a:ext cx="10911535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" y="4864608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FC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50070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4828032"/>
            <a:ext cx="9539935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11A1D"/>
                </a:solidFill>
                <a:latin typeface="Arial"/>
              </a:rPr>
              <a:t>ETA harus WIB dan sadar keterlambatan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71676D"/>
                </a:solidFill>
                <a:latin typeface="Arial"/>
              </a:rPr>
              <a:t>Data mentah berformat UTC, sementara keterlambatan datang dari tiga kolom berbeda: </a:t>
            </a:r>
            <a:r>
              <a:rPr sz="1150" b="0">
                <a:solidFill>
                  <a:srgbClr val="C50070"/>
                </a:solidFill>
                <a:latin typeface="Courier New"/>
              </a:rPr>
              <a:t>logistics_delay_reason</a:t>
            </a:r>
            <a:r>
              <a:rPr sz="1150" b="0">
                <a:solidFill>
                  <a:srgbClr val="71676D"/>
                </a:solidFill>
                <a:latin typeface="Arial"/>
              </a:rPr>
              <a:t>, </a:t>
            </a:r>
            <a:r>
              <a:rPr sz="1150" b="0">
                <a:solidFill>
                  <a:srgbClr val="C50070"/>
                </a:solidFill>
                <a:latin typeface="Courier New"/>
              </a:rPr>
              <a:t>traffic_status</a:t>
            </a:r>
            <a:r>
              <a:rPr sz="1150" b="0">
                <a:solidFill>
                  <a:srgbClr val="71676D"/>
                </a:solidFill>
                <a:latin typeface="Arial"/>
              </a:rPr>
              <a:t>, dan </a:t>
            </a:r>
            <a:r>
              <a:rPr sz="1150" b="0">
                <a:solidFill>
                  <a:srgbClr val="C50070"/>
                </a:solidFill>
                <a:latin typeface="Courier New"/>
              </a:rPr>
              <a:t>waiting_time_minutes</a:t>
            </a:r>
            <a:r>
              <a:rPr sz="1150" b="0">
                <a:solidFill>
                  <a:srgbClr val="71676D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50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50070"/>
                </a:solidFill>
                <a:latin typeface="Arial"/>
              </a:rPr>
              <a:t>SOLUSI • SATU CLASS, SATU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11A1D"/>
                </a:solidFill>
                <a:latin typeface="Arial"/>
              </a:rPr>
              <a:t>Satu pintu masuk untuk seluruh logika pemetaan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1676D"/>
                </a:solidFill>
                <a:latin typeface="Arial"/>
              </a:rPr>
              <a:t>MILESTONE MAPPER  •  SATU FITUR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281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1676D"/>
                </a:solidFill>
                <a:latin typeface="Arial"/>
              </a:rPr>
              <a:t>03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98448"/>
            <a:ext cx="10911535" cy="868680"/>
          </a:xfrm>
          <a:prstGeom prst="roundRect">
            <a:avLst>
              <a:gd name="adj" fmla="val 8000"/>
            </a:avLst>
          </a:prstGeom>
          <a:solidFill>
            <a:srgbClr val="20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298448"/>
            <a:ext cx="1018001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9BCC"/>
                </a:solidFill>
                <a:latin typeface="Courier New"/>
              </a:rPr>
              <a:t>public function </a:t>
            </a:r>
            <a:r>
              <a:rPr sz="1500" b="0">
                <a:solidFill>
                  <a:srgbClr val="7AD9B4"/>
                </a:solidFill>
                <a:latin typeface="Courier New"/>
              </a:rPr>
              <a:t>map</a:t>
            </a:r>
            <a:r>
              <a:rPr sz="1500" b="0">
                <a:solidFill>
                  <a:srgbClr val="E7E7ED"/>
                </a:solidFill>
                <a:latin typeface="Courier New"/>
              </a:rPr>
              <a:t>(array </a:t>
            </a:r>
            <a:r>
              <a:rPr sz="1500" b="0">
                <a:solidFill>
                  <a:srgbClr val="C7C4D4"/>
                </a:solidFill>
                <a:latin typeface="Courier New"/>
              </a:rPr>
              <a:t>$shipment</a:t>
            </a:r>
            <a:r>
              <a:rPr sz="1500" b="0">
                <a:solidFill>
                  <a:srgbClr val="E7E7ED"/>
                </a:solidFill>
                <a:latin typeface="Courier New"/>
              </a:rPr>
              <a:t>): array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14016"/>
            <a:ext cx="350306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414016"/>
            <a:ext cx="82296" cy="2331720"/>
          </a:xfrm>
          <a:prstGeom prst="roundRect">
            <a:avLst>
              <a:gd name="adj" fmla="val 40000"/>
            </a:avLst>
          </a:prstGeom>
          <a:solidFill>
            <a:srgbClr val="C50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633472"/>
            <a:ext cx="2899562" cy="1892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50070"/>
                </a:solidFill>
                <a:latin typeface="Arial"/>
              </a:rPr>
              <a:t>MENERIMA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>
                <a:solidFill>
                  <a:srgbClr val="8058E8"/>
                </a:solidFill>
                <a:latin typeface="Courier New"/>
              </a:rPr>
              <a:t>array </a:t>
            </a:r>
            <a:r>
              <a:rPr sz="1000" b="0">
                <a:solidFill>
                  <a:srgbClr val="211A1D"/>
                </a:solidFill>
                <a:latin typeface="Courier New"/>
              </a:rPr>
              <a:t>$shipment</a:t>
            </a:r>
            <a:r>
              <a:rPr sz="1000" b="0">
                <a:solidFill>
                  <a:srgbClr val="71676D"/>
                </a:solidFill>
                <a:latin typeface="Arial"/>
              </a:rPr>
              <a:t> dari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>
                <a:solidFill>
                  <a:srgbClr val="C50070"/>
                </a:solidFill>
                <a:latin typeface="Courier New"/>
              </a:rPr>
              <a:t>TrackingWidget</a:t>
            </a:r>
            <a:r>
              <a:rPr sz="1000" b="0">
                <a:solidFill>
                  <a:srgbClr val="71676D"/>
                </a:solidFill>
                <a:latin typeface="Arial"/>
              </a:rPr>
              <a:t>: status order,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>
                <a:solidFill>
                  <a:srgbClr val="71676D"/>
                </a:solidFill>
                <a:latin typeface="Arial"/>
              </a:rPr>
              <a:t>kolom tanggal, dan daftar </a:t>
            </a:r>
            <a:r>
              <a:rPr sz="1000" b="0">
                <a:solidFill>
                  <a:srgbClr val="211A1D"/>
                </a:solidFill>
                <a:latin typeface="Courier New"/>
              </a:rPr>
              <a:t>events</a:t>
            </a:r>
            <a:r>
              <a:rPr sz="1000" b="0">
                <a:solidFill>
                  <a:srgbClr val="71676D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4314" y="2414016"/>
            <a:ext cx="350306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4314" y="2414016"/>
            <a:ext cx="82296" cy="2331720"/>
          </a:xfrm>
          <a:prstGeom prst="roundRect">
            <a:avLst>
              <a:gd name="adj" fmla="val 40000"/>
            </a:avLst>
          </a:prstGeom>
          <a:solidFill>
            <a:srgbClr val="805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3498" y="2633472"/>
            <a:ext cx="2899562" cy="1892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058E8"/>
                </a:solidFill>
                <a:latin typeface="Arial"/>
              </a:rPr>
              <a:t>MENGHASILKAN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>
                <a:solidFill>
                  <a:srgbClr val="211A1D"/>
                </a:solidFill>
                <a:latin typeface="Courier New"/>
              </a:rPr>
              <a:t>current_milestone_stage</a:t>
            </a:r>
            <a:r>
              <a:rPr sz="1000" b="0">
                <a:solidFill>
                  <a:srgbClr val="71676D"/>
                </a:solidFill>
                <a:latin typeface="Arial"/>
              </a:rPr>
              <a:t> —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>
                <a:solidFill>
                  <a:srgbClr val="71676D"/>
                </a:solidFill>
                <a:latin typeface="Arial"/>
              </a:rPr>
              <a:t>tahap aktif dari empat tahap, plus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>
                <a:solidFill>
                  <a:srgbClr val="211A1D"/>
                </a:solidFill>
                <a:latin typeface="Courier New"/>
              </a:rPr>
              <a:t>milestone_stages</a:t>
            </a:r>
            <a:r>
              <a:rPr sz="1000" b="0">
                <a:solidFill>
                  <a:srgbClr val="71676D"/>
                </a:solidFill>
                <a:latin typeface="Arial"/>
              </a:rPr>
              <a:t>, </a:t>
            </a:r>
            <a:r>
              <a:rPr sz="1000" b="0">
                <a:solidFill>
                  <a:srgbClr val="211A1D"/>
                </a:solidFill>
                <a:latin typeface="Courier New"/>
              </a:rPr>
              <a:t>has_delay</a:t>
            </a:r>
            <a:r>
              <a:rPr sz="1000" b="0">
                <a:solidFill>
                  <a:srgbClr val="71676D"/>
                </a:solidFill>
                <a:latin typeface="Arial"/>
              </a:rPr>
              <a:t>, </a:t>
            </a:r>
            <a:r>
              <a:rPr sz="1000" b="0">
                <a:solidFill>
                  <a:srgbClr val="211A1D"/>
                </a:solidFill>
                <a:latin typeface="Courier New"/>
              </a:rPr>
              <a:t>formatted_eta</a:t>
            </a:r>
            <a:r>
              <a:rPr sz="1000" b="0">
                <a:solidFill>
                  <a:srgbClr val="71676D"/>
                </a:solidFill>
                <a:latin typeface="Arial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8548" y="2414016"/>
            <a:ext cx="350306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8548" y="2414016"/>
            <a:ext cx="82296" cy="2331720"/>
          </a:xfrm>
          <a:prstGeom prst="roundRect">
            <a:avLst>
              <a:gd name="adj" fmla="val 40000"/>
            </a:avLst>
          </a:prstGeom>
          <a:solidFill>
            <a:srgbClr val="12A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7732" y="2633472"/>
            <a:ext cx="2899562" cy="1892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2A97B"/>
                </a:solidFill>
                <a:latin typeface="Arial"/>
              </a:rPr>
              <a:t>DIPANGGIL DI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>
                <a:solidFill>
                  <a:srgbClr val="C50070"/>
                </a:solidFill>
                <a:latin typeface="Courier New"/>
              </a:rPr>
              <a:t>TrackingController</a:t>
            </a:r>
            <a:r>
              <a:rPr sz="1000" b="0">
                <a:solidFill>
                  <a:srgbClr val="71676D"/>
                </a:solidFill>
                <a:latin typeface="Arial"/>
              </a:rPr>
              <a:t> baris 42: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>
                <a:solidFill>
                  <a:srgbClr val="211A1D"/>
                </a:solidFill>
                <a:latin typeface="Courier New"/>
              </a:rPr>
              <a:t>array_merge</a:t>
            </a:r>
            <a:r>
              <a:rPr sz="1000" b="0">
                <a:solidFill>
                  <a:srgbClr val="71676D"/>
                </a:solidFill>
                <a:latin typeface="Arial"/>
              </a:rPr>
              <a:t>(</a:t>
            </a:r>
            <a:r>
              <a:rPr sz="1000" b="0">
                <a:solidFill>
                  <a:srgbClr val="211A1D"/>
                </a:solidFill>
                <a:latin typeface="Courier New"/>
              </a:rPr>
              <a:t>$shipment</a:t>
            </a:r>
            <a:r>
              <a:rPr sz="1000" b="0">
                <a:solidFill>
                  <a:srgbClr val="71676D"/>
                </a:solidFill>
                <a:latin typeface="Arial"/>
              </a:rPr>
              <a:t>,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>
                <a:solidFill>
                  <a:srgbClr val="211A1D"/>
                </a:solidFill>
                <a:latin typeface="Courier New"/>
              </a:rPr>
              <a:t>    $this</a:t>
            </a:r>
            <a:r>
              <a:rPr sz="1000" b="0">
                <a:solidFill>
                  <a:srgbClr val="71676D"/>
                </a:solidFill>
                <a:latin typeface="Arial"/>
              </a:rPr>
              <a:t>-&gt;</a:t>
            </a:r>
            <a:r>
              <a:rPr sz="1000" b="0">
                <a:solidFill>
                  <a:srgbClr val="211A1D"/>
                </a:solidFill>
                <a:latin typeface="Courier New"/>
              </a:rPr>
              <a:t>milestoneMapper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>
                <a:solidFill>
                  <a:srgbClr val="71676D"/>
                </a:solidFill>
                <a:latin typeface="Arial"/>
              </a:rPr>
              <a:t>        -&gt;</a:t>
            </a:r>
            <a:r>
              <a:rPr sz="1000" b="0">
                <a:solidFill>
                  <a:srgbClr val="211A1D"/>
                </a:solidFill>
                <a:latin typeface="Courier New"/>
              </a:rPr>
              <a:t>map</a:t>
            </a:r>
            <a:r>
              <a:rPr sz="1000" b="0">
                <a:solidFill>
                  <a:srgbClr val="71676D"/>
                </a:solidFill>
                <a:latin typeface="Arial"/>
              </a:rPr>
              <a:t>(</a:t>
            </a:r>
            <a:r>
              <a:rPr sz="1000" b="0">
                <a:solidFill>
                  <a:srgbClr val="211A1D"/>
                </a:solidFill>
                <a:latin typeface="Courier New"/>
              </a:rPr>
              <a:t>$shipment</a:t>
            </a:r>
            <a:r>
              <a:rPr sz="1000" b="0">
                <a:solidFill>
                  <a:srgbClr val="71676D"/>
                </a:solidFill>
                <a:latin typeface="Arial"/>
              </a:rPr>
              <a:t>))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83480"/>
            <a:ext cx="10911535" cy="658368"/>
          </a:xfrm>
          <a:prstGeom prst="roundRect">
            <a:avLst>
              <a:gd name="adj" fmla="val 9000"/>
            </a:avLst>
          </a:prstGeom>
          <a:solidFill>
            <a:srgbClr val="FFF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138928"/>
            <a:ext cx="103263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A1D"/>
                </a:solidFill>
                <a:latin typeface="Arial"/>
              </a:rPr>
              <a:t>Tanpa database, tanpa panggilan jaringan. </a:t>
            </a:r>
            <a:r>
              <a:rPr sz="1150" b="0">
                <a:solidFill>
                  <a:srgbClr val="211A1D"/>
                </a:solidFill>
                <a:latin typeface="Arial"/>
              </a:rPr>
              <a:t>Satu-satunya dependensi adalah Carbon untuk konversi waktu — itulah sebabnya fitur ini aman didemokan.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50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50070"/>
                </a:solidFill>
                <a:latin typeface="Arial"/>
              </a:rPr>
              <a:t>ALUR DATA • SEBELUM DAN SESUDAH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11A1D"/>
                </a:solidFill>
                <a:latin typeface="Arial"/>
              </a:rPr>
              <a:t>Data mentah masuk, data siap tampil keluar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1676D"/>
                </a:solidFill>
                <a:latin typeface="Arial"/>
              </a:rPr>
              <a:t>MILESTONE MAPPER  •  SATU FITUR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281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1676D"/>
                </a:solidFill>
                <a:latin typeface="Arial"/>
              </a:rPr>
              <a:t>04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1676D"/>
                </a:solidFill>
                <a:latin typeface="Arial"/>
              </a:rPr>
              <a:t>MASUKAN  •  DARI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9344"/>
            <a:ext cx="4892040" cy="3063240"/>
          </a:xfrm>
          <a:prstGeom prst="roundRect">
            <a:avLst>
              <a:gd name="adj" fmla="val 4500"/>
            </a:avLst>
          </a:prstGeom>
          <a:solidFill>
            <a:srgbClr val="20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810512"/>
            <a:ext cx="44897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1676D"/>
                </a:solidFill>
                <a:latin typeface="Arial"/>
              </a:rPr>
              <a:t>UTC, kode status mentah, timestamp terpisah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39696"/>
            <a:ext cx="4489704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7C4D4"/>
                </a:solidFill>
                <a:latin typeface="Courier New"/>
              </a:rPr>
              <a:t>$shipment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= [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'order_status'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=&gt;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'in_transit'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'order_purchase_timestamp'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    </a:t>
            </a:r>
            <a:r>
              <a:rPr sz="1000" b="0">
                <a:solidFill>
                  <a:srgbClr val="E7E7ED"/>
                </a:solidFill>
                <a:latin typeface="Courier New"/>
              </a:rPr>
              <a:t>=&gt;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'2026-09-28T08:00:00+00:00'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'order_delivered_carrier_date'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    </a:t>
            </a:r>
            <a:r>
              <a:rPr sz="1000" b="0">
                <a:solidFill>
                  <a:srgbClr val="E7E7ED"/>
                </a:solidFill>
                <a:latin typeface="Courier New"/>
              </a:rPr>
              <a:t>=&gt;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'2026-09-28T14:00:00+00:00'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'order_estimated_delivery_date'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=&gt;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'2026-10-02'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'waiting_time_minutes'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=&gt;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30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'logistics_delay_reason'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=&gt;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'None'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'traffic_status'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=&gt;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'Clear'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]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586984" y="2852928"/>
            <a:ext cx="374904" cy="566928"/>
          </a:xfrm>
          <a:prstGeom prst="rightArrow">
            <a:avLst/>
          </a:prstGeom>
          <a:solidFill>
            <a:srgbClr val="C50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16752" y="1298448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2A97B"/>
                </a:solidFill>
                <a:latin typeface="Arial"/>
              </a:rPr>
              <a:t>KELUARAN  •  UNTUK KOMPONEN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1609344"/>
            <a:ext cx="4892040" cy="3063240"/>
          </a:xfrm>
          <a:prstGeom prst="roundRect">
            <a:avLst>
              <a:gd name="adj" fmla="val 4500"/>
            </a:avLst>
          </a:prstGeom>
          <a:solidFill>
            <a:srgbClr val="20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10512"/>
            <a:ext cx="44897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2A97B"/>
                </a:solidFill>
                <a:latin typeface="Arial"/>
              </a:rPr>
              <a:t>WIB, label pelanggan, siap dirender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39696"/>
            <a:ext cx="4489704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[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'current_milestone_stage'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=&gt;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'IN_TRANSIT'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'formatted_eta'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    </a:t>
            </a:r>
            <a:r>
              <a:rPr sz="1000" b="0">
                <a:solidFill>
                  <a:srgbClr val="E7E7ED"/>
                </a:solidFill>
                <a:latin typeface="Courier New"/>
              </a:rPr>
              <a:t>=&gt;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'02 Oktober 2026, 18:30 WIB'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'has_delay'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=&gt; </a:t>
            </a:r>
            <a:r>
              <a:rPr sz="1000" b="0">
                <a:solidFill>
                  <a:srgbClr val="FF9BCC"/>
                </a:solidFill>
                <a:latin typeface="Courier New"/>
              </a:rPr>
              <a:t>false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'milestone_stages'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=&gt; [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    </a:t>
            </a:r>
            <a:r>
              <a:rPr sz="1000" b="0">
                <a:solidFill>
                  <a:srgbClr val="E7E7ED"/>
                </a:solidFill>
                <a:latin typeface="Courier New"/>
              </a:rPr>
              <a:t>['stage' =&gt; 'ORDER_CREATED',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     </a:t>
            </a:r>
            <a:r>
              <a:rPr sz="1000" b="0">
                <a:solidFill>
                  <a:srgbClr val="E7E7ED"/>
                </a:solidFill>
                <a:latin typeface="Courier New"/>
              </a:rPr>
              <a:t>'label' =&gt; 'Pesanan Dibuat',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     </a:t>
            </a:r>
            <a:r>
              <a:rPr sz="1000" b="0">
                <a:solidFill>
                  <a:srgbClr val="E7E7ED"/>
                </a:solidFill>
                <a:latin typeface="Courier New"/>
              </a:rPr>
              <a:t>'completed' =&gt; true, ...],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],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64608"/>
            <a:ext cx="10911535" cy="658368"/>
          </a:xfrm>
          <a:prstGeom prst="roundRect">
            <a:avLst>
              <a:gd name="adj" fmla="val 9000"/>
            </a:avLst>
          </a:prstGeom>
          <a:solidFill>
            <a:srgbClr val="FC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020056"/>
            <a:ext cx="103263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A1D"/>
                </a:solidFill>
                <a:latin typeface="Arial"/>
              </a:rPr>
              <a:t>Nilai ini persis yang sudah saya uji lewat API sungguhan. </a:t>
            </a:r>
            <a:r>
              <a:rPr sz="1150" b="0">
                <a:solidFill>
                  <a:srgbClr val="211A1D"/>
                </a:solidFill>
                <a:latin typeface="Arial"/>
              </a:rPr>
              <a:t>Coba sendiri: </a:t>
            </a:r>
            <a:r>
              <a:rPr sz="1150" b="1">
                <a:solidFill>
                  <a:srgbClr val="C50070"/>
                </a:solidFill>
                <a:latin typeface="Arial"/>
              </a:rPr>
              <a:t>curl http://127.0.0.1:8000/api/v1/tracking/44444444444444444444444444444444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50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50070"/>
                </a:solidFill>
                <a:latin typeface="Arial"/>
              </a:rPr>
              <a:t>BEDAH KODE • BAGIAN 1 DARI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11A1D"/>
                </a:solidFill>
                <a:latin typeface="Arial"/>
              </a:rPr>
              <a:t>Empat tahap yang dipahami pelanggan, satu tahap aktif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1676D"/>
                </a:solidFill>
                <a:latin typeface="Arial"/>
              </a:rPr>
              <a:t>MILESTONE MAPPER  •  SATU FITUR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281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1676D"/>
                </a:solidFill>
                <a:latin typeface="Arial"/>
              </a:rPr>
              <a:t>05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98448"/>
            <a:ext cx="2590723" cy="868680"/>
          </a:xfrm>
          <a:prstGeom prst="roundRect">
            <a:avLst>
              <a:gd name="adj" fmla="val 14000"/>
            </a:avLst>
          </a:prstGeom>
          <a:solidFill>
            <a:srgbClr val="F0EBFF"/>
          </a:solidFill>
          <a:ln w="12700">
            <a:solidFill>
              <a:srgbClr val="805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058E8"/>
                </a:solidFill>
                <a:latin typeface="Arial"/>
              </a:rPr>
              <a:t>Pesanan Dibuat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1676D"/>
                </a:solidFill>
                <a:latin typeface="Arial"/>
              </a:rPr>
              <a:t>ORDER_CREATED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0803" y="1572768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676D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3683" y="1298448"/>
            <a:ext cx="2590723" cy="868680"/>
          </a:xfrm>
          <a:prstGeom prst="roundRect">
            <a:avLst>
              <a:gd name="adj" fmla="val 14000"/>
            </a:avLst>
          </a:prstGeom>
          <a:solidFill>
            <a:srgbClr val="FCEAF3"/>
          </a:solidFill>
          <a:ln w="12700">
            <a:solidFill>
              <a:srgbClr val="C50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50070"/>
                </a:solidFill>
                <a:latin typeface="Arial"/>
              </a:rPr>
              <a:t>Diproses Kurir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1676D"/>
                </a:solidFill>
                <a:latin typeface="Arial"/>
              </a:rPr>
              <a:t>PICKUP_READY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4407" y="1572768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676D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298448"/>
            <a:ext cx="2590723" cy="868680"/>
          </a:xfrm>
          <a:prstGeom prst="roundRect">
            <a:avLst>
              <a:gd name="adj" fmla="val 14000"/>
            </a:avLst>
          </a:prstGeom>
          <a:solidFill>
            <a:srgbClr val="FFF5D9"/>
          </a:solidFill>
          <a:ln w="12700">
            <a:solidFill>
              <a:srgbClr val="E8A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A600"/>
                </a:solidFill>
                <a:latin typeface="Arial"/>
              </a:rPr>
              <a:t>Dalam Perjalanan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1676D"/>
                </a:solidFill>
                <a:latin typeface="Arial"/>
              </a:rPr>
              <a:t>IN_TRANSIT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011" y="1572768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676D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0891" y="1298448"/>
            <a:ext cx="2590723" cy="868680"/>
          </a:xfrm>
          <a:prstGeom prst="roundRect">
            <a:avLst>
              <a:gd name="adj" fmla="val 14000"/>
            </a:avLst>
          </a:prstGeom>
          <a:solidFill>
            <a:srgbClr val="E7F8F1"/>
          </a:solidFill>
          <a:ln w="12700">
            <a:solidFill>
              <a:srgbClr val="12A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A97B"/>
                </a:solidFill>
                <a:latin typeface="Arial"/>
              </a:rPr>
              <a:t>Tiba di Tujuan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1676D"/>
                </a:solidFill>
                <a:latin typeface="Arial"/>
              </a:rPr>
              <a:t>DELIVERED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95728"/>
            <a:ext cx="5120640" cy="2606040"/>
          </a:xfrm>
          <a:prstGeom prst="roundRect">
            <a:avLst>
              <a:gd name="adj" fmla="val 4500"/>
            </a:avLst>
          </a:prstGeom>
          <a:solidFill>
            <a:srgbClr val="20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596896"/>
            <a:ext cx="47183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9BCC"/>
                </a:solidFill>
                <a:latin typeface="Arial"/>
              </a:rPr>
              <a:t>Langkah 1 — kamus empat tahap (baris 11–16)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926080"/>
            <a:ext cx="4718304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9BCC"/>
                </a:solidFill>
                <a:latin typeface="Courier New"/>
              </a:rPr>
              <a:t>private const </a:t>
            </a:r>
            <a:r>
              <a:rPr sz="1000" b="0">
                <a:solidFill>
                  <a:srgbClr val="C7C4D4"/>
                </a:solidFill>
                <a:latin typeface="Courier New"/>
              </a:rPr>
              <a:t>STAGES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= [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 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'ORDER_CREATED'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=&gt;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'Pesanan Dibuat'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 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'PICKUP_READY'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 =&gt;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'Diproses Kurir'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 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'IN_TRANSIT'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   =&gt;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'Dalam Perjalanan'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 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'DELIVERED'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    =&gt;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'Tiba di Tujuan'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];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E"/>
                </a:solidFill>
                <a:latin typeface="Courier New"/>
              </a:rPr>
              <a:t>// kode teknis → kalimat yang dimengerti pelanggan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61888" y="2395728"/>
            <a:ext cx="5589727" cy="2606040"/>
          </a:xfrm>
          <a:prstGeom prst="roundRect">
            <a:avLst>
              <a:gd name="adj" fmla="val 4500"/>
            </a:avLst>
          </a:prstGeom>
          <a:solidFill>
            <a:srgbClr val="20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596896"/>
            <a:ext cx="518739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9BCC"/>
                </a:solidFill>
                <a:latin typeface="Arial"/>
              </a:rPr>
              <a:t>Langkah 2 — penentuan tahap aktif (baris 46–51)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926080"/>
            <a:ext cx="5187391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7C4D4"/>
                </a:solidFill>
                <a:latin typeface="Courier New"/>
              </a:rPr>
              <a:t>$currentStage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= </a:t>
            </a:r>
            <a:r>
              <a:rPr sz="1000" b="0">
                <a:solidFill>
                  <a:srgbClr val="FF9BCC"/>
                </a:solidFill>
                <a:latin typeface="Courier New"/>
              </a:rPr>
              <a:t>match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(</a:t>
            </a:r>
            <a:r>
              <a:rPr sz="1000" b="0">
                <a:solidFill>
                  <a:srgbClr val="FF9BCC"/>
                </a:solidFill>
                <a:latin typeface="Courier New"/>
              </a:rPr>
              <a:t>true</a:t>
            </a:r>
            <a:r>
              <a:rPr sz="1000" b="0">
                <a:solidFill>
                  <a:srgbClr val="E7E7ED"/>
                </a:solidFill>
                <a:latin typeface="Courier New"/>
              </a:rPr>
              <a:t>) {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  </a:t>
            </a:r>
            <a:r>
              <a:rPr sz="1000" b="0">
                <a:solidFill>
                  <a:srgbClr val="C7C4D4"/>
                </a:solidFill>
                <a:latin typeface="Courier New"/>
              </a:rPr>
              <a:t>$delivered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=&gt;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'DELIVERED'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  </a:t>
            </a:r>
            <a:r>
              <a:rPr sz="1000" b="0">
                <a:solidFill>
                  <a:srgbClr val="C7C4D4"/>
                </a:solidFill>
                <a:latin typeface="Courier New"/>
              </a:rPr>
              <a:t>$inTransit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=&gt;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'IN_TRANSIT'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  </a:t>
            </a:r>
            <a:r>
              <a:rPr sz="1000" b="0">
                <a:solidFill>
                  <a:srgbClr val="C7C4D4"/>
                </a:solidFill>
                <a:latin typeface="Courier New"/>
              </a:rPr>
              <a:t>$timestamps</a:t>
            </a:r>
            <a:r>
              <a:rPr sz="1000" b="0">
                <a:solidFill>
                  <a:srgbClr val="E8A600"/>
                </a:solidFill>
                <a:latin typeface="Courier New"/>
              </a:rPr>
              <a:t>[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'PICKUP_READY'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] !== </a:t>
            </a:r>
            <a:r>
              <a:rPr sz="1000" b="0">
                <a:solidFill>
                  <a:srgbClr val="FF9BCC"/>
                </a:solidFill>
                <a:latin typeface="Courier New"/>
              </a:rPr>
              <a:t>null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      </a:t>
            </a:r>
            <a:r>
              <a:rPr sz="1000" b="0">
                <a:solidFill>
                  <a:srgbClr val="E7E7ED"/>
                </a:solidFill>
                <a:latin typeface="Courier New"/>
              </a:rPr>
              <a:t>=&gt;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'PICKUP_READY'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  </a:t>
            </a:r>
            <a:r>
              <a:rPr sz="1000" b="0">
                <a:solidFill>
                  <a:srgbClr val="FF9BCC"/>
                </a:solidFill>
                <a:latin typeface="Courier New"/>
              </a:rPr>
              <a:t>default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=&gt;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'ORDER_CREATED'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};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E"/>
                </a:solidFill>
                <a:latin typeface="Courier New"/>
              </a:rPr>
              <a:t>// diperiksa dari kondisi paling akhir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02936"/>
            <a:ext cx="10911535" cy="713232"/>
          </a:xfrm>
          <a:prstGeom prst="roundRect">
            <a:avLst>
              <a:gd name="adj" fmla="val 8000"/>
            </a:avLst>
          </a:prstGeom>
          <a:solidFill>
            <a:srgbClr val="F0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349240"/>
            <a:ext cx="103263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50070"/>
                </a:solidFill>
                <a:latin typeface="Arial"/>
              </a:rPr>
              <a:t>Kunci presentasi: </a:t>
            </a:r>
            <a:r>
              <a:rPr sz="1150" b="0">
                <a:solidFill>
                  <a:srgbClr val="211A1D"/>
                </a:solidFill>
                <a:latin typeface="Arial"/>
              </a:rPr>
              <a:t>match(true) membaca dari atas, jadi urutan kondisi menentukan hasil. Paket yang sudah tiba tidak akan pernah salah terbaca sebagai "dalam perjalanan".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50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50070"/>
                </a:solidFill>
                <a:latin typeface="Arial"/>
              </a:rPr>
              <a:t>BEDAH KODE • BAGIAN 2 DARI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11A1D"/>
                </a:solidFill>
                <a:latin typeface="Arial"/>
              </a:rPr>
              <a:t>Estimasi tiba dalam WIB, dan deteksi keterlambatan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1676D"/>
                </a:solidFill>
                <a:latin typeface="Arial"/>
              </a:rPr>
              <a:t>MILESTONE MAPPER  •  SATU FITUR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281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1676D"/>
                </a:solidFill>
                <a:latin typeface="Arial"/>
              </a:rPr>
              <a:t>06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98448"/>
            <a:ext cx="5760720" cy="2331720"/>
          </a:xfrm>
          <a:prstGeom prst="roundRect">
            <a:avLst>
              <a:gd name="adj" fmla="val 4500"/>
            </a:avLst>
          </a:prstGeom>
          <a:solidFill>
            <a:srgbClr val="20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9616"/>
            <a:ext cx="53583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9BCC"/>
                </a:solidFill>
                <a:latin typeface="Arial"/>
              </a:rPr>
              <a:t>Langkah 3 — hitung ETA (baris 90–105)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28800"/>
            <a:ext cx="5358384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7C4D4"/>
                </a:solidFill>
                <a:latin typeface="Courier New"/>
              </a:rPr>
              <a:t>$eta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= </a:t>
            </a:r>
            <a:r>
              <a:rPr sz="1000" b="0">
                <a:solidFill>
                  <a:srgbClr val="7AD9B4"/>
                </a:solidFill>
                <a:latin typeface="Courier New"/>
              </a:rPr>
              <a:t>CarbonImmutable</a:t>
            </a:r>
            <a:r>
              <a:rPr sz="1000" b="0">
                <a:solidFill>
                  <a:srgbClr val="E7E7ED"/>
                </a:solidFill>
                <a:latin typeface="Courier New"/>
              </a:rPr>
              <a:t>::</a:t>
            </a:r>
            <a:r>
              <a:rPr sz="1000" b="0">
                <a:solidFill>
                  <a:srgbClr val="7AD9B4"/>
                </a:solidFill>
                <a:latin typeface="Courier New"/>
              </a:rPr>
              <a:t>parse</a:t>
            </a:r>
            <a:r>
              <a:rPr sz="1000" b="0">
                <a:solidFill>
                  <a:srgbClr val="E7E7ED"/>
                </a:solidFill>
                <a:latin typeface="Courier New"/>
              </a:rPr>
              <a:t>(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      (</a:t>
            </a:r>
            <a:r>
              <a:rPr sz="1000" b="0">
                <a:solidFill>
                  <a:srgbClr val="FF9BCC"/>
                </a:solidFill>
                <a:latin typeface="Courier New"/>
              </a:rPr>
              <a:t>string</a:t>
            </a:r>
            <a:r>
              <a:rPr sz="1000" b="0">
                <a:solidFill>
                  <a:srgbClr val="E7E7ED"/>
                </a:solidFill>
                <a:latin typeface="Courier New"/>
              </a:rPr>
              <a:t>) </a:t>
            </a:r>
            <a:r>
              <a:rPr sz="1000" b="0">
                <a:solidFill>
                  <a:srgbClr val="C7C4D4"/>
                </a:solidFill>
                <a:latin typeface="Courier New"/>
              </a:rPr>
              <a:t>$date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'Asia/Jakarta'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  -&gt;</a:t>
            </a:r>
            <a:r>
              <a:rPr sz="1000" b="0">
                <a:solidFill>
                  <a:srgbClr val="7AD9B4"/>
                </a:solidFill>
                <a:latin typeface="Courier New"/>
              </a:rPr>
              <a:t>setTimezone</a:t>
            </a:r>
            <a:r>
              <a:rPr sz="1000" b="0">
                <a:solidFill>
                  <a:srgbClr val="E7E7ED"/>
                </a:solidFill>
                <a:latin typeface="Courier New"/>
              </a:rPr>
              <a:t>(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'Asia/Jakarta'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  -&gt;</a:t>
            </a:r>
            <a:r>
              <a:rPr sz="1000" b="0">
                <a:solidFill>
                  <a:srgbClr val="7AD9B4"/>
                </a:solidFill>
                <a:latin typeface="Courier New"/>
              </a:rPr>
              <a:t>setTime</a:t>
            </a:r>
            <a:r>
              <a:rPr sz="1000" b="0">
                <a:solidFill>
                  <a:srgbClr val="E7E7ED"/>
                </a:solidFill>
                <a:latin typeface="Courier New"/>
              </a:rPr>
              <a:t>(</a:t>
            </a:r>
            <a:r>
              <a:rPr sz="1000" b="0">
                <a:solidFill>
                  <a:srgbClr val="E8A600"/>
                </a:solidFill>
                <a:latin typeface="Courier New"/>
              </a:rPr>
              <a:t>18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0</a:t>
            </a:r>
            <a:r>
              <a:rPr sz="1000" b="0">
                <a:solidFill>
                  <a:srgbClr val="E7E7ED"/>
                </a:solidFill>
                <a:latin typeface="Courier New"/>
              </a:rPr>
              <a:t>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  -&gt;</a:t>
            </a:r>
            <a:r>
              <a:rPr sz="1000" b="0">
                <a:solidFill>
                  <a:srgbClr val="7AD9B4"/>
                </a:solidFill>
                <a:latin typeface="Courier New"/>
              </a:rPr>
              <a:t>addMinutes</a:t>
            </a:r>
            <a:r>
              <a:rPr sz="1000" b="0">
                <a:solidFill>
                  <a:srgbClr val="E7E7ED"/>
                </a:solidFill>
                <a:latin typeface="Courier New"/>
              </a:rPr>
              <a:t>(</a:t>
            </a:r>
            <a:r>
              <a:rPr sz="1000" b="0">
                <a:solidFill>
                  <a:srgbClr val="7AD9B4"/>
                </a:solidFill>
                <a:latin typeface="Courier New"/>
              </a:rPr>
              <a:t>max</a:t>
            </a:r>
            <a:r>
              <a:rPr sz="1000" b="0">
                <a:solidFill>
                  <a:srgbClr val="E7E7ED"/>
                </a:solidFill>
                <a:latin typeface="Courier New"/>
              </a:rPr>
              <a:t>(</a:t>
            </a:r>
            <a:r>
              <a:rPr sz="1000" b="0">
                <a:solidFill>
                  <a:srgbClr val="E8A600"/>
                </a:solidFill>
                <a:latin typeface="Courier New"/>
              </a:rPr>
              <a:t>0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 </a:t>
            </a:r>
            <a:r>
              <a:rPr sz="1000" b="0">
                <a:solidFill>
                  <a:srgbClr val="C7C4D4"/>
                </a:solidFill>
                <a:latin typeface="Courier New"/>
              </a:rPr>
              <a:t>$waitingMinutes</a:t>
            </a:r>
            <a:r>
              <a:rPr sz="1000" b="0">
                <a:solidFill>
                  <a:srgbClr val="E7E7ED"/>
                </a:solidFill>
                <a:latin typeface="Courier New"/>
              </a:rPr>
              <a:t>));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E"/>
                </a:solidFill>
                <a:latin typeface="Courier New"/>
              </a:rPr>
              <a:t>// output: '02 Oktober 2026, 18:30 WIB'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01968" y="1298448"/>
            <a:ext cx="4949647" cy="2331720"/>
          </a:xfrm>
          <a:prstGeom prst="roundRect">
            <a:avLst>
              <a:gd name="adj" fmla="val 4500"/>
            </a:avLst>
          </a:prstGeom>
          <a:solidFill>
            <a:srgbClr val="20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499616"/>
            <a:ext cx="454731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9BCC"/>
                </a:solidFill>
                <a:latin typeface="Arial"/>
              </a:rPr>
              <a:t>Langkah 4 — penanda keterlambatan (baris 82–83)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3136" y="1828800"/>
            <a:ext cx="4547311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8A600"/>
                </a:solidFill>
                <a:latin typeface="Courier New"/>
              </a:rPr>
              <a:t>'has_delay'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=&gt; </a:t>
            </a:r>
            <a:r>
              <a:rPr sz="1000" b="0">
                <a:solidFill>
                  <a:srgbClr val="E7E7ED"/>
                </a:solidFill>
                <a:latin typeface="Courier New"/>
              </a:rPr>
              <a:t>(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  </a:t>
            </a:r>
            <a:r>
              <a:rPr sz="1000" b="0">
                <a:solidFill>
                  <a:srgbClr val="C7C4D4"/>
                </a:solidFill>
                <a:latin typeface="Courier New"/>
              </a:rPr>
              <a:t>$delayReason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!==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''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  &amp;&amp; </a:t>
            </a:r>
            <a:r>
              <a:rPr sz="1000" b="0">
                <a:solidFill>
                  <a:srgbClr val="7AD9B4"/>
                </a:solidFill>
                <a:latin typeface="Courier New"/>
              </a:rPr>
              <a:t>strcasecmp</a:t>
            </a:r>
            <a:r>
              <a:rPr sz="1000" b="0">
                <a:solidFill>
                  <a:srgbClr val="E7E7ED"/>
                </a:solidFill>
                <a:latin typeface="Courier New"/>
              </a:rPr>
              <a:t>(</a:t>
            </a:r>
            <a:r>
              <a:rPr sz="1000" b="0">
                <a:solidFill>
                  <a:srgbClr val="C7C4D4"/>
                </a:solidFill>
                <a:latin typeface="Courier New"/>
              </a:rPr>
              <a:t>$delayReason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'None'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) !==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0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)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|| </a:t>
            </a:r>
            <a:r>
              <a:rPr sz="1000" b="0">
                <a:solidFill>
                  <a:srgbClr val="7AD9B4"/>
                </a:solidFill>
                <a:latin typeface="Courier New"/>
              </a:rPr>
              <a:t>in_array</a:t>
            </a:r>
            <a:r>
              <a:rPr sz="1000" b="0">
                <a:solidFill>
                  <a:srgbClr val="E7E7ED"/>
                </a:solidFill>
                <a:latin typeface="Courier New"/>
              </a:rPr>
              <a:t>(</a:t>
            </a:r>
            <a:r>
              <a:rPr sz="1000" b="0">
                <a:solidFill>
                  <a:srgbClr val="C7C4D4"/>
                </a:solidFill>
                <a:latin typeface="Courier New"/>
              </a:rPr>
              <a:t>$trafficStatus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  [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'heavy'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, 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'detour'</a:t>
            </a:r>
            <a:r>
              <a:rPr sz="1000" b="0">
                <a:solidFill>
                  <a:srgbClr val="E7E7ED"/>
                </a:solidFill>
                <a:latin typeface="Courier New"/>
              </a:rPr>
              <a:t>], </a:t>
            </a:r>
            <a:r>
              <a:rPr sz="1000" b="0">
                <a:solidFill>
                  <a:srgbClr val="FF9BCC"/>
                </a:solidFill>
                <a:latin typeface="Courier New"/>
              </a:rPr>
              <a:t>true</a:t>
            </a:r>
            <a:r>
              <a:rPr sz="1000" b="0">
                <a:solidFill>
                  <a:srgbClr val="E7E7ED"/>
                </a:solidFill>
                <a:latin typeface="Courier New"/>
              </a:rPr>
              <a:t>),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9624"/>
            <a:ext cx="3503066" cy="1371600"/>
          </a:xfrm>
          <a:prstGeom prst="roundRect">
            <a:avLst>
              <a:gd name="adj" fmla="val 7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4032504"/>
            <a:ext cx="302757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058E8"/>
                </a:solidFill>
                <a:latin typeface="Arial"/>
              </a:rPr>
              <a:t>UTC → WIB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211A1D"/>
                </a:solidFill>
                <a:latin typeface="Arial"/>
              </a:rPr>
              <a:t>Data mentah dari database berformat UTC. Konversi dilakukan sekali di backend agar semua klien menerima format yang sama.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4314" y="3849624"/>
            <a:ext cx="3503066" cy="1371600"/>
          </a:xfrm>
          <a:prstGeom prst="roundRect">
            <a:avLst>
              <a:gd name="adj" fmla="val 7000"/>
            </a:avLst>
          </a:prstGeom>
          <a:solidFill>
            <a:srgbClr val="FFF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2058" y="4032504"/>
            <a:ext cx="302757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600"/>
                </a:solidFill>
                <a:latin typeface="Arial"/>
              </a:rPr>
              <a:t>Jam 18:00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211A1D"/>
                </a:solidFill>
                <a:latin typeface="Arial"/>
              </a:rPr>
              <a:t>Titik acuan akhir jam pengiriman, lalu digeser oleh waiting_time_minutes. Angka ini masih hardcoded dan layak jadi parameter konfigurasi.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8548" y="3849624"/>
            <a:ext cx="3503066" cy="1371600"/>
          </a:xfrm>
          <a:prstGeom prst="roundRect">
            <a:avLst>
              <a:gd name="adj" fmla="val 7000"/>
            </a:avLst>
          </a:prstGeom>
          <a:solidFill>
            <a:srgbClr val="FC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6292" y="4032504"/>
            <a:ext cx="302757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50070"/>
                </a:solidFill>
                <a:latin typeface="Arial"/>
              </a:rPr>
              <a:t>Dua sumber delay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211A1D"/>
                </a:solidFill>
                <a:latin typeface="Arial"/>
              </a:rPr>
              <a:t>Keterlambatan dianggap nyata bila alasan operasional terisi selain "None", atau status lalu lintas bernilai heavy/detour.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50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50070"/>
                </a:solidFill>
                <a:latin typeface="Arial"/>
              </a:rPr>
              <a:t>DEMO LIVE • SUDAH DIUJI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11A1D"/>
                </a:solidFill>
                <a:latin typeface="Arial"/>
              </a:rPr>
              <a:t>Tiga nomor resi, tiga tahap milestone berbeda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1676D"/>
                </a:solidFill>
                <a:latin typeface="Arial"/>
              </a:rPr>
              <a:t>MILESTONE MAPPER  •  SATU FITUR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281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1676D"/>
                </a:solidFill>
                <a:latin typeface="Arial"/>
              </a:rPr>
              <a:t>07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98448"/>
            <a:ext cx="10911535" cy="914400"/>
          </a:xfrm>
          <a:prstGeom prst="roundRect">
            <a:avLst>
              <a:gd name="adj" fmla="val 4500"/>
            </a:avLst>
          </a:prstGeom>
          <a:solidFill>
            <a:srgbClr val="20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9616"/>
            <a:ext cx="105091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F9E"/>
                </a:solidFill>
                <a:latin typeface="Courier New"/>
              </a:rPr>
              <a:t>$ </a:t>
            </a:r>
            <a:r>
              <a:rPr sz="1050" b="0">
                <a:solidFill>
                  <a:srgbClr val="E7E7ED"/>
                </a:solidFill>
                <a:latin typeface="Courier New"/>
              </a:rPr>
              <a:t>curl -s -H </a:t>
            </a:r>
            <a:r>
              <a:rPr sz="1050" b="0">
                <a:solidFill>
                  <a:srgbClr val="E8A600"/>
                </a:solidFill>
                <a:latin typeface="Courier New"/>
              </a:rPr>
              <a:t>'Accept: application/json'</a:t>
            </a:r>
            <a:r>
              <a:rPr sz="1050" b="0">
                <a:solidFill>
                  <a:srgbClr val="E7E7ED"/>
                </a:solidFill>
                <a:latin typeface="Courier New"/>
              </a:rPr>
              <a:t> \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7E7ED"/>
                </a:solidFill>
                <a:latin typeface="Courier New"/>
              </a:rPr>
              <a:t>  </a:t>
            </a:r>
            <a:r>
              <a:rPr sz="1050" b="0">
                <a:solidFill>
                  <a:srgbClr val="E8A600"/>
                </a:solidFill>
                <a:latin typeface="Courier New"/>
              </a:rPr>
              <a:t>http://127.0.0.1:8000/api/v1/tracking/44444444444444444444444444444444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468880"/>
          <a:ext cx="1091153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691640"/>
                <a:gridCol w="2651760"/>
                <a:gridCol w="3184855"/>
              </a:tblGrid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Nomor resi (32 karakter)</a:t>
                      </a:r>
                    </a:p>
                  </a:txBody>
                  <a:tcPr anchor="ctr" marL="91440" marR="91440">
                    <a:solidFill>
                      <a:srgbClr val="211A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order_status</a:t>
                      </a:r>
                    </a:p>
                  </a:txBody>
                  <a:tcPr anchor="ctr" marL="91440" marR="91440">
                    <a:solidFill>
                      <a:srgbClr val="211A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current_milestone_stage</a:t>
                      </a:r>
                    </a:p>
                  </a:txBody>
                  <a:tcPr anchor="ctr" marL="91440" marR="91440">
                    <a:solidFill>
                      <a:srgbClr val="211A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formatted_eta</a:t>
                      </a:r>
                    </a:p>
                  </a:txBody>
                  <a:tcPr anchor="ctr" marL="91440" marR="91440">
                    <a:solidFill>
                      <a:srgbClr val="211A1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1A1D"/>
                          </a:solidFill>
                          <a:latin typeface="Courier New"/>
                        </a:rPr>
                        <a:t>44444444444444444444444444444444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1A1D"/>
                          </a:solidFill>
                          <a:latin typeface="Courier New"/>
                        </a:rPr>
                        <a:t>processing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50070"/>
                          </a:solidFill>
                          <a:latin typeface="Courier New"/>
                        </a:rPr>
                        <a:t>PICKUP_READY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1A1D"/>
                          </a:solidFill>
                          <a:latin typeface="Arial"/>
                        </a:rPr>
                        <a:t>07 Oktober 2026, 18:00 WIB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1A1D"/>
                          </a:solidFill>
                          <a:latin typeface="Courier New"/>
                        </a:rPr>
                        <a:t>00010242fe8c5a6d1ba2dd792cb16214</a:t>
                      </a:r>
                    </a:p>
                  </a:txBody>
                  <a:tcPr anchor="ctr" marL="91440" marR="91440">
                    <a:solidFill>
                      <a:srgbClr val="F0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1A1D"/>
                          </a:solidFill>
                          <a:latin typeface="Courier New"/>
                        </a:rPr>
                        <a:t>in_transit</a:t>
                      </a:r>
                    </a:p>
                  </a:txBody>
                  <a:tcPr anchor="ctr" marL="91440" marR="91440">
                    <a:solidFill>
                      <a:srgbClr val="F0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8A600"/>
                          </a:solidFill>
                          <a:latin typeface="Courier New"/>
                        </a:rPr>
                        <a:t>IN_TRANSIT</a:t>
                      </a:r>
                    </a:p>
                  </a:txBody>
                  <a:tcPr anchor="ctr" marL="91440" marR="91440">
                    <a:solidFill>
                      <a:srgbClr val="F0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1A1D"/>
                          </a:solidFill>
                          <a:latin typeface="Arial"/>
                        </a:rPr>
                        <a:t>28 September 2017, 18:00 WIB</a:t>
                      </a:r>
                    </a:p>
                  </a:txBody>
                  <a:tcPr anchor="ctr" marL="91440" marR="91440">
                    <a:solidFill>
                      <a:srgbClr val="F0EE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1A1D"/>
                          </a:solidFill>
                          <a:latin typeface="Courier New"/>
                        </a:rPr>
                        <a:t>11111111111111111111111111111111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1A1D"/>
                          </a:solidFill>
                          <a:latin typeface="Courier New"/>
                        </a:rPr>
                        <a:t>delivered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2A97B"/>
                          </a:solidFill>
                          <a:latin typeface="Courier New"/>
                        </a:rPr>
                        <a:t>DELIVERED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1A1D"/>
                          </a:solidFill>
                          <a:latin typeface="Arial"/>
                        </a:rPr>
                        <a:t>28 September 2017, 18:00 WIB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4681728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E7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828032"/>
            <a:ext cx="103263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2A97B"/>
                </a:solidFill>
                <a:latin typeface="Arial"/>
              </a:rPr>
              <a:t>Sudah saya jalankan terhadap API dan database sungguhan — ketiga baris di atas adalah respons asli, bukan mock.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211A1D"/>
                </a:solidFill>
                <a:latin typeface="Arial"/>
              </a:rPr>
              <a:t>Respons juga menyertakan header </a:t>
            </a:r>
            <a:r>
              <a:rPr sz="1150" b="1">
                <a:solidFill>
                  <a:srgbClr val="C50070"/>
                </a:solidFill>
                <a:latin typeface="Arial"/>
              </a:rPr>
              <a:t>X-Waktu-Ms: 1.39</a:t>
            </a:r>
            <a:r>
              <a:rPr sz="1150" b="0">
                <a:solidFill>
                  <a:srgbClr val="211A1D"/>
                </a:solidFill>
                <a:latin typeface="Arial"/>
              </a:rPr>
              <a:t> dari middleware CatatWaktu, jadi Anda bisa menyebut soal performa sekilas.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50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50070"/>
                </a:solidFill>
                <a:latin typeface="Arial"/>
              </a:rPr>
              <a:t>BUKTI UJI &amp; 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11A1D"/>
                </a:solidFill>
                <a:latin typeface="Arial"/>
              </a:rPr>
              <a:t>Apa yang terbukti, dan apa batasannya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1676D"/>
                </a:solidFill>
                <a:latin typeface="Arial"/>
              </a:rPr>
              <a:t>MILESTONE MAPPER  •  SATU FITUR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281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1676D"/>
                </a:solidFill>
                <a:latin typeface="Arial"/>
              </a:rPr>
              <a:t>08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98448"/>
            <a:ext cx="5760720" cy="2743200"/>
          </a:xfrm>
          <a:prstGeom prst="roundRect">
            <a:avLst>
              <a:gd name="adj" fmla="val 4500"/>
            </a:avLst>
          </a:prstGeom>
          <a:solidFill>
            <a:srgbClr val="20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9616"/>
            <a:ext cx="53583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2A97B"/>
                </a:solidFill>
                <a:latin typeface="Arial"/>
              </a:rPr>
              <a:t>Dijalankan dengan cache dingin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28800"/>
            <a:ext cx="535838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E"/>
                </a:solidFill>
                <a:latin typeface="Courier New"/>
              </a:rPr>
              <a:t>$ </a:t>
            </a:r>
            <a:r>
              <a:rPr sz="1000" b="0">
                <a:solidFill>
                  <a:srgbClr val="E7E7ED"/>
                </a:solidFill>
                <a:latin typeface="Courier New"/>
              </a:rPr>
              <a:t>php artisan test </a:t>
            </a:r>
            <a:r>
              <a:rPr sz="1000" b="0">
                <a:solidFill>
                  <a:srgbClr val="E7E7ED"/>
                </a:solidFill>
                <a:latin typeface="Courier New"/>
              </a:rPr>
              <a:t>--filter=</a:t>
            </a:r>
            <a:r>
              <a:rPr sz="1000" b="0">
                <a:solidFill>
                  <a:srgbClr val="E8A600"/>
                </a:solidFill>
                <a:latin typeface="Courier New"/>
              </a:rPr>
              <a:t>'mapped_milestones'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2A97B"/>
                </a:solidFill>
                <a:latin typeface="Courier New"/>
              </a:rPr>
              <a:t>PASS</a:t>
            </a:r>
            <a:r>
              <a:rPr sz="1000" b="0">
                <a:solidFill>
                  <a:srgbClr val="E7E7ED"/>
                </a:solidFill>
                <a:latin typeface="Courier New"/>
              </a:rPr>
              <a:t>  Tests\Feature\TrackingApiTest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2A97B"/>
                </a:solidFill>
                <a:latin typeface="Courier New"/>
              </a:rPr>
              <a:t>✓ </a:t>
            </a:r>
            <a:r>
              <a:rPr sz="1000" b="0">
                <a:solidFill>
                  <a:srgbClr val="E7E7ED"/>
                </a:solidFill>
                <a:latin typeface="Courier New"/>
              </a:rPr>
              <a:t>test_tracking_response_contains_mapped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</a:t>
            </a:r>
            <a:r>
              <a:rPr sz="1000" b="0">
                <a:solidFill>
                  <a:srgbClr val="E7E7ED"/>
                </a:solidFill>
                <a:latin typeface="Courier New"/>
              </a:rPr>
              <a:t>_milestones_eta_and_is_cached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2A97B"/>
                </a:solidFill>
                <a:latin typeface="Courier New"/>
              </a:rPr>
              <a:t>✓ </a:t>
            </a:r>
            <a:r>
              <a:rPr sz="1000" b="0">
                <a:solidFill>
                  <a:srgbClr val="E7E7ED"/>
                </a:solidFill>
                <a:latin typeface="Courier New"/>
              </a:rPr>
              <a:t>test_heavy_traffic_sets_the_operational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7E7ED"/>
                </a:solidFill>
                <a:latin typeface="Courier New"/>
              </a:rPr>
              <a:t>  </a:t>
            </a:r>
            <a:r>
              <a:rPr sz="1000" b="0">
                <a:solidFill>
                  <a:srgbClr val="E7E7ED"/>
                </a:solidFill>
                <a:latin typeface="Courier New"/>
              </a:rPr>
              <a:t>_delay_flag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E"/>
                </a:solidFill>
                <a:latin typeface="Courier New"/>
              </a:rPr>
              <a:t>Tests: 1 passed (12 assertions) — 0.36s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84848" y="1298448"/>
            <a:ext cx="4766767" cy="1280160"/>
          </a:xfrm>
          <a:prstGeom prst="roundRect">
            <a:avLst>
              <a:gd name="adj" fmla="val 7000"/>
            </a:avLst>
          </a:prstGeom>
          <a:solidFill>
            <a:srgbClr val="E7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1481328"/>
            <a:ext cx="425470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2A97B"/>
                </a:solidFill>
                <a:latin typeface="Arial"/>
              </a:rPr>
              <a:t>Kesimpulan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211A1D"/>
                </a:solidFill>
                <a:latin typeface="Arial"/>
              </a:rPr>
              <a:t>Pure function: deterministik, tanpa database dan tanpa jaringan, sehingga mudah diuji dan aman didemokan.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84848" y="2761488"/>
            <a:ext cx="4766767" cy="1280160"/>
          </a:xfrm>
          <a:prstGeom prst="roundRect">
            <a:avLst>
              <a:gd name="adj" fmla="val 7000"/>
            </a:avLst>
          </a:prstGeom>
          <a:solidFill>
            <a:srgbClr val="FFF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2944368"/>
            <a:ext cx="425470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8A600"/>
                </a:solidFill>
                <a:latin typeface="Arial"/>
              </a:rPr>
              <a:t>Batasan yang saya akui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211A1D"/>
                </a:solidFill>
                <a:latin typeface="Arial"/>
              </a:rPr>
              <a:t>Aturan empat tahap masih hardcoded, dan ETA memakai formula sederhana, bukan model prediktif.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70248"/>
            <a:ext cx="10911535" cy="1051560"/>
          </a:xfrm>
          <a:prstGeom prst="roundRect">
            <a:avLst>
              <a:gd name="adj" fmla="val 7000"/>
            </a:avLst>
          </a:prstGeom>
          <a:solidFill>
            <a:srgbClr val="FC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471416"/>
            <a:ext cx="103263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50070"/>
                </a:solidFill>
                <a:latin typeface="Arial"/>
              </a:rPr>
              <a:t>Pengembangan berikutnya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211A1D"/>
                </a:solidFill>
                <a:latin typeface="Arial"/>
              </a:rPr>
              <a:t>Pindahkan empat tahap dan jam acuan 18:00 ke file konfigurasi, lalu tambahkan test untuk kasus events kosong dan keterlambatan heavy.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50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50070"/>
                </a:solidFill>
                <a:latin typeface="Arial"/>
              </a:rPr>
              <a:t>LAMPIRAN • ANTISIPASI PERTANYAAN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11A1D"/>
                </a:solidFill>
                <a:latin typeface="Arial"/>
              </a:rPr>
              <a:t>Lima pertanyaan yang paling mungkin muncul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1676D"/>
                </a:solidFill>
                <a:latin typeface="Arial"/>
              </a:rPr>
              <a:t>MILESTONE MAPPER  •  SATU FITUR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281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1676D"/>
                </a:solidFill>
                <a:latin typeface="Arial"/>
              </a:rPr>
              <a:t>09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98448"/>
            <a:ext cx="10911535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517904"/>
            <a:ext cx="548640" cy="402336"/>
          </a:xfrm>
          <a:prstGeom prst="roundRect">
            <a:avLst>
              <a:gd name="adj" fmla="val 30000"/>
            </a:avLst>
          </a:prstGeom>
          <a:solidFill>
            <a:srgbClr val="FC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50070"/>
                </a:solidFill>
                <a:latin typeface="Arial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1435608"/>
            <a:ext cx="98599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A1D"/>
                </a:solidFill>
                <a:latin typeface="Arial"/>
              </a:rPr>
              <a:t>Kenapa tidak dikerjakan di frontend saja?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1676D"/>
                </a:solidFill>
                <a:latin typeface="Arial"/>
              </a:rPr>
              <a:t>Supaya aturan tahap dan konversi WIB konsisten untuk semua klien, dan bisa diuji terpisah dari 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9424"/>
            <a:ext cx="10911535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2468880"/>
            <a:ext cx="548640" cy="402336"/>
          </a:xfrm>
          <a:prstGeom prst="roundRect">
            <a:avLst>
              <a:gd name="adj" fmla="val 30000"/>
            </a:avLst>
          </a:prstGeom>
          <a:solidFill>
            <a:srgbClr val="FC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50070"/>
                </a:solidFill>
                <a:latin typeface="Arial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386584"/>
            <a:ext cx="98599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A1D"/>
                </a:solidFill>
                <a:latin typeface="Arial"/>
              </a:rPr>
              <a:t>Apa bedanya dengan statusRamah()?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1676D"/>
                </a:solidFill>
                <a:latin typeface="Arial"/>
              </a:rPr>
              <a:t>statusRamah() menerjemahkan satu kode status. Mapper menyusun seluruh progres, tahap aktif, dan ETA sekaligus.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00400"/>
            <a:ext cx="10911535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" y="3419856"/>
            <a:ext cx="548640" cy="402336"/>
          </a:xfrm>
          <a:prstGeom prst="roundRect">
            <a:avLst>
              <a:gd name="adj" fmla="val 30000"/>
            </a:avLst>
          </a:prstGeom>
          <a:solidFill>
            <a:srgbClr val="FC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50070"/>
                </a:solidFill>
                <a:latin typeface="Arial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337560"/>
            <a:ext cx="98599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A1D"/>
                </a:solidFill>
                <a:latin typeface="Arial"/>
              </a:rPr>
              <a:t>Kenapa memakai match(true), bukan if/else?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1676D"/>
                </a:solidFill>
                <a:latin typeface="Arial"/>
              </a:rPr>
              <a:t>Satu ekspresi, tanpa variabel sementara, dan urutannya terbaca dari kondisi paling akhir ke paling awal.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51376"/>
            <a:ext cx="10911535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370832"/>
            <a:ext cx="548640" cy="402336"/>
          </a:xfrm>
          <a:prstGeom prst="roundRect">
            <a:avLst>
              <a:gd name="adj" fmla="val 30000"/>
            </a:avLst>
          </a:prstGeom>
          <a:solidFill>
            <a:srgbClr val="FC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50070"/>
                </a:solidFill>
                <a:latin typeface="Arial"/>
              </a:rPr>
              <a:t>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288536"/>
            <a:ext cx="98599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A1D"/>
                </a:solidFill>
                <a:latin typeface="Arial"/>
              </a:rPr>
              <a:t>Bagaimana bila tabel events kosong?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1676D"/>
                </a:solidFill>
                <a:latin typeface="Arial"/>
              </a:rPr>
              <a:t>Setiap timestamp punya fallback berantai ke kolom di tracking_summary, jadi tahap tetap bisa ditentukan.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102352"/>
            <a:ext cx="10911535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" y="5321808"/>
            <a:ext cx="548640" cy="402336"/>
          </a:xfrm>
          <a:prstGeom prst="roundRect">
            <a:avLst>
              <a:gd name="adj" fmla="val 30000"/>
            </a:avLst>
          </a:prstGeom>
          <a:solidFill>
            <a:srgbClr val="FC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50070"/>
                </a:solidFill>
                <a:latin typeface="Arial"/>
              </a:rPr>
              <a:t>Q5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5239512"/>
            <a:ext cx="98599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A1D"/>
                </a:solidFill>
                <a:latin typeface="Arial"/>
              </a:rPr>
              <a:t>Dari mana angka jam 18:00?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1676D"/>
                </a:solidFill>
                <a:latin typeface="Arial"/>
              </a:rPr>
              <a:t>Asumsi akhir jam pengiriman. Nilainya sengaja saya sebut sebagai batasan karena belum bisa dikonfigurasi.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